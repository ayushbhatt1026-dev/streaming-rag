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72" r:id="rId6"/>
    <p:sldId id="261" r:id="rId7"/>
    <p:sldId id="262" r:id="rId8"/>
    <p:sldId id="263" r:id="rId9"/>
    <p:sldId id="264" r:id="rId10"/>
    <p:sldId id="273" r:id="rId11"/>
    <p:sldId id="265" r:id="rId12"/>
    <p:sldId id="266" r:id="rId13"/>
    <p:sldId id="271"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oogle.com/search?q=https://github.com/ayushbhatt1026-dev/ra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04 Streaming live RAG</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HYDRA</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MSRIT</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Ayush Kumar 1ms24ee009@msrit.edu</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Ayush Bhatt 1ms24ee063@msrit.edu</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Anushka Singh 1ms24ee005@msrit.edu</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a:t>
            </a:r>
            <a:r>
              <a:rPr lang="en-IN" sz="1600" dirty="0"/>
              <a:t>GitHub: [https://github.com/ayushbhatt1026-dev/rag.git](https://github.com/ayushbhatt1026-dev/rag.git)</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38200" y="160807"/>
            <a:ext cx="10515600" cy="1325563"/>
          </a:xfrm>
        </p:spPr>
        <p:txBody>
          <a:bodyPr>
            <a:normAutofit fontScale="90000"/>
          </a:bodyPr>
          <a:lstStyle/>
          <a:p>
            <a:r>
              <a:rPr lang="en-IN" b="1" dirty="0">
                <a:solidFill>
                  <a:srgbClr val="704EA6"/>
                </a:solidFill>
                <a:latin typeface="+mn-lt"/>
                <a:cs typeface="Arial" pitchFamily="34" charset="-120"/>
              </a:rPr>
              <a:t>Theme</a:t>
            </a:r>
            <a:br>
              <a:rPr lang="en-IN" b="1" dirty="0">
                <a:solidFill>
                  <a:srgbClr val="704EA6"/>
                </a:solidFill>
                <a:latin typeface="+mn-lt"/>
                <a:cs typeface="Arial" pitchFamily="34" charset="-120"/>
              </a:rPr>
            </a:br>
            <a:r>
              <a:rPr lang="en-IN" sz="2700" b="1" dirty="0">
                <a:solidFill>
                  <a:srgbClr val="704EA6"/>
                </a:solidFill>
                <a:latin typeface="+mn-lt"/>
              </a:rPr>
              <a:t>The Core Challenge: Latency &amp; Decomposition in Live Conversational RAG</a:t>
            </a:r>
            <a:endParaRPr lang="en-IN" sz="2700" b="1" dirty="0">
              <a:solidFill>
                <a:srgbClr val="704EA6"/>
              </a:solidFill>
              <a:latin typeface="+mn-lt"/>
              <a:cs typeface="Arial" pitchFamily="34" charset="-120"/>
            </a:endParaRPr>
          </a:p>
        </p:txBody>
      </p:sp>
      <p:sp>
        <p:nvSpPr>
          <p:cNvPr id="5" name="Rounded Rectangle 3">
            <a:extLst>
              <a:ext uri="{FF2B5EF4-FFF2-40B4-BE49-F238E27FC236}">
                <a16:creationId xmlns:a16="http://schemas.microsoft.com/office/drawing/2014/main" id="{4F0F743A-5BE9-DB20-B7FE-76179C658341}"/>
              </a:ext>
            </a:extLst>
          </p:cNvPr>
          <p:cNvSpPr/>
          <p:nvPr/>
        </p:nvSpPr>
        <p:spPr>
          <a:xfrm>
            <a:off x="685800" y="1417320"/>
            <a:ext cx="5669280" cy="3236976"/>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TextBox 6">
            <a:extLst>
              <a:ext uri="{FF2B5EF4-FFF2-40B4-BE49-F238E27FC236}">
                <a16:creationId xmlns:a16="http://schemas.microsoft.com/office/drawing/2014/main" id="{535E0E3D-B9D2-E6CB-B52D-FECBB9606BA3}"/>
              </a:ext>
            </a:extLst>
          </p:cNvPr>
          <p:cNvSpPr txBox="1"/>
          <p:nvPr/>
        </p:nvSpPr>
        <p:spPr>
          <a:xfrm>
            <a:off x="914400" y="1572768"/>
            <a:ext cx="5257800" cy="276999"/>
          </a:xfrm>
          <a:prstGeom prst="rect">
            <a:avLst/>
          </a:prstGeom>
          <a:noFill/>
        </p:spPr>
        <p:txBody>
          <a:bodyPr wrap="square" lIns="0" tIns="0" rIns="0" bIns="0" anchor="t">
            <a:spAutoFit/>
          </a:bodyPr>
          <a:lstStyle/>
          <a:p>
            <a:pPr algn="l">
              <a:lnSpc>
                <a:spcPct val="100000"/>
              </a:lnSpc>
              <a:spcBef>
                <a:spcPts val="0"/>
              </a:spcBef>
              <a:spcAft>
                <a:spcPts val="600"/>
              </a:spcAft>
            </a:pPr>
            <a:r>
              <a:rPr b="1" i="0" dirty="0">
                <a:solidFill>
                  <a:srgbClr val="6C28D9"/>
                </a:solidFill>
                <a:latin typeface="Calibri"/>
              </a:rPr>
              <a:t>The problem</a:t>
            </a:r>
          </a:p>
        </p:txBody>
      </p:sp>
      <p:sp>
        <p:nvSpPr>
          <p:cNvPr id="9" name="TextBox 8">
            <a:extLst>
              <a:ext uri="{FF2B5EF4-FFF2-40B4-BE49-F238E27FC236}">
                <a16:creationId xmlns:a16="http://schemas.microsoft.com/office/drawing/2014/main" id="{364E87DB-315E-8F27-9B2A-90C28EBD5493}"/>
              </a:ext>
            </a:extLst>
          </p:cNvPr>
          <p:cNvSpPr txBox="1"/>
          <p:nvPr/>
        </p:nvSpPr>
        <p:spPr>
          <a:xfrm>
            <a:off x="914400" y="2011680"/>
            <a:ext cx="5257800" cy="2123466"/>
          </a:xfrm>
          <a:prstGeom prst="rect">
            <a:avLst/>
          </a:prstGeom>
          <a:noFill/>
        </p:spPr>
        <p:txBody>
          <a:bodyPr wrap="square" lIns="0" tIns="0" rIns="0" bIns="0">
            <a:spAutoFit/>
          </a:bodyPr>
          <a:lstStyle/>
          <a:p>
            <a:pPr>
              <a:lnSpc>
                <a:spcPct val="106000"/>
              </a:lnSpc>
              <a:spcBef>
                <a:spcPts val="0"/>
              </a:spcBef>
              <a:spcAft>
                <a:spcPts val="800"/>
              </a:spcAft>
            </a:pPr>
            <a:r>
              <a:rPr sz="1600" b="1" i="0" dirty="0">
                <a:solidFill>
                  <a:srgbClr val="6C28D9"/>
                </a:solidFill>
                <a:latin typeface="Calibri"/>
              </a:rPr>
              <a:t>•  </a:t>
            </a:r>
            <a:r>
              <a:rPr sz="1600" b="0" i="0" dirty="0">
                <a:solidFill>
                  <a:srgbClr val="62627D"/>
                </a:solidFill>
                <a:latin typeface="Calibri"/>
              </a:rPr>
              <a:t>In a full-duplex conversation, the user speaks one natural request — not a tidy query.</a:t>
            </a:r>
          </a:p>
          <a:p>
            <a:pPr>
              <a:lnSpc>
                <a:spcPct val="106000"/>
              </a:lnSpc>
              <a:spcBef>
                <a:spcPts val="0"/>
              </a:spcBef>
              <a:spcAft>
                <a:spcPts val="800"/>
              </a:spcAft>
            </a:pPr>
            <a:r>
              <a:rPr sz="1600" b="1" i="0" dirty="0">
                <a:solidFill>
                  <a:srgbClr val="6C28D9"/>
                </a:solidFill>
                <a:latin typeface="Calibri"/>
              </a:rPr>
              <a:t>•  </a:t>
            </a:r>
            <a:r>
              <a:rPr sz="1600" b="0" i="0" dirty="0">
                <a:solidFill>
                  <a:srgbClr val="62627D"/>
                </a:solidFill>
                <a:latin typeface="Calibri"/>
              </a:rPr>
              <a:t>A single utterance can hide several distinct questions.</a:t>
            </a:r>
          </a:p>
          <a:p>
            <a:pPr>
              <a:lnSpc>
                <a:spcPct val="106000"/>
              </a:lnSpc>
              <a:spcBef>
                <a:spcPts val="0"/>
              </a:spcBef>
              <a:spcAft>
                <a:spcPts val="800"/>
              </a:spcAft>
            </a:pPr>
            <a:r>
              <a:rPr sz="1600" b="1" i="0" dirty="0">
                <a:solidFill>
                  <a:srgbClr val="6C28D9"/>
                </a:solidFill>
                <a:latin typeface="Calibri"/>
              </a:rPr>
              <a:t>•  </a:t>
            </a:r>
            <a:r>
              <a:rPr sz="1600" b="0" i="0" dirty="0">
                <a:solidFill>
                  <a:srgbClr val="62627D"/>
                </a:solidFill>
                <a:latin typeface="Calibri"/>
              </a:rPr>
              <a:t>Users don't know how retrieval works, so they never phrase for the retriever.</a:t>
            </a:r>
          </a:p>
          <a:p>
            <a:pPr>
              <a:lnSpc>
                <a:spcPct val="106000"/>
              </a:lnSpc>
              <a:spcBef>
                <a:spcPts val="0"/>
              </a:spcBef>
              <a:spcAft>
                <a:spcPts val="800"/>
              </a:spcAft>
            </a:pPr>
            <a:r>
              <a:rPr sz="1600" b="1" i="0" dirty="0">
                <a:solidFill>
                  <a:srgbClr val="6C28D9"/>
                </a:solidFill>
                <a:latin typeface="Calibri"/>
              </a:rPr>
              <a:t>•  </a:t>
            </a:r>
            <a:r>
              <a:rPr sz="1600" b="0" i="0" dirty="0">
                <a:solidFill>
                  <a:srgbClr val="62627D"/>
                </a:solidFill>
                <a:latin typeface="Calibri"/>
              </a:rPr>
              <a:t>Add a detail mid-flow and the answer must get better — not start over.</a:t>
            </a:r>
          </a:p>
        </p:txBody>
      </p:sp>
      <p:sp>
        <p:nvSpPr>
          <p:cNvPr id="17" name="TextBox 16">
            <a:extLst>
              <a:ext uri="{FF2B5EF4-FFF2-40B4-BE49-F238E27FC236}">
                <a16:creationId xmlns:a16="http://schemas.microsoft.com/office/drawing/2014/main" id="{ACE4A844-1B37-FEA6-E2DD-E9D2230377F5}"/>
              </a:ext>
            </a:extLst>
          </p:cNvPr>
          <p:cNvSpPr txBox="1"/>
          <p:nvPr/>
        </p:nvSpPr>
        <p:spPr>
          <a:xfrm>
            <a:off x="6583680" y="1417320"/>
            <a:ext cx="5303520" cy="276999"/>
          </a:xfrm>
          <a:prstGeom prst="rect">
            <a:avLst/>
          </a:prstGeom>
          <a:noFill/>
        </p:spPr>
        <p:txBody>
          <a:bodyPr wrap="square" lIns="0" tIns="0" rIns="0" bIns="0" anchor="t">
            <a:spAutoFit/>
          </a:bodyPr>
          <a:lstStyle/>
          <a:p>
            <a:pPr algn="l">
              <a:lnSpc>
                <a:spcPct val="100000"/>
              </a:lnSpc>
              <a:spcBef>
                <a:spcPts val="0"/>
              </a:spcBef>
              <a:spcAft>
                <a:spcPts val="600"/>
              </a:spcAft>
            </a:pPr>
            <a:r>
              <a:rPr b="1" i="0">
                <a:solidFill>
                  <a:srgbClr val="6C28D9"/>
                </a:solidFill>
                <a:latin typeface="Calibri"/>
              </a:rPr>
              <a:t>The three behaviours that get scored</a:t>
            </a:r>
          </a:p>
        </p:txBody>
      </p:sp>
      <p:sp>
        <p:nvSpPr>
          <p:cNvPr id="19" name="Rounded Rectangle 10">
            <a:extLst>
              <a:ext uri="{FF2B5EF4-FFF2-40B4-BE49-F238E27FC236}">
                <a16:creationId xmlns:a16="http://schemas.microsoft.com/office/drawing/2014/main" id="{FB4D7683-C616-ED4F-2AA2-EB76E7246719}"/>
              </a:ext>
            </a:extLst>
          </p:cNvPr>
          <p:cNvSpPr/>
          <p:nvPr/>
        </p:nvSpPr>
        <p:spPr>
          <a:xfrm>
            <a:off x="6583680" y="1874519"/>
            <a:ext cx="5349240" cy="841248"/>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Rounded Rectangle 11">
            <a:extLst>
              <a:ext uri="{FF2B5EF4-FFF2-40B4-BE49-F238E27FC236}">
                <a16:creationId xmlns:a16="http://schemas.microsoft.com/office/drawing/2014/main" id="{9A8E0758-F11B-044F-4ED2-0D76A922C8F5}"/>
              </a:ext>
            </a:extLst>
          </p:cNvPr>
          <p:cNvSpPr/>
          <p:nvPr/>
        </p:nvSpPr>
        <p:spPr>
          <a:xfrm>
            <a:off x="6583680" y="1874519"/>
            <a:ext cx="128016" cy="841248"/>
          </a:xfrm>
          <a:prstGeom prst="roundRect">
            <a:avLst>
              <a:gd name="adj" fmla="val 50000"/>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a:extLst>
              <a:ext uri="{FF2B5EF4-FFF2-40B4-BE49-F238E27FC236}">
                <a16:creationId xmlns:a16="http://schemas.microsoft.com/office/drawing/2014/main" id="{31E821C8-5138-99DE-E0C3-A9711101F6A6}"/>
              </a:ext>
            </a:extLst>
          </p:cNvPr>
          <p:cNvSpPr txBox="1"/>
          <p:nvPr/>
        </p:nvSpPr>
        <p:spPr>
          <a:xfrm>
            <a:off x="6858000" y="1984248"/>
            <a:ext cx="4983480" cy="246221"/>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3132B"/>
                </a:solidFill>
                <a:latin typeface="Calibri"/>
              </a:rPr>
              <a:t>1  Speculative / early retrieval</a:t>
            </a:r>
          </a:p>
        </p:txBody>
      </p:sp>
      <p:sp>
        <p:nvSpPr>
          <p:cNvPr id="25" name="TextBox 24">
            <a:extLst>
              <a:ext uri="{FF2B5EF4-FFF2-40B4-BE49-F238E27FC236}">
                <a16:creationId xmlns:a16="http://schemas.microsoft.com/office/drawing/2014/main" id="{256EB812-9B4E-DB75-3E3A-F978B902CF34}"/>
              </a:ext>
            </a:extLst>
          </p:cNvPr>
          <p:cNvSpPr txBox="1"/>
          <p:nvPr/>
        </p:nvSpPr>
        <p:spPr>
          <a:xfrm>
            <a:off x="6858000" y="2331720"/>
            <a:ext cx="4983480" cy="215444"/>
          </a:xfrm>
          <a:prstGeom prst="rect">
            <a:avLst/>
          </a:prstGeom>
          <a:noFill/>
        </p:spPr>
        <p:txBody>
          <a:bodyPr wrap="square" lIns="0" tIns="0" rIns="0" bIns="0" anchor="t">
            <a:spAutoFit/>
          </a:bodyPr>
          <a:lstStyle/>
          <a:p>
            <a:pPr algn="l">
              <a:lnSpc>
                <a:spcPct val="100000"/>
              </a:lnSpc>
              <a:spcBef>
                <a:spcPts val="0"/>
              </a:spcBef>
              <a:spcAft>
                <a:spcPts val="600"/>
              </a:spcAft>
            </a:pPr>
            <a:r>
              <a:rPr sz="1400" b="0" i="0" dirty="0">
                <a:solidFill>
                  <a:srgbClr val="62627D"/>
                </a:solidFill>
                <a:latin typeface="Calibri"/>
              </a:rPr>
              <a:t>Start retrieving before the utterance ends when confident.</a:t>
            </a:r>
          </a:p>
        </p:txBody>
      </p:sp>
      <p:sp>
        <p:nvSpPr>
          <p:cNvPr id="27" name="Rounded Rectangle 14">
            <a:extLst>
              <a:ext uri="{FF2B5EF4-FFF2-40B4-BE49-F238E27FC236}">
                <a16:creationId xmlns:a16="http://schemas.microsoft.com/office/drawing/2014/main" id="{3758BA00-A0A0-E375-B708-0B9DABF7C6EB}"/>
              </a:ext>
            </a:extLst>
          </p:cNvPr>
          <p:cNvSpPr/>
          <p:nvPr/>
        </p:nvSpPr>
        <p:spPr>
          <a:xfrm>
            <a:off x="6583680" y="2843784"/>
            <a:ext cx="5349240" cy="841248"/>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Rounded Rectangle 15">
            <a:extLst>
              <a:ext uri="{FF2B5EF4-FFF2-40B4-BE49-F238E27FC236}">
                <a16:creationId xmlns:a16="http://schemas.microsoft.com/office/drawing/2014/main" id="{791EAD49-D9C2-375D-4AB7-30FFE95A7245}"/>
              </a:ext>
            </a:extLst>
          </p:cNvPr>
          <p:cNvSpPr/>
          <p:nvPr/>
        </p:nvSpPr>
        <p:spPr>
          <a:xfrm>
            <a:off x="6583680" y="2843784"/>
            <a:ext cx="128016" cy="841248"/>
          </a:xfrm>
          <a:prstGeom prst="roundRect">
            <a:avLst>
              <a:gd name="adj" fmla="val 50000"/>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TextBox 30">
            <a:extLst>
              <a:ext uri="{FF2B5EF4-FFF2-40B4-BE49-F238E27FC236}">
                <a16:creationId xmlns:a16="http://schemas.microsoft.com/office/drawing/2014/main" id="{8E0247DE-A58C-0FBC-D0AA-D3FA8FFCBC61}"/>
              </a:ext>
            </a:extLst>
          </p:cNvPr>
          <p:cNvSpPr txBox="1"/>
          <p:nvPr/>
        </p:nvSpPr>
        <p:spPr>
          <a:xfrm>
            <a:off x="6858000" y="2953512"/>
            <a:ext cx="4983480" cy="246221"/>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3132B"/>
                </a:solidFill>
                <a:latin typeface="Calibri"/>
              </a:rPr>
              <a:t>2  Multi-intent decomposition</a:t>
            </a:r>
          </a:p>
        </p:txBody>
      </p:sp>
      <p:sp>
        <p:nvSpPr>
          <p:cNvPr id="33" name="TextBox 32">
            <a:extLst>
              <a:ext uri="{FF2B5EF4-FFF2-40B4-BE49-F238E27FC236}">
                <a16:creationId xmlns:a16="http://schemas.microsoft.com/office/drawing/2014/main" id="{5A8E0D91-572E-E12B-FEE0-594646610B92}"/>
              </a:ext>
            </a:extLst>
          </p:cNvPr>
          <p:cNvSpPr txBox="1"/>
          <p:nvPr/>
        </p:nvSpPr>
        <p:spPr>
          <a:xfrm>
            <a:off x="6858000" y="3300984"/>
            <a:ext cx="4983480" cy="215444"/>
          </a:xfrm>
          <a:prstGeom prst="rect">
            <a:avLst/>
          </a:prstGeom>
          <a:noFill/>
        </p:spPr>
        <p:txBody>
          <a:bodyPr wrap="square" lIns="0" tIns="0" rIns="0" bIns="0" anchor="t">
            <a:spAutoFit/>
          </a:bodyPr>
          <a:lstStyle/>
          <a:p>
            <a:pPr algn="l">
              <a:lnSpc>
                <a:spcPct val="100000"/>
              </a:lnSpc>
              <a:spcBef>
                <a:spcPts val="0"/>
              </a:spcBef>
              <a:spcAft>
                <a:spcPts val="600"/>
              </a:spcAft>
            </a:pPr>
            <a:r>
              <a:rPr sz="1400" b="0" i="0">
                <a:solidFill>
                  <a:srgbClr val="62627D"/>
                </a:solidFill>
                <a:latin typeface="Calibri"/>
              </a:rPr>
              <a:t>Split one spoken request into the several searches it implies.</a:t>
            </a:r>
          </a:p>
        </p:txBody>
      </p:sp>
      <p:sp>
        <p:nvSpPr>
          <p:cNvPr id="35" name="Rounded Rectangle 18">
            <a:extLst>
              <a:ext uri="{FF2B5EF4-FFF2-40B4-BE49-F238E27FC236}">
                <a16:creationId xmlns:a16="http://schemas.microsoft.com/office/drawing/2014/main" id="{DC044FC7-1CF8-8378-E201-EF9BB9ED9276}"/>
              </a:ext>
            </a:extLst>
          </p:cNvPr>
          <p:cNvSpPr/>
          <p:nvPr/>
        </p:nvSpPr>
        <p:spPr>
          <a:xfrm>
            <a:off x="6583680" y="3813048"/>
            <a:ext cx="5349240" cy="841248"/>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7" name="Rounded Rectangle 19">
            <a:extLst>
              <a:ext uri="{FF2B5EF4-FFF2-40B4-BE49-F238E27FC236}">
                <a16:creationId xmlns:a16="http://schemas.microsoft.com/office/drawing/2014/main" id="{F0B359DA-269E-A87E-F888-020E360FA24B}"/>
              </a:ext>
            </a:extLst>
          </p:cNvPr>
          <p:cNvSpPr/>
          <p:nvPr/>
        </p:nvSpPr>
        <p:spPr>
          <a:xfrm>
            <a:off x="6583680" y="3813048"/>
            <a:ext cx="128016" cy="841248"/>
          </a:xfrm>
          <a:prstGeom prst="roundRect">
            <a:avLst>
              <a:gd name="adj" fmla="val 50000"/>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9" name="TextBox 38">
            <a:extLst>
              <a:ext uri="{FF2B5EF4-FFF2-40B4-BE49-F238E27FC236}">
                <a16:creationId xmlns:a16="http://schemas.microsoft.com/office/drawing/2014/main" id="{53160968-BB57-BB2E-C7A6-8535A53C1229}"/>
              </a:ext>
            </a:extLst>
          </p:cNvPr>
          <p:cNvSpPr txBox="1"/>
          <p:nvPr/>
        </p:nvSpPr>
        <p:spPr>
          <a:xfrm>
            <a:off x="6858000" y="3922776"/>
            <a:ext cx="4983480" cy="246221"/>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3132B"/>
                </a:solidFill>
                <a:latin typeface="Calibri"/>
              </a:rPr>
              <a:t>3  Non-destructive refinement</a:t>
            </a:r>
          </a:p>
        </p:txBody>
      </p:sp>
      <p:sp>
        <p:nvSpPr>
          <p:cNvPr id="41" name="TextBox 40">
            <a:extLst>
              <a:ext uri="{FF2B5EF4-FFF2-40B4-BE49-F238E27FC236}">
                <a16:creationId xmlns:a16="http://schemas.microsoft.com/office/drawing/2014/main" id="{E257DBAB-ED3A-DEA5-A884-17E65ED773EF}"/>
              </a:ext>
            </a:extLst>
          </p:cNvPr>
          <p:cNvSpPr txBox="1"/>
          <p:nvPr/>
        </p:nvSpPr>
        <p:spPr>
          <a:xfrm>
            <a:off x="6858000" y="4270248"/>
            <a:ext cx="4983480" cy="215444"/>
          </a:xfrm>
          <a:prstGeom prst="rect">
            <a:avLst/>
          </a:prstGeom>
          <a:noFill/>
        </p:spPr>
        <p:txBody>
          <a:bodyPr wrap="square" lIns="0" tIns="0" rIns="0" bIns="0" anchor="t">
            <a:spAutoFit/>
          </a:bodyPr>
          <a:lstStyle/>
          <a:p>
            <a:pPr algn="l">
              <a:lnSpc>
                <a:spcPct val="100000"/>
              </a:lnSpc>
              <a:spcBef>
                <a:spcPts val="0"/>
              </a:spcBef>
              <a:spcAft>
                <a:spcPts val="600"/>
              </a:spcAft>
            </a:pPr>
            <a:r>
              <a:rPr sz="1400" b="0" i="0">
                <a:solidFill>
                  <a:srgbClr val="62627D"/>
                </a:solidFill>
                <a:latin typeface="Calibri"/>
              </a:rPr>
              <a:t>A new detail patches the existing answer — no full restart.</a:t>
            </a:r>
          </a:p>
        </p:txBody>
      </p:sp>
      <p:sp>
        <p:nvSpPr>
          <p:cNvPr id="43" name="Rounded Rectangle 22">
            <a:extLst>
              <a:ext uri="{FF2B5EF4-FFF2-40B4-BE49-F238E27FC236}">
                <a16:creationId xmlns:a16="http://schemas.microsoft.com/office/drawing/2014/main" id="{E66F83D6-443C-B238-8E85-57676BFA64D8}"/>
              </a:ext>
            </a:extLst>
          </p:cNvPr>
          <p:cNvSpPr/>
          <p:nvPr/>
        </p:nvSpPr>
        <p:spPr>
          <a:xfrm>
            <a:off x="685800" y="4782313"/>
            <a:ext cx="11247120" cy="1710562"/>
          </a:xfrm>
          <a:prstGeom prst="roundRect">
            <a:avLst>
              <a:gd name="adj" fmla="val 6000"/>
            </a:avLst>
          </a:prstGeom>
          <a:solidFill>
            <a:srgbClr val="ECE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5" name="TextBox 44">
            <a:extLst>
              <a:ext uri="{FF2B5EF4-FFF2-40B4-BE49-F238E27FC236}">
                <a16:creationId xmlns:a16="http://schemas.microsoft.com/office/drawing/2014/main" id="{756489F3-79D5-696E-020C-AD1338B426ED}"/>
              </a:ext>
            </a:extLst>
          </p:cNvPr>
          <p:cNvSpPr txBox="1"/>
          <p:nvPr/>
        </p:nvSpPr>
        <p:spPr>
          <a:xfrm>
            <a:off x="914400" y="4816209"/>
            <a:ext cx="4892040" cy="246221"/>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6C28D9"/>
                </a:solidFill>
                <a:latin typeface="Calibri"/>
              </a:rPr>
              <a:t>Scope &amp; constraints</a:t>
            </a:r>
          </a:p>
        </p:txBody>
      </p:sp>
      <p:sp>
        <p:nvSpPr>
          <p:cNvPr id="47" name="TextBox 46">
            <a:extLst>
              <a:ext uri="{FF2B5EF4-FFF2-40B4-BE49-F238E27FC236}">
                <a16:creationId xmlns:a16="http://schemas.microsoft.com/office/drawing/2014/main" id="{A9C4C7CF-4B5A-01BB-A935-52325ED206CB}"/>
              </a:ext>
            </a:extLst>
          </p:cNvPr>
          <p:cNvSpPr txBox="1"/>
          <p:nvPr/>
        </p:nvSpPr>
        <p:spPr>
          <a:xfrm>
            <a:off x="838200" y="5427568"/>
            <a:ext cx="10765536" cy="557845"/>
          </a:xfrm>
          <a:prstGeom prst="rect">
            <a:avLst/>
          </a:prstGeom>
          <a:noFill/>
        </p:spPr>
        <p:txBody>
          <a:bodyPr wrap="square" lIns="0" tIns="0" rIns="0" bIns="0" anchor="t">
            <a:spAutoFit/>
          </a:bodyPr>
          <a:lstStyle/>
          <a:p>
            <a:pPr algn="l">
              <a:lnSpc>
                <a:spcPct val="105000"/>
              </a:lnSpc>
              <a:spcBef>
                <a:spcPts val="0"/>
              </a:spcBef>
              <a:spcAft>
                <a:spcPts val="400"/>
              </a:spcAft>
            </a:pPr>
            <a:r>
              <a:rPr sz="1600" b="0" i="0" dirty="0">
                <a:solidFill>
                  <a:srgbClr val="13132B"/>
                </a:solidFill>
                <a:latin typeface="Calibri"/>
              </a:rPr>
              <a:t>Full-duplex (retrieve before utterance ends) · session-scoped memory only · simple &amp; cheap beats heavy orchestration.</a:t>
            </a:r>
          </a:p>
          <a:p>
            <a:pPr algn="l">
              <a:lnSpc>
                <a:spcPct val="105000"/>
              </a:lnSpc>
              <a:spcBef>
                <a:spcPts val="0"/>
              </a:spcBef>
              <a:spcAft>
                <a:spcPts val="400"/>
              </a:spcAft>
            </a:pPr>
            <a:r>
              <a:rPr sz="1600" b="1" i="0" dirty="0">
                <a:solidFill>
                  <a:srgbClr val="6C28D9"/>
                </a:solidFill>
                <a:latin typeface="Calibri"/>
              </a:rPr>
              <a:t>Graded on: </a:t>
            </a:r>
            <a:r>
              <a:rPr sz="1600" b="0" i="0" dirty="0">
                <a:solidFill>
                  <a:srgbClr val="13132B"/>
                </a:solidFill>
                <a:latin typeface="Calibri"/>
              </a:rPr>
              <a:t>retrieval recall · answer </a:t>
            </a:r>
            <a:r>
              <a:rPr sz="1600" b="0" i="0" dirty="0" err="1">
                <a:solidFill>
                  <a:srgbClr val="13132B"/>
                </a:solidFill>
                <a:latin typeface="Calibri"/>
              </a:rPr>
              <a:t>groundedness</a:t>
            </a:r>
            <a:r>
              <a:rPr sz="1600" b="0" i="0" dirty="0">
                <a:solidFill>
                  <a:srgbClr val="13132B"/>
                </a:solidFill>
                <a:latin typeface="Calibri"/>
              </a:rPr>
              <a:t> · time-to-first-token · cost/turn.</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617219" y="109528"/>
            <a:ext cx="10515600" cy="1325563"/>
          </a:xfrm>
        </p:spPr>
        <p:txBody>
          <a:bodyPr>
            <a:normAutofit/>
          </a:bodyPr>
          <a:lstStyle/>
          <a:p>
            <a:r>
              <a:rPr lang="en-IN" b="1" dirty="0">
                <a:solidFill>
                  <a:srgbClr val="704EA6"/>
                </a:solidFill>
                <a:latin typeface="+mn-lt"/>
                <a:cs typeface="Arial" pitchFamily="34" charset="-120"/>
              </a:rPr>
              <a:t>Existing Solutions &amp; Gaps</a:t>
            </a:r>
          </a:p>
        </p:txBody>
      </p:sp>
      <p:sp>
        <p:nvSpPr>
          <p:cNvPr id="5" name="Rectangle 4">
            <a:extLst>
              <a:ext uri="{FF2B5EF4-FFF2-40B4-BE49-F238E27FC236}">
                <a16:creationId xmlns:a16="http://schemas.microsoft.com/office/drawing/2014/main" id="{CE4CF274-840C-1259-0C26-ED21555D0158}"/>
              </a:ext>
            </a:extLst>
          </p:cNvPr>
          <p:cNvSpPr/>
          <p:nvPr/>
        </p:nvSpPr>
        <p:spPr>
          <a:xfrm>
            <a:off x="731520" y="1115568"/>
            <a:ext cx="777240" cy="50292"/>
          </a:xfrm>
          <a:prstGeom prst="rect">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Rectangle 6">
            <a:extLst>
              <a:ext uri="{FF2B5EF4-FFF2-40B4-BE49-F238E27FC236}">
                <a16:creationId xmlns:a16="http://schemas.microsoft.com/office/drawing/2014/main" id="{FD1183F1-CAE5-D9D4-9099-32696692F348}"/>
              </a:ext>
            </a:extLst>
          </p:cNvPr>
          <p:cNvSpPr/>
          <p:nvPr/>
        </p:nvSpPr>
        <p:spPr>
          <a:xfrm>
            <a:off x="685800" y="1417320"/>
            <a:ext cx="3200400" cy="502920"/>
          </a:xfrm>
          <a:prstGeom prst="rect">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a:extLst>
              <a:ext uri="{FF2B5EF4-FFF2-40B4-BE49-F238E27FC236}">
                <a16:creationId xmlns:a16="http://schemas.microsoft.com/office/drawing/2014/main" id="{D9A29A01-8612-45B0-09B7-69573D0458C9}"/>
              </a:ext>
            </a:extLst>
          </p:cNvPr>
          <p:cNvSpPr txBox="1"/>
          <p:nvPr/>
        </p:nvSpPr>
        <p:spPr>
          <a:xfrm>
            <a:off x="822960" y="1561058"/>
            <a:ext cx="2926080"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FFFFFF"/>
                </a:solidFill>
                <a:latin typeface="Calibri"/>
              </a:rPr>
              <a:t>Approach</a:t>
            </a:r>
          </a:p>
        </p:txBody>
      </p:sp>
      <p:sp>
        <p:nvSpPr>
          <p:cNvPr id="11" name="Rectangle 10">
            <a:extLst>
              <a:ext uri="{FF2B5EF4-FFF2-40B4-BE49-F238E27FC236}">
                <a16:creationId xmlns:a16="http://schemas.microsoft.com/office/drawing/2014/main" id="{BE8C5B36-3892-4EDF-2C66-DD72DF39FF6D}"/>
              </a:ext>
            </a:extLst>
          </p:cNvPr>
          <p:cNvSpPr/>
          <p:nvPr/>
        </p:nvSpPr>
        <p:spPr>
          <a:xfrm>
            <a:off x="3886200" y="1417320"/>
            <a:ext cx="3977639" cy="502920"/>
          </a:xfrm>
          <a:prstGeom prst="rect">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TextBox 12">
            <a:extLst>
              <a:ext uri="{FF2B5EF4-FFF2-40B4-BE49-F238E27FC236}">
                <a16:creationId xmlns:a16="http://schemas.microsoft.com/office/drawing/2014/main" id="{893840C3-CA8F-FF89-6316-0FD2C10D2BF1}"/>
              </a:ext>
            </a:extLst>
          </p:cNvPr>
          <p:cNvSpPr txBox="1"/>
          <p:nvPr/>
        </p:nvSpPr>
        <p:spPr>
          <a:xfrm>
            <a:off x="4023360" y="1561058"/>
            <a:ext cx="3703320"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FFFFFF"/>
                </a:solidFill>
                <a:latin typeface="Calibri"/>
              </a:rPr>
              <a:t>What it does today</a:t>
            </a:r>
          </a:p>
        </p:txBody>
      </p:sp>
      <p:sp>
        <p:nvSpPr>
          <p:cNvPr id="15" name="Rectangle 14">
            <a:extLst>
              <a:ext uri="{FF2B5EF4-FFF2-40B4-BE49-F238E27FC236}">
                <a16:creationId xmlns:a16="http://schemas.microsoft.com/office/drawing/2014/main" id="{BFFADE82-B09B-B057-E668-4B636807A8F9}"/>
              </a:ext>
            </a:extLst>
          </p:cNvPr>
          <p:cNvSpPr/>
          <p:nvPr/>
        </p:nvSpPr>
        <p:spPr>
          <a:xfrm>
            <a:off x="7863840" y="1417320"/>
            <a:ext cx="4023360" cy="502920"/>
          </a:xfrm>
          <a:prstGeom prst="rect">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a:extLst>
              <a:ext uri="{FF2B5EF4-FFF2-40B4-BE49-F238E27FC236}">
                <a16:creationId xmlns:a16="http://schemas.microsoft.com/office/drawing/2014/main" id="{07A743D7-F672-C584-0AC4-C7B1684C4426}"/>
              </a:ext>
            </a:extLst>
          </p:cNvPr>
          <p:cNvSpPr txBox="1"/>
          <p:nvPr/>
        </p:nvSpPr>
        <p:spPr>
          <a:xfrm>
            <a:off x="8001000" y="1561058"/>
            <a:ext cx="3749040"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FFFFFF"/>
                </a:solidFill>
                <a:latin typeface="Calibri"/>
              </a:rPr>
              <a:t>Why it fails Theme 04</a:t>
            </a:r>
          </a:p>
        </p:txBody>
      </p:sp>
      <p:sp>
        <p:nvSpPr>
          <p:cNvPr id="19" name="Rectangle 18">
            <a:extLst>
              <a:ext uri="{FF2B5EF4-FFF2-40B4-BE49-F238E27FC236}">
                <a16:creationId xmlns:a16="http://schemas.microsoft.com/office/drawing/2014/main" id="{EAEBB86B-9168-E9EE-3130-2CBD69B97E9D}"/>
              </a:ext>
            </a:extLst>
          </p:cNvPr>
          <p:cNvSpPr/>
          <p:nvPr/>
        </p:nvSpPr>
        <p:spPr>
          <a:xfrm>
            <a:off x="685800" y="1920240"/>
            <a:ext cx="3200400" cy="86868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a:extLst>
              <a:ext uri="{FF2B5EF4-FFF2-40B4-BE49-F238E27FC236}">
                <a16:creationId xmlns:a16="http://schemas.microsoft.com/office/drawing/2014/main" id="{D3A82933-C633-EB9E-E515-DEB862F756DC}"/>
              </a:ext>
            </a:extLst>
          </p:cNvPr>
          <p:cNvSpPr txBox="1"/>
          <p:nvPr/>
        </p:nvSpPr>
        <p:spPr>
          <a:xfrm>
            <a:off x="822960" y="2100119"/>
            <a:ext cx="2926080" cy="508922"/>
          </a:xfrm>
          <a:prstGeom prst="rect">
            <a:avLst/>
          </a:prstGeom>
          <a:noFill/>
        </p:spPr>
        <p:txBody>
          <a:bodyPr wrap="square" lIns="0" tIns="0" rIns="0" bIns="0" anchor="ctr">
            <a:spAutoFit/>
          </a:bodyPr>
          <a:lstStyle/>
          <a:p>
            <a:pPr algn="l">
              <a:lnSpc>
                <a:spcPct val="102000"/>
              </a:lnSpc>
              <a:spcBef>
                <a:spcPts val="0"/>
              </a:spcBef>
              <a:spcAft>
                <a:spcPts val="600"/>
              </a:spcAft>
            </a:pPr>
            <a:r>
              <a:rPr sz="1400" b="1" i="0" dirty="0">
                <a:solidFill>
                  <a:srgbClr val="13132B"/>
                </a:solidFill>
                <a:latin typeface="Calibri"/>
              </a:rPr>
              <a:t>Batch RAG
(</a:t>
            </a:r>
            <a:r>
              <a:rPr sz="1400" b="1" i="0" dirty="0" err="1">
                <a:solidFill>
                  <a:srgbClr val="13132B"/>
                </a:solidFill>
                <a:latin typeface="Calibri"/>
              </a:rPr>
              <a:t>LangChain</a:t>
            </a:r>
            <a:r>
              <a:rPr sz="1400" b="1" i="0" dirty="0">
                <a:solidFill>
                  <a:srgbClr val="13132B"/>
                </a:solidFill>
                <a:latin typeface="Calibri"/>
              </a:rPr>
              <a:t> / </a:t>
            </a:r>
            <a:r>
              <a:rPr sz="1400" b="1" i="0" dirty="0" err="1">
                <a:solidFill>
                  <a:srgbClr val="13132B"/>
                </a:solidFill>
                <a:latin typeface="Calibri"/>
              </a:rPr>
              <a:t>LlamaIndex</a:t>
            </a:r>
            <a:r>
              <a:rPr sz="1400" b="1" i="0" dirty="0">
                <a:solidFill>
                  <a:srgbClr val="13132B"/>
                </a:solidFill>
                <a:latin typeface="Calibri"/>
              </a:rPr>
              <a:t> default)</a:t>
            </a:r>
          </a:p>
        </p:txBody>
      </p:sp>
      <p:sp>
        <p:nvSpPr>
          <p:cNvPr id="23" name="Rectangle 22">
            <a:extLst>
              <a:ext uri="{FF2B5EF4-FFF2-40B4-BE49-F238E27FC236}">
                <a16:creationId xmlns:a16="http://schemas.microsoft.com/office/drawing/2014/main" id="{54B51E0D-A3FA-D9AA-1A1F-BEC3144AB01B}"/>
              </a:ext>
            </a:extLst>
          </p:cNvPr>
          <p:cNvSpPr/>
          <p:nvPr/>
        </p:nvSpPr>
        <p:spPr>
          <a:xfrm>
            <a:off x="3886200" y="1920240"/>
            <a:ext cx="3977639" cy="86868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TextBox 24">
            <a:extLst>
              <a:ext uri="{FF2B5EF4-FFF2-40B4-BE49-F238E27FC236}">
                <a16:creationId xmlns:a16="http://schemas.microsoft.com/office/drawing/2014/main" id="{29FE5427-0511-82CA-8D69-5F5EEE6694D7}"/>
              </a:ext>
            </a:extLst>
          </p:cNvPr>
          <p:cNvSpPr txBox="1"/>
          <p:nvPr/>
        </p:nvSpPr>
        <p:spPr>
          <a:xfrm>
            <a:off x="4023360" y="2138591"/>
            <a:ext cx="3703320" cy="431978"/>
          </a:xfrm>
          <a:prstGeom prst="rect">
            <a:avLst/>
          </a:prstGeom>
          <a:noFill/>
        </p:spPr>
        <p:txBody>
          <a:bodyPr wrap="square" lIns="0" tIns="0" rIns="0" bIns="0" anchor="ctr">
            <a:spAutoFit/>
          </a:bodyPr>
          <a:lstStyle/>
          <a:p>
            <a:pPr algn="l">
              <a:lnSpc>
                <a:spcPct val="102000"/>
              </a:lnSpc>
              <a:spcBef>
                <a:spcPts val="0"/>
              </a:spcBef>
              <a:spcAft>
                <a:spcPts val="600"/>
              </a:spcAft>
            </a:pPr>
            <a:r>
              <a:rPr sz="1400" b="0" i="0">
                <a:solidFill>
                  <a:srgbClr val="62627D"/>
                </a:solidFill>
                <a:latin typeface="Calibri"/>
              </a:rPr>
              <a:t>Wait for the full query → embed → search → answer.</a:t>
            </a:r>
          </a:p>
        </p:txBody>
      </p:sp>
      <p:sp>
        <p:nvSpPr>
          <p:cNvPr id="27" name="Rectangle 26">
            <a:extLst>
              <a:ext uri="{FF2B5EF4-FFF2-40B4-BE49-F238E27FC236}">
                <a16:creationId xmlns:a16="http://schemas.microsoft.com/office/drawing/2014/main" id="{495168AE-6DD6-7240-7282-B98D698A81E4}"/>
              </a:ext>
            </a:extLst>
          </p:cNvPr>
          <p:cNvSpPr/>
          <p:nvPr/>
        </p:nvSpPr>
        <p:spPr>
          <a:xfrm>
            <a:off x="7863840" y="1920240"/>
            <a:ext cx="4023360" cy="86868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TextBox 28">
            <a:extLst>
              <a:ext uri="{FF2B5EF4-FFF2-40B4-BE49-F238E27FC236}">
                <a16:creationId xmlns:a16="http://schemas.microsoft.com/office/drawing/2014/main" id="{100472C1-4A15-7BB9-1E5C-8394CC2C4F3A}"/>
              </a:ext>
            </a:extLst>
          </p:cNvPr>
          <p:cNvSpPr txBox="1"/>
          <p:nvPr/>
        </p:nvSpPr>
        <p:spPr>
          <a:xfrm>
            <a:off x="8001000" y="2138591"/>
            <a:ext cx="3749040" cy="431978"/>
          </a:xfrm>
          <a:prstGeom prst="rect">
            <a:avLst/>
          </a:prstGeom>
          <a:noFill/>
        </p:spPr>
        <p:txBody>
          <a:bodyPr wrap="square" lIns="0" tIns="0" rIns="0" bIns="0" anchor="ctr">
            <a:spAutoFit/>
          </a:bodyPr>
          <a:lstStyle/>
          <a:p>
            <a:pPr algn="l">
              <a:lnSpc>
                <a:spcPct val="102000"/>
              </a:lnSpc>
              <a:spcBef>
                <a:spcPts val="0"/>
              </a:spcBef>
              <a:spcAft>
                <a:spcPts val="600"/>
              </a:spcAft>
            </a:pPr>
            <a:r>
              <a:rPr sz="1400" b="0" i="0">
                <a:solidFill>
                  <a:srgbClr val="B02A4A"/>
                </a:solidFill>
                <a:latin typeface="Calibri"/>
              </a:rPr>
              <a:t>Turn-based by construction: can't start until you stop; one query only; no refinement.</a:t>
            </a:r>
          </a:p>
        </p:txBody>
      </p:sp>
      <p:sp>
        <p:nvSpPr>
          <p:cNvPr id="31" name="Rectangle 30">
            <a:extLst>
              <a:ext uri="{FF2B5EF4-FFF2-40B4-BE49-F238E27FC236}">
                <a16:creationId xmlns:a16="http://schemas.microsoft.com/office/drawing/2014/main" id="{FEE111D5-6D13-1E08-9E3B-D490806CA505}"/>
              </a:ext>
            </a:extLst>
          </p:cNvPr>
          <p:cNvSpPr/>
          <p:nvPr/>
        </p:nvSpPr>
        <p:spPr>
          <a:xfrm>
            <a:off x="685800" y="2788920"/>
            <a:ext cx="3200400" cy="749808"/>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3" name="TextBox 32">
            <a:extLst>
              <a:ext uri="{FF2B5EF4-FFF2-40B4-BE49-F238E27FC236}">
                <a16:creationId xmlns:a16="http://schemas.microsoft.com/office/drawing/2014/main" id="{AC77B2A1-1755-87B8-C2F1-76FCFD14E041}"/>
              </a:ext>
            </a:extLst>
          </p:cNvPr>
          <p:cNvSpPr txBox="1"/>
          <p:nvPr/>
        </p:nvSpPr>
        <p:spPr>
          <a:xfrm>
            <a:off x="822960" y="3057704"/>
            <a:ext cx="2926080" cy="212238"/>
          </a:xfrm>
          <a:prstGeom prst="rect">
            <a:avLst/>
          </a:prstGeom>
          <a:noFill/>
        </p:spPr>
        <p:txBody>
          <a:bodyPr wrap="square" lIns="0" tIns="0" rIns="0" bIns="0" anchor="ctr">
            <a:spAutoFit/>
          </a:bodyPr>
          <a:lstStyle/>
          <a:p>
            <a:pPr algn="l">
              <a:lnSpc>
                <a:spcPct val="102000"/>
              </a:lnSpc>
              <a:spcBef>
                <a:spcPts val="0"/>
              </a:spcBef>
              <a:spcAft>
                <a:spcPts val="600"/>
              </a:spcAft>
            </a:pPr>
            <a:r>
              <a:rPr sz="1400" b="1" i="0">
                <a:solidFill>
                  <a:srgbClr val="13132B"/>
                </a:solidFill>
                <a:latin typeface="Calibri"/>
              </a:rPr>
              <a:t>Naive voice assistants</a:t>
            </a:r>
          </a:p>
        </p:txBody>
      </p:sp>
      <p:sp>
        <p:nvSpPr>
          <p:cNvPr id="35" name="Rectangle 34">
            <a:extLst>
              <a:ext uri="{FF2B5EF4-FFF2-40B4-BE49-F238E27FC236}">
                <a16:creationId xmlns:a16="http://schemas.microsoft.com/office/drawing/2014/main" id="{212F787B-B4D2-85DE-F1CB-7CADF9A8BE21}"/>
              </a:ext>
            </a:extLst>
          </p:cNvPr>
          <p:cNvSpPr/>
          <p:nvPr/>
        </p:nvSpPr>
        <p:spPr>
          <a:xfrm>
            <a:off x="3886200" y="2788920"/>
            <a:ext cx="3977639" cy="749808"/>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7" name="TextBox 36">
            <a:extLst>
              <a:ext uri="{FF2B5EF4-FFF2-40B4-BE49-F238E27FC236}">
                <a16:creationId xmlns:a16="http://schemas.microsoft.com/office/drawing/2014/main" id="{F4D48D53-AE2F-32BD-6EED-594F84F6AF91}"/>
              </a:ext>
            </a:extLst>
          </p:cNvPr>
          <p:cNvSpPr txBox="1"/>
          <p:nvPr/>
        </p:nvSpPr>
        <p:spPr>
          <a:xfrm>
            <a:off x="4023360" y="3057704"/>
            <a:ext cx="3703320" cy="212238"/>
          </a:xfrm>
          <a:prstGeom prst="rect">
            <a:avLst/>
          </a:prstGeom>
          <a:noFill/>
        </p:spPr>
        <p:txBody>
          <a:bodyPr wrap="square" lIns="0" tIns="0" rIns="0" bIns="0" anchor="ctr">
            <a:spAutoFit/>
          </a:bodyPr>
          <a:lstStyle/>
          <a:p>
            <a:pPr algn="l">
              <a:lnSpc>
                <a:spcPct val="102000"/>
              </a:lnSpc>
              <a:spcBef>
                <a:spcPts val="0"/>
              </a:spcBef>
              <a:spcAft>
                <a:spcPts val="600"/>
              </a:spcAft>
            </a:pPr>
            <a:r>
              <a:rPr sz="1400" b="0" i="0">
                <a:solidFill>
                  <a:srgbClr val="62627D"/>
                </a:solidFill>
                <a:latin typeface="Calibri"/>
              </a:rPr>
              <a:t>ASR the whole utterance, then a single search.</a:t>
            </a:r>
          </a:p>
        </p:txBody>
      </p:sp>
      <p:sp>
        <p:nvSpPr>
          <p:cNvPr id="39" name="Rectangle 38">
            <a:extLst>
              <a:ext uri="{FF2B5EF4-FFF2-40B4-BE49-F238E27FC236}">
                <a16:creationId xmlns:a16="http://schemas.microsoft.com/office/drawing/2014/main" id="{CEFFBCB3-41D3-CAA5-E1EF-52411CFB2A66}"/>
              </a:ext>
            </a:extLst>
          </p:cNvPr>
          <p:cNvSpPr/>
          <p:nvPr/>
        </p:nvSpPr>
        <p:spPr>
          <a:xfrm>
            <a:off x="7863840" y="2788920"/>
            <a:ext cx="4023360" cy="749808"/>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1" name="TextBox 40">
            <a:extLst>
              <a:ext uri="{FF2B5EF4-FFF2-40B4-BE49-F238E27FC236}">
                <a16:creationId xmlns:a16="http://schemas.microsoft.com/office/drawing/2014/main" id="{50484FAC-5DC6-0B36-14F4-23735DF4F6E9}"/>
              </a:ext>
            </a:extLst>
          </p:cNvPr>
          <p:cNvSpPr txBox="1"/>
          <p:nvPr/>
        </p:nvSpPr>
        <p:spPr>
          <a:xfrm>
            <a:off x="8001000" y="2947834"/>
            <a:ext cx="3749040" cy="431978"/>
          </a:xfrm>
          <a:prstGeom prst="rect">
            <a:avLst/>
          </a:prstGeom>
          <a:noFill/>
        </p:spPr>
        <p:txBody>
          <a:bodyPr wrap="square" lIns="0" tIns="0" rIns="0" bIns="0" anchor="ctr">
            <a:spAutoFit/>
          </a:bodyPr>
          <a:lstStyle/>
          <a:p>
            <a:pPr algn="l">
              <a:lnSpc>
                <a:spcPct val="102000"/>
              </a:lnSpc>
              <a:spcBef>
                <a:spcPts val="0"/>
              </a:spcBef>
              <a:spcAft>
                <a:spcPts val="600"/>
              </a:spcAft>
            </a:pPr>
            <a:r>
              <a:rPr sz="1400" b="0" i="0">
                <a:solidFill>
                  <a:srgbClr val="B02A4A"/>
                </a:solidFill>
                <a:latin typeface="Calibri"/>
              </a:rPr>
              <a:t>Treats a compound utterance as one query — silently drops sub-intents.</a:t>
            </a:r>
          </a:p>
        </p:txBody>
      </p:sp>
      <p:sp>
        <p:nvSpPr>
          <p:cNvPr id="43" name="Rectangle 42">
            <a:extLst>
              <a:ext uri="{FF2B5EF4-FFF2-40B4-BE49-F238E27FC236}">
                <a16:creationId xmlns:a16="http://schemas.microsoft.com/office/drawing/2014/main" id="{19C11F90-D382-A900-6BB0-3763952F32D3}"/>
              </a:ext>
            </a:extLst>
          </p:cNvPr>
          <p:cNvSpPr/>
          <p:nvPr/>
        </p:nvSpPr>
        <p:spPr>
          <a:xfrm>
            <a:off x="685800" y="3538727"/>
            <a:ext cx="3200400" cy="86868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5" name="TextBox 44">
            <a:extLst>
              <a:ext uri="{FF2B5EF4-FFF2-40B4-BE49-F238E27FC236}">
                <a16:creationId xmlns:a16="http://schemas.microsoft.com/office/drawing/2014/main" id="{E9F119A5-D13D-2B0E-7831-9C69FF401F7C}"/>
              </a:ext>
            </a:extLst>
          </p:cNvPr>
          <p:cNvSpPr txBox="1"/>
          <p:nvPr/>
        </p:nvSpPr>
        <p:spPr>
          <a:xfrm>
            <a:off x="822960" y="3718606"/>
            <a:ext cx="2926080" cy="508922"/>
          </a:xfrm>
          <a:prstGeom prst="rect">
            <a:avLst/>
          </a:prstGeom>
          <a:noFill/>
        </p:spPr>
        <p:txBody>
          <a:bodyPr wrap="square" lIns="0" tIns="0" rIns="0" bIns="0" anchor="ctr">
            <a:spAutoFit/>
          </a:bodyPr>
          <a:lstStyle/>
          <a:p>
            <a:pPr algn="l">
              <a:lnSpc>
                <a:spcPct val="102000"/>
              </a:lnSpc>
              <a:spcBef>
                <a:spcPts val="0"/>
              </a:spcBef>
              <a:spcAft>
                <a:spcPts val="600"/>
              </a:spcAft>
            </a:pPr>
            <a:r>
              <a:rPr sz="1400" b="1" i="0">
                <a:solidFill>
                  <a:srgbClr val="13132B"/>
                </a:solidFill>
                <a:latin typeface="Calibri"/>
              </a:rPr>
              <a:t>Multi-agent orchestration
(planner + tools)</a:t>
            </a:r>
          </a:p>
        </p:txBody>
      </p:sp>
      <p:sp>
        <p:nvSpPr>
          <p:cNvPr id="47" name="Rectangle 46">
            <a:extLst>
              <a:ext uri="{FF2B5EF4-FFF2-40B4-BE49-F238E27FC236}">
                <a16:creationId xmlns:a16="http://schemas.microsoft.com/office/drawing/2014/main" id="{DC01B549-664F-8F3C-005C-47931266AC21}"/>
              </a:ext>
            </a:extLst>
          </p:cNvPr>
          <p:cNvSpPr/>
          <p:nvPr/>
        </p:nvSpPr>
        <p:spPr>
          <a:xfrm>
            <a:off x="3886200" y="3538727"/>
            <a:ext cx="3977639" cy="86868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9" name="TextBox 48">
            <a:extLst>
              <a:ext uri="{FF2B5EF4-FFF2-40B4-BE49-F238E27FC236}">
                <a16:creationId xmlns:a16="http://schemas.microsoft.com/office/drawing/2014/main" id="{6892B188-A510-F3E8-9E01-39EDBE9EEBAC}"/>
              </a:ext>
            </a:extLst>
          </p:cNvPr>
          <p:cNvSpPr txBox="1"/>
          <p:nvPr/>
        </p:nvSpPr>
        <p:spPr>
          <a:xfrm>
            <a:off x="4023360" y="3866948"/>
            <a:ext cx="3703320" cy="212238"/>
          </a:xfrm>
          <a:prstGeom prst="rect">
            <a:avLst/>
          </a:prstGeom>
          <a:noFill/>
        </p:spPr>
        <p:txBody>
          <a:bodyPr wrap="square" lIns="0" tIns="0" rIns="0" bIns="0" anchor="ctr">
            <a:spAutoFit/>
          </a:bodyPr>
          <a:lstStyle/>
          <a:p>
            <a:pPr algn="l">
              <a:lnSpc>
                <a:spcPct val="102000"/>
              </a:lnSpc>
              <a:spcBef>
                <a:spcPts val="0"/>
              </a:spcBef>
              <a:spcAft>
                <a:spcPts val="600"/>
              </a:spcAft>
            </a:pPr>
            <a:r>
              <a:rPr sz="1400" b="0" i="0">
                <a:solidFill>
                  <a:srgbClr val="62627D"/>
                </a:solidFill>
                <a:latin typeface="Calibri"/>
              </a:rPr>
              <a:t>Heavyweight agent loops plan every turn.</a:t>
            </a:r>
          </a:p>
        </p:txBody>
      </p:sp>
      <p:sp>
        <p:nvSpPr>
          <p:cNvPr id="51" name="Rectangle 50">
            <a:extLst>
              <a:ext uri="{FF2B5EF4-FFF2-40B4-BE49-F238E27FC236}">
                <a16:creationId xmlns:a16="http://schemas.microsoft.com/office/drawing/2014/main" id="{D024DFD3-A6DF-9458-E19B-15067121CB21}"/>
              </a:ext>
            </a:extLst>
          </p:cNvPr>
          <p:cNvSpPr/>
          <p:nvPr/>
        </p:nvSpPr>
        <p:spPr>
          <a:xfrm>
            <a:off x="7863840" y="3538727"/>
            <a:ext cx="4023360" cy="86868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3" name="TextBox 52">
            <a:extLst>
              <a:ext uri="{FF2B5EF4-FFF2-40B4-BE49-F238E27FC236}">
                <a16:creationId xmlns:a16="http://schemas.microsoft.com/office/drawing/2014/main" id="{547706F8-3035-A1E8-429A-2868BA17931F}"/>
              </a:ext>
            </a:extLst>
          </p:cNvPr>
          <p:cNvSpPr txBox="1"/>
          <p:nvPr/>
        </p:nvSpPr>
        <p:spPr>
          <a:xfrm>
            <a:off x="8001000" y="3757078"/>
            <a:ext cx="3749040" cy="431978"/>
          </a:xfrm>
          <a:prstGeom prst="rect">
            <a:avLst/>
          </a:prstGeom>
          <a:noFill/>
        </p:spPr>
        <p:txBody>
          <a:bodyPr wrap="square" lIns="0" tIns="0" rIns="0" bIns="0" anchor="ctr">
            <a:spAutoFit/>
          </a:bodyPr>
          <a:lstStyle/>
          <a:p>
            <a:pPr algn="l">
              <a:lnSpc>
                <a:spcPct val="102000"/>
              </a:lnSpc>
              <a:spcBef>
                <a:spcPts val="0"/>
              </a:spcBef>
              <a:spcAft>
                <a:spcPts val="600"/>
              </a:spcAft>
            </a:pPr>
            <a:r>
              <a:rPr sz="1400" b="0" i="0">
                <a:solidFill>
                  <a:srgbClr val="B02A4A"/>
                </a:solidFill>
                <a:latin typeface="Calibri"/>
              </a:rPr>
              <a:t>Latency &amp; token cost blow up; high TTFT; violates “Architectural Parsimony”.</a:t>
            </a:r>
          </a:p>
        </p:txBody>
      </p:sp>
      <p:sp>
        <p:nvSpPr>
          <p:cNvPr id="55" name="Rectangle 54">
            <a:extLst>
              <a:ext uri="{FF2B5EF4-FFF2-40B4-BE49-F238E27FC236}">
                <a16:creationId xmlns:a16="http://schemas.microsoft.com/office/drawing/2014/main" id="{B437EB86-9DED-8070-4AD3-581BE1A21C0F}"/>
              </a:ext>
            </a:extLst>
          </p:cNvPr>
          <p:cNvSpPr/>
          <p:nvPr/>
        </p:nvSpPr>
        <p:spPr>
          <a:xfrm>
            <a:off x="685800" y="4407407"/>
            <a:ext cx="3200400" cy="749808"/>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7" name="TextBox 56">
            <a:extLst>
              <a:ext uri="{FF2B5EF4-FFF2-40B4-BE49-F238E27FC236}">
                <a16:creationId xmlns:a16="http://schemas.microsoft.com/office/drawing/2014/main" id="{D76790E9-87A4-CC5F-B59F-A4B0669A295A}"/>
              </a:ext>
            </a:extLst>
          </p:cNvPr>
          <p:cNvSpPr txBox="1"/>
          <p:nvPr/>
        </p:nvSpPr>
        <p:spPr>
          <a:xfrm>
            <a:off x="822960" y="4676192"/>
            <a:ext cx="2926080" cy="212238"/>
          </a:xfrm>
          <a:prstGeom prst="rect">
            <a:avLst/>
          </a:prstGeom>
          <a:noFill/>
        </p:spPr>
        <p:txBody>
          <a:bodyPr wrap="square" lIns="0" tIns="0" rIns="0" bIns="0" anchor="ctr">
            <a:spAutoFit/>
          </a:bodyPr>
          <a:lstStyle/>
          <a:p>
            <a:pPr algn="l">
              <a:lnSpc>
                <a:spcPct val="102000"/>
              </a:lnSpc>
              <a:spcBef>
                <a:spcPts val="0"/>
              </a:spcBef>
              <a:spcAft>
                <a:spcPts val="600"/>
              </a:spcAft>
            </a:pPr>
            <a:r>
              <a:rPr sz="1400" b="1" i="0">
                <a:solidFill>
                  <a:srgbClr val="13132B"/>
                </a:solidFill>
                <a:latin typeface="Calibri"/>
              </a:rPr>
              <a:t>Conversational memory bots</a:t>
            </a:r>
          </a:p>
        </p:txBody>
      </p:sp>
      <p:sp>
        <p:nvSpPr>
          <p:cNvPr id="59" name="Rectangle 58">
            <a:extLst>
              <a:ext uri="{FF2B5EF4-FFF2-40B4-BE49-F238E27FC236}">
                <a16:creationId xmlns:a16="http://schemas.microsoft.com/office/drawing/2014/main" id="{2D7331B6-30E2-C7C6-550E-311EF24C6499}"/>
              </a:ext>
            </a:extLst>
          </p:cNvPr>
          <p:cNvSpPr/>
          <p:nvPr/>
        </p:nvSpPr>
        <p:spPr>
          <a:xfrm>
            <a:off x="3886200" y="4407407"/>
            <a:ext cx="3977639" cy="749808"/>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1" name="TextBox 60">
            <a:extLst>
              <a:ext uri="{FF2B5EF4-FFF2-40B4-BE49-F238E27FC236}">
                <a16:creationId xmlns:a16="http://schemas.microsoft.com/office/drawing/2014/main" id="{C3CD1A99-786A-39F4-8A01-3E75EAED4553}"/>
              </a:ext>
            </a:extLst>
          </p:cNvPr>
          <p:cNvSpPr txBox="1"/>
          <p:nvPr/>
        </p:nvSpPr>
        <p:spPr>
          <a:xfrm>
            <a:off x="4023360" y="4566322"/>
            <a:ext cx="3703320" cy="431978"/>
          </a:xfrm>
          <a:prstGeom prst="rect">
            <a:avLst/>
          </a:prstGeom>
          <a:noFill/>
        </p:spPr>
        <p:txBody>
          <a:bodyPr wrap="square" lIns="0" tIns="0" rIns="0" bIns="0" anchor="ctr">
            <a:spAutoFit/>
          </a:bodyPr>
          <a:lstStyle/>
          <a:p>
            <a:pPr algn="l">
              <a:lnSpc>
                <a:spcPct val="102000"/>
              </a:lnSpc>
              <a:spcBef>
                <a:spcPts val="0"/>
              </a:spcBef>
              <a:spcAft>
                <a:spcPts val="600"/>
              </a:spcAft>
            </a:pPr>
            <a:r>
              <a:rPr sz="1400" b="0" i="0">
                <a:solidFill>
                  <a:srgbClr val="62627D"/>
                </a:solidFill>
                <a:latin typeface="Calibri"/>
              </a:rPr>
              <a:t>Append new context and regenerate the whole answer.</a:t>
            </a:r>
          </a:p>
        </p:txBody>
      </p:sp>
      <p:sp>
        <p:nvSpPr>
          <p:cNvPr id="63" name="Rectangle 62">
            <a:extLst>
              <a:ext uri="{FF2B5EF4-FFF2-40B4-BE49-F238E27FC236}">
                <a16:creationId xmlns:a16="http://schemas.microsoft.com/office/drawing/2014/main" id="{B298E639-7034-C13A-BB4A-CB6A6CB24A10}"/>
              </a:ext>
            </a:extLst>
          </p:cNvPr>
          <p:cNvSpPr/>
          <p:nvPr/>
        </p:nvSpPr>
        <p:spPr>
          <a:xfrm>
            <a:off x="7863840" y="4407407"/>
            <a:ext cx="4023360" cy="749808"/>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5" name="TextBox 64">
            <a:extLst>
              <a:ext uri="{FF2B5EF4-FFF2-40B4-BE49-F238E27FC236}">
                <a16:creationId xmlns:a16="http://schemas.microsoft.com/office/drawing/2014/main" id="{EF5DAEE5-EF5C-8D44-D943-07E59AA370AA}"/>
              </a:ext>
            </a:extLst>
          </p:cNvPr>
          <p:cNvSpPr txBox="1"/>
          <p:nvPr/>
        </p:nvSpPr>
        <p:spPr>
          <a:xfrm>
            <a:off x="8001000" y="4566322"/>
            <a:ext cx="3749040" cy="431978"/>
          </a:xfrm>
          <a:prstGeom prst="rect">
            <a:avLst/>
          </a:prstGeom>
          <a:noFill/>
        </p:spPr>
        <p:txBody>
          <a:bodyPr wrap="square" lIns="0" tIns="0" rIns="0" bIns="0" anchor="ctr">
            <a:spAutoFit/>
          </a:bodyPr>
          <a:lstStyle/>
          <a:p>
            <a:pPr algn="l">
              <a:lnSpc>
                <a:spcPct val="102000"/>
              </a:lnSpc>
              <a:spcBef>
                <a:spcPts val="0"/>
              </a:spcBef>
              <a:spcAft>
                <a:spcPts val="600"/>
              </a:spcAft>
            </a:pPr>
            <a:r>
              <a:rPr sz="1400" b="0" i="0">
                <a:solidFill>
                  <a:srgbClr val="B02A4A"/>
                </a:solidFill>
                <a:latin typeface="Calibri"/>
              </a:rPr>
              <a:t>Destructive refinement: restarts the search and loses prior citations.</a:t>
            </a:r>
          </a:p>
        </p:txBody>
      </p:sp>
      <p:sp>
        <p:nvSpPr>
          <p:cNvPr id="67" name="Rounded Rectangle 33">
            <a:extLst>
              <a:ext uri="{FF2B5EF4-FFF2-40B4-BE49-F238E27FC236}">
                <a16:creationId xmlns:a16="http://schemas.microsoft.com/office/drawing/2014/main" id="{A4B6BA1B-D557-4B05-C778-4A75513ECEBE}"/>
              </a:ext>
            </a:extLst>
          </p:cNvPr>
          <p:cNvSpPr/>
          <p:nvPr/>
        </p:nvSpPr>
        <p:spPr>
          <a:xfrm>
            <a:off x="685800" y="5340096"/>
            <a:ext cx="11201400" cy="914400"/>
          </a:xfrm>
          <a:prstGeom prst="roundRect">
            <a:avLst>
              <a:gd name="adj" fmla="val 6000"/>
            </a:avLst>
          </a:prstGeom>
          <a:solidFill>
            <a:srgbClr val="13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9" name="TextBox 68">
            <a:extLst>
              <a:ext uri="{FF2B5EF4-FFF2-40B4-BE49-F238E27FC236}">
                <a16:creationId xmlns:a16="http://schemas.microsoft.com/office/drawing/2014/main" id="{EBD537A1-4EED-4787-823D-DB915D706817}"/>
              </a:ext>
            </a:extLst>
          </p:cNvPr>
          <p:cNvSpPr txBox="1"/>
          <p:nvPr/>
        </p:nvSpPr>
        <p:spPr>
          <a:xfrm>
            <a:off x="914400" y="5560162"/>
            <a:ext cx="10607040" cy="510845"/>
          </a:xfrm>
          <a:prstGeom prst="rect">
            <a:avLst/>
          </a:prstGeom>
          <a:noFill/>
        </p:spPr>
        <p:txBody>
          <a:bodyPr wrap="square" lIns="0" tIns="0" rIns="0" bIns="0" anchor="ctr">
            <a:spAutoFit/>
          </a:bodyPr>
          <a:lstStyle/>
          <a:p>
            <a:pPr algn="l">
              <a:lnSpc>
                <a:spcPct val="106000"/>
              </a:lnSpc>
              <a:spcBef>
                <a:spcPts val="0"/>
              </a:spcBef>
              <a:spcAft>
                <a:spcPts val="600"/>
              </a:spcAft>
            </a:pPr>
            <a:r>
              <a:rPr sz="1600" i="0" dirty="0">
                <a:solidFill>
                  <a:srgbClr val="B9A6F0"/>
                </a:solidFill>
                <a:latin typeface="Calibri"/>
              </a:rPr>
              <a:t>THE GAP:  </a:t>
            </a:r>
            <a:r>
              <a:rPr sz="1600" i="0" dirty="0">
                <a:solidFill>
                  <a:srgbClr val="FFFFFF"/>
                </a:solidFill>
                <a:latin typeface="Calibri"/>
              </a:rPr>
              <a:t>No mainstream stack combines pre-utterance speculative retrieval + multi-intent fan-out + claim-level non-destructive patching at low latency on a fixed corpus. That intersection is exactly what Theme 04 scores — and what </a:t>
            </a:r>
            <a:r>
              <a:rPr lang="en-US" sz="1600" i="0" dirty="0">
                <a:solidFill>
                  <a:srgbClr val="FFFFFF"/>
                </a:solidFill>
                <a:latin typeface="Calibri"/>
              </a:rPr>
              <a:t>Hydra</a:t>
            </a:r>
            <a:r>
              <a:rPr sz="1600" i="0" dirty="0">
                <a:solidFill>
                  <a:srgbClr val="FFFFFF"/>
                </a:solidFill>
                <a:latin typeface="Calibri"/>
              </a:rPr>
              <a:t> is built for.</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a:t>
            </a:r>
          </a:p>
        </p:txBody>
      </p:sp>
      <p:sp>
        <p:nvSpPr>
          <p:cNvPr id="5" name="Rounded Rectangle 3">
            <a:extLst>
              <a:ext uri="{FF2B5EF4-FFF2-40B4-BE49-F238E27FC236}">
                <a16:creationId xmlns:a16="http://schemas.microsoft.com/office/drawing/2014/main" id="{EE4CD4DA-B00F-B333-29B0-B910E2236D3E}"/>
              </a:ext>
            </a:extLst>
          </p:cNvPr>
          <p:cNvSpPr/>
          <p:nvPr/>
        </p:nvSpPr>
        <p:spPr>
          <a:xfrm>
            <a:off x="685800" y="1371600"/>
            <a:ext cx="11018520" cy="914400"/>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a:extLst>
              <a:ext uri="{FF2B5EF4-FFF2-40B4-BE49-F238E27FC236}">
                <a16:creationId xmlns:a16="http://schemas.microsoft.com/office/drawing/2014/main" id="{9AFA431A-2934-1100-D6A2-D4E23ACE1FFC}"/>
              </a:ext>
            </a:extLst>
          </p:cNvPr>
          <p:cNvSpPr txBox="1"/>
          <p:nvPr/>
        </p:nvSpPr>
        <p:spPr>
          <a:xfrm>
            <a:off x="914400" y="1503436"/>
            <a:ext cx="10607040" cy="687304"/>
          </a:xfrm>
          <a:prstGeom prst="rect">
            <a:avLst/>
          </a:prstGeom>
          <a:noFill/>
        </p:spPr>
        <p:txBody>
          <a:bodyPr wrap="square" lIns="0" tIns="0" rIns="0" bIns="0" anchor="ctr">
            <a:spAutoFit/>
          </a:bodyPr>
          <a:lstStyle/>
          <a:p>
            <a:pPr algn="l">
              <a:lnSpc>
                <a:spcPct val="108000"/>
              </a:lnSpc>
              <a:spcBef>
                <a:spcPts val="0"/>
              </a:spcBef>
              <a:spcAft>
                <a:spcPts val="600"/>
              </a:spcAft>
            </a:pPr>
            <a:r>
              <a:rPr lang="en-IN" sz="1400" b="0" i="0" dirty="0">
                <a:solidFill>
                  <a:srgbClr val="62627D"/>
                </a:solidFill>
                <a:latin typeface="Calibri"/>
              </a:rPr>
              <a:t>Streaming live RAG</a:t>
            </a:r>
            <a:r>
              <a:rPr sz="1400" b="0" i="0" dirty="0">
                <a:solidFill>
                  <a:srgbClr val="62627D"/>
                </a:solidFill>
                <a:latin typeface="Calibri"/>
              </a:rPr>
              <a:t> reads a streaming transcript, decides </a:t>
            </a:r>
            <a:r>
              <a:rPr sz="1400" b="1" i="0" dirty="0">
                <a:solidFill>
                  <a:srgbClr val="6C28D9"/>
                </a:solidFill>
                <a:latin typeface="Calibri"/>
              </a:rPr>
              <a:t>in real time</a:t>
            </a:r>
            <a:r>
              <a:rPr sz="1400" b="0" i="0" dirty="0">
                <a:solidFill>
                  <a:srgbClr val="62627D"/>
                </a:solidFill>
                <a:latin typeface="Calibri"/>
              </a:rPr>
              <a:t> whether it has heard enough to search, fires retrieval </a:t>
            </a:r>
            <a:r>
              <a:rPr sz="1400" b="1" i="0" dirty="0">
                <a:solidFill>
                  <a:srgbClr val="6C28D9"/>
                </a:solidFill>
                <a:latin typeface="Calibri"/>
              </a:rPr>
              <a:t>before the user finishes speaking</a:t>
            </a:r>
            <a:r>
              <a:rPr sz="1400" b="0" i="0" dirty="0">
                <a:solidFill>
                  <a:srgbClr val="62627D"/>
                </a:solidFill>
                <a:latin typeface="Calibri"/>
              </a:rPr>
              <a:t>, fans one request into several independent searches, and — when a new detail arrives — </a:t>
            </a:r>
            <a:r>
              <a:rPr sz="1400" b="1" i="0" dirty="0">
                <a:solidFill>
                  <a:srgbClr val="6C28D9"/>
                </a:solidFill>
                <a:latin typeface="Calibri"/>
              </a:rPr>
              <a:t>patches only the affected claims</a:t>
            </a:r>
            <a:r>
              <a:rPr sz="1400" b="0" i="0" dirty="0">
                <a:solidFill>
                  <a:srgbClr val="62627D"/>
                </a:solidFill>
                <a:latin typeface="Calibri"/>
              </a:rPr>
              <a:t> instead of re-running the pipeline.</a:t>
            </a:r>
          </a:p>
        </p:txBody>
      </p:sp>
      <p:sp>
        <p:nvSpPr>
          <p:cNvPr id="9" name="TextBox 8">
            <a:extLst>
              <a:ext uri="{FF2B5EF4-FFF2-40B4-BE49-F238E27FC236}">
                <a16:creationId xmlns:a16="http://schemas.microsoft.com/office/drawing/2014/main" id="{90909899-5EE6-B3E6-3AA5-1417D54A4AFB}"/>
              </a:ext>
            </a:extLst>
          </p:cNvPr>
          <p:cNvSpPr txBox="1"/>
          <p:nvPr/>
        </p:nvSpPr>
        <p:spPr>
          <a:xfrm>
            <a:off x="685800" y="2514600"/>
            <a:ext cx="5486400" cy="276999"/>
          </a:xfrm>
          <a:prstGeom prst="rect">
            <a:avLst/>
          </a:prstGeom>
          <a:noFill/>
        </p:spPr>
        <p:txBody>
          <a:bodyPr wrap="square" lIns="0" tIns="0" rIns="0" bIns="0" anchor="t">
            <a:spAutoFit/>
          </a:bodyPr>
          <a:lstStyle/>
          <a:p>
            <a:pPr algn="l">
              <a:lnSpc>
                <a:spcPct val="100000"/>
              </a:lnSpc>
              <a:spcBef>
                <a:spcPts val="0"/>
              </a:spcBef>
              <a:spcAft>
                <a:spcPts val="600"/>
              </a:spcAft>
            </a:pPr>
            <a:r>
              <a:rPr b="1" i="0">
                <a:solidFill>
                  <a:srgbClr val="6C28D9"/>
                </a:solidFill>
                <a:latin typeface="Calibri"/>
              </a:rPr>
              <a:t>The controller's four decisions (M1)</a:t>
            </a:r>
          </a:p>
        </p:txBody>
      </p:sp>
      <p:sp>
        <p:nvSpPr>
          <p:cNvPr id="11" name="Rounded Rectangle 6">
            <a:extLst>
              <a:ext uri="{FF2B5EF4-FFF2-40B4-BE49-F238E27FC236}">
                <a16:creationId xmlns:a16="http://schemas.microsoft.com/office/drawing/2014/main" id="{ACCE8060-CCA3-D4C8-E483-30CDD1136305}"/>
              </a:ext>
            </a:extLst>
          </p:cNvPr>
          <p:cNvSpPr/>
          <p:nvPr/>
        </p:nvSpPr>
        <p:spPr>
          <a:xfrm>
            <a:off x="685800" y="2926080"/>
            <a:ext cx="1600200" cy="621792"/>
          </a:xfrm>
          <a:prstGeom prst="roundRect">
            <a:avLst>
              <a:gd name="adj" fmla="val 18000"/>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sz="2400"/>
          </a:p>
        </p:txBody>
      </p:sp>
      <p:sp>
        <p:nvSpPr>
          <p:cNvPr id="13" name="TextBox 12">
            <a:extLst>
              <a:ext uri="{FF2B5EF4-FFF2-40B4-BE49-F238E27FC236}">
                <a16:creationId xmlns:a16="http://schemas.microsoft.com/office/drawing/2014/main" id="{C1F9F477-9611-472B-42E7-6ACB8D6D09D0}"/>
              </a:ext>
            </a:extLst>
          </p:cNvPr>
          <p:cNvSpPr txBox="1"/>
          <p:nvPr/>
        </p:nvSpPr>
        <p:spPr>
          <a:xfrm>
            <a:off x="685800" y="3113866"/>
            <a:ext cx="1600200" cy="246221"/>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a:solidFill>
                  <a:srgbClr val="FFFFFF"/>
                </a:solidFill>
                <a:latin typeface="Calibri"/>
              </a:rPr>
              <a:t>WAIT</a:t>
            </a:r>
          </a:p>
        </p:txBody>
      </p:sp>
      <p:sp>
        <p:nvSpPr>
          <p:cNvPr id="15" name="TextBox 14">
            <a:extLst>
              <a:ext uri="{FF2B5EF4-FFF2-40B4-BE49-F238E27FC236}">
                <a16:creationId xmlns:a16="http://schemas.microsoft.com/office/drawing/2014/main" id="{A77ED260-B9C4-672F-3D19-47293395CEFC}"/>
              </a:ext>
            </a:extLst>
          </p:cNvPr>
          <p:cNvSpPr txBox="1"/>
          <p:nvPr/>
        </p:nvSpPr>
        <p:spPr>
          <a:xfrm>
            <a:off x="2423160" y="3129254"/>
            <a:ext cx="3703320"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dirty="0">
                <a:solidFill>
                  <a:srgbClr val="62627D"/>
                </a:solidFill>
                <a:latin typeface="Calibri"/>
              </a:rPr>
              <a:t>utterance still forming — buffer more</a:t>
            </a:r>
          </a:p>
        </p:txBody>
      </p:sp>
      <p:sp>
        <p:nvSpPr>
          <p:cNvPr id="17" name="Rounded Rectangle 9">
            <a:extLst>
              <a:ext uri="{FF2B5EF4-FFF2-40B4-BE49-F238E27FC236}">
                <a16:creationId xmlns:a16="http://schemas.microsoft.com/office/drawing/2014/main" id="{ECA39027-A8B1-9BF4-5EE5-5F398E20AA58}"/>
              </a:ext>
            </a:extLst>
          </p:cNvPr>
          <p:cNvSpPr/>
          <p:nvPr/>
        </p:nvSpPr>
        <p:spPr>
          <a:xfrm>
            <a:off x="685800" y="3685032"/>
            <a:ext cx="1600200" cy="621792"/>
          </a:xfrm>
          <a:prstGeom prst="roundRect">
            <a:avLst>
              <a:gd name="adj" fmla="val 18000"/>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sz="2400"/>
          </a:p>
        </p:txBody>
      </p:sp>
      <p:sp>
        <p:nvSpPr>
          <p:cNvPr id="19" name="TextBox 18">
            <a:extLst>
              <a:ext uri="{FF2B5EF4-FFF2-40B4-BE49-F238E27FC236}">
                <a16:creationId xmlns:a16="http://schemas.microsoft.com/office/drawing/2014/main" id="{4E028EEC-BAC2-A4E7-02E0-3E21ACBC64CC}"/>
              </a:ext>
            </a:extLst>
          </p:cNvPr>
          <p:cNvSpPr txBox="1"/>
          <p:nvPr/>
        </p:nvSpPr>
        <p:spPr>
          <a:xfrm>
            <a:off x="685800" y="3872818"/>
            <a:ext cx="1600200" cy="246221"/>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dirty="0">
                <a:solidFill>
                  <a:srgbClr val="FFFFFF"/>
                </a:solidFill>
                <a:latin typeface="Calibri"/>
              </a:rPr>
              <a:t>RETRIEVE</a:t>
            </a:r>
          </a:p>
        </p:txBody>
      </p:sp>
      <p:sp>
        <p:nvSpPr>
          <p:cNvPr id="21" name="TextBox 20">
            <a:extLst>
              <a:ext uri="{FF2B5EF4-FFF2-40B4-BE49-F238E27FC236}">
                <a16:creationId xmlns:a16="http://schemas.microsoft.com/office/drawing/2014/main" id="{3CE90881-EC59-1794-D5F4-369759BBCC97}"/>
              </a:ext>
            </a:extLst>
          </p:cNvPr>
          <p:cNvSpPr txBox="1"/>
          <p:nvPr/>
        </p:nvSpPr>
        <p:spPr>
          <a:xfrm>
            <a:off x="2423160" y="3780485"/>
            <a:ext cx="3703320" cy="430887"/>
          </a:xfrm>
          <a:prstGeom prst="rect">
            <a:avLst/>
          </a:prstGeom>
          <a:noFill/>
        </p:spPr>
        <p:txBody>
          <a:bodyPr wrap="square" lIns="0" tIns="0" rIns="0" bIns="0" anchor="ctr">
            <a:spAutoFit/>
          </a:bodyPr>
          <a:lstStyle/>
          <a:p>
            <a:pPr algn="l">
              <a:lnSpc>
                <a:spcPct val="100000"/>
              </a:lnSpc>
              <a:spcBef>
                <a:spcPts val="0"/>
              </a:spcBef>
              <a:spcAft>
                <a:spcPts val="600"/>
              </a:spcAft>
            </a:pPr>
            <a:r>
              <a:rPr sz="1400" b="0" i="0" dirty="0">
                <a:solidFill>
                  <a:srgbClr val="62627D"/>
                </a:solidFill>
                <a:latin typeface="Calibri"/>
              </a:rPr>
              <a:t>confident &amp; eligible — fire search now (speculatively)</a:t>
            </a:r>
          </a:p>
        </p:txBody>
      </p:sp>
      <p:sp>
        <p:nvSpPr>
          <p:cNvPr id="23" name="Rounded Rectangle 12">
            <a:extLst>
              <a:ext uri="{FF2B5EF4-FFF2-40B4-BE49-F238E27FC236}">
                <a16:creationId xmlns:a16="http://schemas.microsoft.com/office/drawing/2014/main" id="{6EAC867D-3269-0391-8F07-33099CCAE5DB}"/>
              </a:ext>
            </a:extLst>
          </p:cNvPr>
          <p:cNvSpPr/>
          <p:nvPr/>
        </p:nvSpPr>
        <p:spPr>
          <a:xfrm>
            <a:off x="685800" y="4443984"/>
            <a:ext cx="1600200" cy="621792"/>
          </a:xfrm>
          <a:prstGeom prst="roundRect">
            <a:avLst>
              <a:gd name="adj" fmla="val 18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sz="2400"/>
          </a:p>
        </p:txBody>
      </p:sp>
      <p:sp>
        <p:nvSpPr>
          <p:cNvPr id="25" name="TextBox 24">
            <a:extLst>
              <a:ext uri="{FF2B5EF4-FFF2-40B4-BE49-F238E27FC236}">
                <a16:creationId xmlns:a16="http://schemas.microsoft.com/office/drawing/2014/main" id="{A4BF98A0-2B7A-9BEB-2C30-68AC42727175}"/>
              </a:ext>
            </a:extLst>
          </p:cNvPr>
          <p:cNvSpPr txBox="1"/>
          <p:nvPr/>
        </p:nvSpPr>
        <p:spPr>
          <a:xfrm>
            <a:off x="685800" y="4631770"/>
            <a:ext cx="1600200" cy="246221"/>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a:solidFill>
                  <a:srgbClr val="FFFFFF"/>
                </a:solidFill>
                <a:latin typeface="Calibri"/>
              </a:rPr>
              <a:t>SUPPRESS</a:t>
            </a:r>
          </a:p>
        </p:txBody>
      </p:sp>
      <p:sp>
        <p:nvSpPr>
          <p:cNvPr id="27" name="TextBox 26">
            <a:extLst>
              <a:ext uri="{FF2B5EF4-FFF2-40B4-BE49-F238E27FC236}">
                <a16:creationId xmlns:a16="http://schemas.microsoft.com/office/drawing/2014/main" id="{E83CF21E-3BF4-1127-2651-429BD9C58EF5}"/>
              </a:ext>
            </a:extLst>
          </p:cNvPr>
          <p:cNvSpPr txBox="1"/>
          <p:nvPr/>
        </p:nvSpPr>
        <p:spPr>
          <a:xfrm>
            <a:off x="2423160" y="4647158"/>
            <a:ext cx="3703320"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chit-chat / no-retrieval — reuse session context</a:t>
            </a:r>
          </a:p>
        </p:txBody>
      </p:sp>
      <p:sp>
        <p:nvSpPr>
          <p:cNvPr id="29" name="Rounded Rectangle 15">
            <a:extLst>
              <a:ext uri="{FF2B5EF4-FFF2-40B4-BE49-F238E27FC236}">
                <a16:creationId xmlns:a16="http://schemas.microsoft.com/office/drawing/2014/main" id="{8D86E0E1-B918-A172-F128-9FF9FEB561E9}"/>
              </a:ext>
            </a:extLst>
          </p:cNvPr>
          <p:cNvSpPr/>
          <p:nvPr/>
        </p:nvSpPr>
        <p:spPr>
          <a:xfrm>
            <a:off x="685800" y="5202936"/>
            <a:ext cx="1600200" cy="621792"/>
          </a:xfrm>
          <a:prstGeom prst="roundRect">
            <a:avLst>
              <a:gd name="adj" fmla="val 18000"/>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a:p>
        </p:txBody>
      </p:sp>
      <p:sp>
        <p:nvSpPr>
          <p:cNvPr id="31" name="TextBox 30">
            <a:extLst>
              <a:ext uri="{FF2B5EF4-FFF2-40B4-BE49-F238E27FC236}">
                <a16:creationId xmlns:a16="http://schemas.microsoft.com/office/drawing/2014/main" id="{89D34030-7C7D-0C88-838C-180026757D41}"/>
              </a:ext>
            </a:extLst>
          </p:cNvPr>
          <p:cNvSpPr txBox="1"/>
          <p:nvPr/>
        </p:nvSpPr>
        <p:spPr>
          <a:xfrm>
            <a:off x="685800" y="5390722"/>
            <a:ext cx="1600200" cy="246221"/>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a:solidFill>
                  <a:srgbClr val="FFFFFF"/>
                </a:solidFill>
                <a:latin typeface="Calibri"/>
              </a:rPr>
              <a:t>REFINE</a:t>
            </a:r>
          </a:p>
        </p:txBody>
      </p:sp>
      <p:sp>
        <p:nvSpPr>
          <p:cNvPr id="33" name="TextBox 32">
            <a:extLst>
              <a:ext uri="{FF2B5EF4-FFF2-40B4-BE49-F238E27FC236}">
                <a16:creationId xmlns:a16="http://schemas.microsoft.com/office/drawing/2014/main" id="{C143E20D-E9FE-3AF0-556B-78F2D12BDD32}"/>
              </a:ext>
            </a:extLst>
          </p:cNvPr>
          <p:cNvSpPr txBox="1"/>
          <p:nvPr/>
        </p:nvSpPr>
        <p:spPr>
          <a:xfrm>
            <a:off x="2423160" y="5298389"/>
            <a:ext cx="3703320" cy="430887"/>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new detail on an answered turn — patch, don't restart</a:t>
            </a:r>
          </a:p>
        </p:txBody>
      </p:sp>
      <p:sp>
        <p:nvSpPr>
          <p:cNvPr id="35" name="TextBox 34">
            <a:extLst>
              <a:ext uri="{FF2B5EF4-FFF2-40B4-BE49-F238E27FC236}">
                <a16:creationId xmlns:a16="http://schemas.microsoft.com/office/drawing/2014/main" id="{70EF541D-8432-AF1A-18E2-AD120F289228}"/>
              </a:ext>
            </a:extLst>
          </p:cNvPr>
          <p:cNvSpPr txBox="1"/>
          <p:nvPr/>
        </p:nvSpPr>
        <p:spPr>
          <a:xfrm>
            <a:off x="6355080" y="2514600"/>
            <a:ext cx="5486400" cy="276999"/>
          </a:xfrm>
          <a:prstGeom prst="rect">
            <a:avLst/>
          </a:prstGeom>
          <a:noFill/>
        </p:spPr>
        <p:txBody>
          <a:bodyPr wrap="square" lIns="0" tIns="0" rIns="0" bIns="0" anchor="t">
            <a:spAutoFit/>
          </a:bodyPr>
          <a:lstStyle/>
          <a:p>
            <a:pPr algn="l">
              <a:lnSpc>
                <a:spcPct val="100000"/>
              </a:lnSpc>
              <a:spcBef>
                <a:spcPts val="0"/>
              </a:spcBef>
              <a:spcAft>
                <a:spcPts val="600"/>
              </a:spcAft>
            </a:pPr>
            <a:r>
              <a:rPr b="1" i="0">
                <a:solidFill>
                  <a:srgbClr val="6C28D9"/>
                </a:solidFill>
                <a:latin typeface="Calibri"/>
              </a:rPr>
              <a:t>Design principles</a:t>
            </a:r>
          </a:p>
        </p:txBody>
      </p:sp>
      <p:sp>
        <p:nvSpPr>
          <p:cNvPr id="37" name="TextBox 36">
            <a:extLst>
              <a:ext uri="{FF2B5EF4-FFF2-40B4-BE49-F238E27FC236}">
                <a16:creationId xmlns:a16="http://schemas.microsoft.com/office/drawing/2014/main" id="{97ACCF2F-9001-C4C0-2F5F-B664AE2F6581}"/>
              </a:ext>
            </a:extLst>
          </p:cNvPr>
          <p:cNvSpPr txBox="1"/>
          <p:nvPr/>
        </p:nvSpPr>
        <p:spPr>
          <a:xfrm>
            <a:off x="6355080" y="2944368"/>
            <a:ext cx="5394960" cy="3015634"/>
          </a:xfrm>
          <a:prstGeom prst="rect">
            <a:avLst/>
          </a:prstGeom>
          <a:noFill/>
        </p:spPr>
        <p:txBody>
          <a:bodyPr wrap="square" lIns="0" tIns="0" rIns="0" bIns="0">
            <a:spAutoFit/>
          </a:bodyPr>
          <a:lstStyle/>
          <a:p>
            <a:pPr>
              <a:lnSpc>
                <a:spcPct val="106000"/>
              </a:lnSpc>
              <a:spcBef>
                <a:spcPts val="0"/>
              </a:spcBef>
              <a:spcAft>
                <a:spcPts val="800"/>
              </a:spcAft>
            </a:pPr>
            <a:r>
              <a:rPr sz="1400" b="1" i="0" dirty="0">
                <a:solidFill>
                  <a:srgbClr val="6C28D9"/>
                </a:solidFill>
                <a:latin typeface="Calibri"/>
              </a:rPr>
              <a:t>•  </a:t>
            </a:r>
            <a:r>
              <a:rPr sz="1400" b="1" i="0" dirty="0">
                <a:solidFill>
                  <a:srgbClr val="13132B"/>
                </a:solidFill>
                <a:latin typeface="Calibri"/>
              </a:rPr>
              <a:t>A cheap rule gate first, </a:t>
            </a:r>
            <a:r>
              <a:rPr sz="1400" b="0" i="0" dirty="0">
                <a:solidFill>
                  <a:srgbClr val="62627D"/>
                </a:solidFill>
                <a:latin typeface="Calibri"/>
              </a:rPr>
              <a:t>then a fast LLM confirm — the controller stays under a ~50 </a:t>
            </a:r>
            <a:r>
              <a:rPr sz="1400" b="0" i="0" dirty="0" err="1">
                <a:solidFill>
                  <a:srgbClr val="62627D"/>
                </a:solidFill>
                <a:latin typeface="Calibri"/>
              </a:rPr>
              <a:t>ms</a:t>
            </a:r>
            <a:r>
              <a:rPr sz="1400" b="0" i="0" dirty="0">
                <a:solidFill>
                  <a:srgbClr val="62627D"/>
                </a:solidFill>
                <a:latin typeface="Calibri"/>
              </a:rPr>
              <a:t> budget.</a:t>
            </a:r>
          </a:p>
          <a:p>
            <a:pPr>
              <a:lnSpc>
                <a:spcPct val="106000"/>
              </a:lnSpc>
              <a:spcBef>
                <a:spcPts val="0"/>
              </a:spcBef>
              <a:spcAft>
                <a:spcPts val="800"/>
              </a:spcAft>
            </a:pPr>
            <a:r>
              <a:rPr sz="1400" b="1" i="0" dirty="0">
                <a:solidFill>
                  <a:srgbClr val="6C28D9"/>
                </a:solidFill>
                <a:latin typeface="Calibri"/>
              </a:rPr>
              <a:t>•  </a:t>
            </a:r>
            <a:r>
              <a:rPr sz="1400" b="1" i="0" dirty="0">
                <a:solidFill>
                  <a:srgbClr val="13132B"/>
                </a:solidFill>
                <a:latin typeface="Calibri"/>
              </a:rPr>
              <a:t>Speculative but bounded: </a:t>
            </a:r>
            <a:r>
              <a:rPr sz="1400" b="0" i="0" dirty="0">
                <a:solidFill>
                  <a:srgbClr val="62627D"/>
                </a:solidFill>
                <a:latin typeface="Calibri"/>
              </a:rPr>
              <a:t>max 3 speculative retrievals per utterance to prevent thrashing.</a:t>
            </a:r>
          </a:p>
          <a:p>
            <a:pPr>
              <a:lnSpc>
                <a:spcPct val="106000"/>
              </a:lnSpc>
              <a:spcBef>
                <a:spcPts val="0"/>
              </a:spcBef>
              <a:spcAft>
                <a:spcPts val="800"/>
              </a:spcAft>
            </a:pPr>
            <a:r>
              <a:rPr sz="1400" b="1" i="0" dirty="0">
                <a:solidFill>
                  <a:srgbClr val="6C28D9"/>
                </a:solidFill>
                <a:latin typeface="Calibri"/>
              </a:rPr>
              <a:t>•  </a:t>
            </a:r>
            <a:r>
              <a:rPr sz="1400" b="1" i="0" dirty="0">
                <a:solidFill>
                  <a:srgbClr val="13132B"/>
                </a:solidFill>
                <a:latin typeface="Calibri"/>
              </a:rPr>
              <a:t>Anti-fragmentation guard: </a:t>
            </a:r>
            <a:r>
              <a:rPr sz="1400" b="0" i="0" dirty="0">
                <a:solidFill>
                  <a:srgbClr val="62627D"/>
                </a:solidFill>
                <a:latin typeface="Calibri"/>
              </a:rPr>
              <a:t>similarity-merge sub-queries, hard cap of 4.</a:t>
            </a:r>
          </a:p>
          <a:p>
            <a:pPr>
              <a:lnSpc>
                <a:spcPct val="106000"/>
              </a:lnSpc>
              <a:spcBef>
                <a:spcPts val="0"/>
              </a:spcBef>
              <a:spcAft>
                <a:spcPts val="800"/>
              </a:spcAft>
            </a:pPr>
            <a:r>
              <a:rPr sz="1400" b="1" i="0" dirty="0">
                <a:solidFill>
                  <a:srgbClr val="6C28D9"/>
                </a:solidFill>
                <a:latin typeface="Calibri"/>
              </a:rPr>
              <a:t>•  </a:t>
            </a:r>
            <a:r>
              <a:rPr sz="1400" b="1" i="0" dirty="0">
                <a:solidFill>
                  <a:srgbClr val="13132B"/>
                </a:solidFill>
                <a:latin typeface="Calibri"/>
              </a:rPr>
              <a:t>Claim graph, not paragraphs: </a:t>
            </a:r>
            <a:r>
              <a:rPr sz="1400" b="0" i="0" dirty="0">
                <a:solidFill>
                  <a:srgbClr val="62627D"/>
                </a:solidFill>
                <a:latin typeface="Calibri"/>
              </a:rPr>
              <a:t>each fact is a tagged claim (kept/amended/added/retracted).</a:t>
            </a:r>
          </a:p>
          <a:p>
            <a:pPr>
              <a:lnSpc>
                <a:spcPct val="106000"/>
              </a:lnSpc>
              <a:spcBef>
                <a:spcPts val="0"/>
              </a:spcBef>
              <a:spcAft>
                <a:spcPts val="800"/>
              </a:spcAft>
            </a:pPr>
            <a:r>
              <a:rPr sz="1400" b="1" i="0" dirty="0">
                <a:solidFill>
                  <a:srgbClr val="6C28D9"/>
                </a:solidFill>
                <a:latin typeface="Calibri"/>
              </a:rPr>
              <a:t>•  </a:t>
            </a:r>
            <a:r>
              <a:rPr sz="1400" b="1" i="0" dirty="0">
                <a:solidFill>
                  <a:srgbClr val="13132B"/>
                </a:solidFill>
                <a:latin typeface="Calibri"/>
              </a:rPr>
              <a:t>Grounded by construction: </a:t>
            </a:r>
            <a:r>
              <a:rPr sz="1400" b="0" i="0" dirty="0">
                <a:solidFill>
                  <a:srgbClr val="62627D"/>
                </a:solidFill>
                <a:latin typeface="Calibri"/>
              </a:rPr>
              <a:t>deterministic citation whitelist → zero fabricated IDs.</a:t>
            </a:r>
          </a:p>
          <a:p>
            <a:pPr>
              <a:lnSpc>
                <a:spcPct val="106000"/>
              </a:lnSpc>
              <a:spcBef>
                <a:spcPts val="0"/>
              </a:spcBef>
              <a:spcAft>
                <a:spcPts val="800"/>
              </a:spcAft>
            </a:pPr>
            <a:r>
              <a:rPr sz="1400" b="1" i="0" dirty="0">
                <a:solidFill>
                  <a:srgbClr val="6C28D9"/>
                </a:solidFill>
                <a:latin typeface="Calibri"/>
              </a:rPr>
              <a:t>•  </a:t>
            </a:r>
            <a:r>
              <a:rPr sz="1400" b="1" i="0" dirty="0">
                <a:solidFill>
                  <a:srgbClr val="13132B"/>
                </a:solidFill>
                <a:latin typeface="Calibri"/>
              </a:rPr>
              <a:t>Architectural parsimony: </a:t>
            </a:r>
            <a:r>
              <a:rPr sz="1400" b="0" i="0" dirty="0">
                <a:solidFill>
                  <a:srgbClr val="62627D"/>
                </a:solidFill>
                <a:latin typeface="Calibri"/>
              </a:rPr>
              <a:t>one async process, six modules, no agent framework.</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A77084-B2C3-5E83-ECC2-1DAA1395C846}"/>
              </a:ext>
            </a:extLst>
          </p:cNvPr>
          <p:cNvSpPr txBox="1"/>
          <p:nvPr/>
        </p:nvSpPr>
        <p:spPr>
          <a:xfrm>
            <a:off x="685800" y="456975"/>
            <a:ext cx="10972800" cy="677108"/>
          </a:xfrm>
          <a:prstGeom prst="rect">
            <a:avLst/>
          </a:prstGeom>
          <a:noFill/>
        </p:spPr>
        <p:txBody>
          <a:bodyPr wrap="square" lIns="0" tIns="0" rIns="0" bIns="0" anchor="ctr">
            <a:spAutoFit/>
          </a:bodyPr>
          <a:lstStyle/>
          <a:p>
            <a:pPr algn="l">
              <a:lnSpc>
                <a:spcPct val="100000"/>
              </a:lnSpc>
              <a:spcBef>
                <a:spcPts val="0"/>
              </a:spcBef>
              <a:spcAft>
                <a:spcPts val="600"/>
              </a:spcAft>
            </a:pPr>
            <a:r>
              <a:rPr sz="4400" b="1" i="0">
                <a:solidFill>
                  <a:srgbClr val="6F4EA6"/>
                </a:solidFill>
                <a:latin typeface="Calibri"/>
              </a:rPr>
              <a:t>Architecture Diagram</a:t>
            </a:r>
          </a:p>
        </p:txBody>
      </p:sp>
      <p:sp>
        <p:nvSpPr>
          <p:cNvPr id="5" name="Rectangle 4">
            <a:extLst>
              <a:ext uri="{FF2B5EF4-FFF2-40B4-BE49-F238E27FC236}">
                <a16:creationId xmlns:a16="http://schemas.microsoft.com/office/drawing/2014/main" id="{B7D246F6-2272-351A-1A23-A5A9E2174904}"/>
              </a:ext>
            </a:extLst>
          </p:cNvPr>
          <p:cNvSpPr/>
          <p:nvPr/>
        </p:nvSpPr>
        <p:spPr>
          <a:xfrm>
            <a:off x="731520" y="1115568"/>
            <a:ext cx="777240" cy="50292"/>
          </a:xfrm>
          <a:prstGeom prst="rect">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Rounded Rectangle 3">
            <a:extLst>
              <a:ext uri="{FF2B5EF4-FFF2-40B4-BE49-F238E27FC236}">
                <a16:creationId xmlns:a16="http://schemas.microsoft.com/office/drawing/2014/main" id="{C03F0843-DF36-F23C-3D26-0A95B084B998}"/>
              </a:ext>
            </a:extLst>
          </p:cNvPr>
          <p:cNvSpPr/>
          <p:nvPr/>
        </p:nvSpPr>
        <p:spPr>
          <a:xfrm>
            <a:off x="685800" y="1600200"/>
            <a:ext cx="1691640" cy="914400"/>
          </a:xfrm>
          <a:prstGeom prst="roundRect">
            <a:avLst>
              <a:gd name="adj" fmla="val 14000"/>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lnSpc>
                <a:spcPct val="100000"/>
              </a:lnSpc>
            </a:pPr>
            <a:r>
              <a:rPr sz="1600" b="1" i="0" dirty="0">
                <a:solidFill>
                  <a:srgbClr val="FFFFFF"/>
                </a:solidFill>
                <a:latin typeface="Calibri"/>
              </a:rPr>
              <a:t>Client</a:t>
            </a:r>
          </a:p>
          <a:p>
            <a:pPr algn="ctr">
              <a:lnSpc>
                <a:spcPct val="100000"/>
              </a:lnSpc>
              <a:spcBef>
                <a:spcPts val="100"/>
              </a:spcBef>
            </a:pPr>
            <a:r>
              <a:rPr sz="1050" b="0" i="0" dirty="0">
                <a:solidFill>
                  <a:srgbClr val="FFFFFF"/>
                </a:solidFill>
                <a:latin typeface="Calibri"/>
              </a:rPr>
              <a:t>transcript sim / mic · WebSocket</a:t>
            </a:r>
          </a:p>
        </p:txBody>
      </p:sp>
      <p:sp>
        <p:nvSpPr>
          <p:cNvPr id="7" name="Rounded Rectangle 4">
            <a:extLst>
              <a:ext uri="{FF2B5EF4-FFF2-40B4-BE49-F238E27FC236}">
                <a16:creationId xmlns:a16="http://schemas.microsoft.com/office/drawing/2014/main" id="{39C74BA3-007E-3A1C-2F0E-F63A75EB322A}"/>
              </a:ext>
            </a:extLst>
          </p:cNvPr>
          <p:cNvSpPr/>
          <p:nvPr/>
        </p:nvSpPr>
        <p:spPr>
          <a:xfrm>
            <a:off x="2697480" y="1600200"/>
            <a:ext cx="1417320" cy="914400"/>
          </a:xfrm>
          <a:prstGeom prst="roundRect">
            <a:avLst>
              <a:gd name="adj" fmla="val 14000"/>
            </a:avLst>
          </a:prstGeom>
          <a:solidFill>
            <a:srgbClr val="3A3A5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lnSpc>
                <a:spcPct val="100000"/>
              </a:lnSpc>
            </a:pPr>
            <a:r>
              <a:rPr sz="1600" b="1" i="0">
                <a:solidFill>
                  <a:srgbClr val="FFFFFF"/>
                </a:solidFill>
                <a:latin typeface="Calibri"/>
              </a:rPr>
              <a:t>StreamBuffer</a:t>
            </a:r>
          </a:p>
          <a:p>
            <a:pPr algn="ctr">
              <a:lnSpc>
                <a:spcPct val="100000"/>
              </a:lnSpc>
              <a:spcBef>
                <a:spcPts val="100"/>
              </a:spcBef>
            </a:pPr>
            <a:r>
              <a:rPr sz="1050" b="0" i="0">
                <a:solidFill>
                  <a:srgbClr val="FFFFFF"/>
                </a:solidFill>
                <a:latin typeface="Calibri"/>
              </a:rPr>
              <a:t>chunks every ~200–400 ms</a:t>
            </a:r>
          </a:p>
        </p:txBody>
      </p:sp>
      <p:sp>
        <p:nvSpPr>
          <p:cNvPr id="8" name="Rounded Rectangle 5">
            <a:extLst>
              <a:ext uri="{FF2B5EF4-FFF2-40B4-BE49-F238E27FC236}">
                <a16:creationId xmlns:a16="http://schemas.microsoft.com/office/drawing/2014/main" id="{1C83C488-838C-3AE2-640A-BC1031D2A641}"/>
              </a:ext>
            </a:extLst>
          </p:cNvPr>
          <p:cNvSpPr/>
          <p:nvPr/>
        </p:nvSpPr>
        <p:spPr>
          <a:xfrm>
            <a:off x="4434840" y="1600200"/>
            <a:ext cx="1874519" cy="914400"/>
          </a:xfrm>
          <a:prstGeom prst="roundRect">
            <a:avLst>
              <a:gd name="adj" fmla="val 14000"/>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lnSpc>
                <a:spcPct val="100000"/>
              </a:lnSpc>
            </a:pPr>
            <a:r>
              <a:rPr sz="1600" b="1" i="0">
                <a:solidFill>
                  <a:srgbClr val="FFFFFF"/>
                </a:solidFill>
                <a:latin typeface="Calibri"/>
              </a:rPr>
              <a:t>M1  Retrieval Controller</a:t>
            </a:r>
          </a:p>
          <a:p>
            <a:pPr algn="ctr">
              <a:lnSpc>
                <a:spcPct val="100000"/>
              </a:lnSpc>
              <a:spcBef>
                <a:spcPts val="100"/>
              </a:spcBef>
            </a:pPr>
            <a:r>
              <a:rPr sz="1050" b="0" i="0">
                <a:solidFill>
                  <a:srgbClr val="FFFFFF"/>
                </a:solidFill>
                <a:latin typeface="Calibri"/>
              </a:rPr>
              <a:t>Wait · Retrieve · Suppress · Refine</a:t>
            </a:r>
          </a:p>
        </p:txBody>
      </p:sp>
      <p:sp>
        <p:nvSpPr>
          <p:cNvPr id="9" name="Rounded Rectangle 6">
            <a:extLst>
              <a:ext uri="{FF2B5EF4-FFF2-40B4-BE49-F238E27FC236}">
                <a16:creationId xmlns:a16="http://schemas.microsoft.com/office/drawing/2014/main" id="{9D642E69-46E6-2DFF-5524-5CEE66E4CE53}"/>
              </a:ext>
            </a:extLst>
          </p:cNvPr>
          <p:cNvSpPr/>
          <p:nvPr/>
        </p:nvSpPr>
        <p:spPr>
          <a:xfrm>
            <a:off x="6629400" y="1600200"/>
            <a:ext cx="1874519" cy="914400"/>
          </a:xfrm>
          <a:prstGeom prst="roundRect">
            <a:avLst>
              <a:gd name="adj" fmla="val 14000"/>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lnSpc>
                <a:spcPct val="100000"/>
              </a:lnSpc>
            </a:pPr>
            <a:r>
              <a:rPr sz="1600" b="1" i="0">
                <a:solidFill>
                  <a:srgbClr val="FFFFFF"/>
                </a:solidFill>
                <a:latin typeface="Calibri"/>
              </a:rPr>
              <a:t>M2  Multi-Intent Decomposer</a:t>
            </a:r>
          </a:p>
          <a:p>
            <a:pPr algn="ctr">
              <a:lnSpc>
                <a:spcPct val="100000"/>
              </a:lnSpc>
              <a:spcBef>
                <a:spcPts val="100"/>
              </a:spcBef>
            </a:pPr>
            <a:r>
              <a:rPr sz="1050" b="0" i="0">
                <a:solidFill>
                  <a:srgbClr val="FFFFFF"/>
                </a:solidFill>
                <a:latin typeface="Calibri"/>
              </a:rPr>
              <a:t>1–4 orthogonal sub-queries</a:t>
            </a:r>
          </a:p>
        </p:txBody>
      </p:sp>
      <p:sp>
        <p:nvSpPr>
          <p:cNvPr id="10" name="Rounded Rectangle 7">
            <a:extLst>
              <a:ext uri="{FF2B5EF4-FFF2-40B4-BE49-F238E27FC236}">
                <a16:creationId xmlns:a16="http://schemas.microsoft.com/office/drawing/2014/main" id="{196834E7-8E52-99C7-358B-B5942A79EDF1}"/>
              </a:ext>
            </a:extLst>
          </p:cNvPr>
          <p:cNvSpPr/>
          <p:nvPr/>
        </p:nvSpPr>
        <p:spPr>
          <a:xfrm>
            <a:off x="8823960" y="1600200"/>
            <a:ext cx="2880360" cy="914400"/>
          </a:xfrm>
          <a:prstGeom prst="roundRect">
            <a:avLst>
              <a:gd name="adj" fmla="val 14000"/>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lnSpc>
                <a:spcPct val="100000"/>
              </a:lnSpc>
            </a:pPr>
            <a:r>
              <a:rPr sz="1600" b="1" i="0">
                <a:solidFill>
                  <a:srgbClr val="FFFFFF"/>
                </a:solidFill>
                <a:latin typeface="Calibri"/>
              </a:rPr>
              <a:t>M3  Retrieval &amp; Evidence Fusion</a:t>
            </a:r>
          </a:p>
          <a:p>
            <a:pPr algn="ctr">
              <a:lnSpc>
                <a:spcPct val="100000"/>
              </a:lnSpc>
              <a:spcBef>
                <a:spcPts val="100"/>
              </a:spcBef>
            </a:pPr>
            <a:r>
              <a:rPr sz="1050" b="0" i="0">
                <a:solidFill>
                  <a:srgbClr val="FFFFFF"/>
                </a:solidFill>
                <a:latin typeface="Calibri"/>
              </a:rPr>
              <a:t>dense + sparse → RRF → rerank</a:t>
            </a:r>
          </a:p>
        </p:txBody>
      </p:sp>
      <p:cxnSp>
        <p:nvCxnSpPr>
          <p:cNvPr id="11" name="Connector 8">
            <a:extLst>
              <a:ext uri="{FF2B5EF4-FFF2-40B4-BE49-F238E27FC236}">
                <a16:creationId xmlns:a16="http://schemas.microsoft.com/office/drawing/2014/main" id="{A809E326-B8ED-F5CA-92D2-02A2732D8234}"/>
              </a:ext>
            </a:extLst>
          </p:cNvPr>
          <p:cNvCxnSpPr/>
          <p:nvPr/>
        </p:nvCxnSpPr>
        <p:spPr>
          <a:xfrm>
            <a:off x="2377440" y="2057400"/>
            <a:ext cx="320040" cy="0"/>
          </a:xfrm>
          <a:prstGeom prst="line">
            <a:avLst/>
          </a:prstGeom>
          <a:ln w="38100">
            <a:solidFill>
              <a:srgbClr val="6C28D9"/>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9">
            <a:extLst>
              <a:ext uri="{FF2B5EF4-FFF2-40B4-BE49-F238E27FC236}">
                <a16:creationId xmlns:a16="http://schemas.microsoft.com/office/drawing/2014/main" id="{4F4C270F-1704-47C1-372F-90668DC4124D}"/>
              </a:ext>
            </a:extLst>
          </p:cNvPr>
          <p:cNvCxnSpPr/>
          <p:nvPr/>
        </p:nvCxnSpPr>
        <p:spPr>
          <a:xfrm>
            <a:off x="4114800" y="2057400"/>
            <a:ext cx="320040" cy="0"/>
          </a:xfrm>
          <a:prstGeom prst="line">
            <a:avLst/>
          </a:prstGeom>
          <a:ln w="38100">
            <a:solidFill>
              <a:srgbClr val="6C28D9"/>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0">
            <a:extLst>
              <a:ext uri="{FF2B5EF4-FFF2-40B4-BE49-F238E27FC236}">
                <a16:creationId xmlns:a16="http://schemas.microsoft.com/office/drawing/2014/main" id="{32CE8C91-4CF4-7A55-2455-1C5D39A1608E}"/>
              </a:ext>
            </a:extLst>
          </p:cNvPr>
          <p:cNvCxnSpPr/>
          <p:nvPr/>
        </p:nvCxnSpPr>
        <p:spPr>
          <a:xfrm>
            <a:off x="6309360" y="2057400"/>
            <a:ext cx="320040" cy="0"/>
          </a:xfrm>
          <a:prstGeom prst="line">
            <a:avLst/>
          </a:prstGeom>
          <a:ln w="38100">
            <a:solidFill>
              <a:srgbClr val="6C28D9"/>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1">
            <a:extLst>
              <a:ext uri="{FF2B5EF4-FFF2-40B4-BE49-F238E27FC236}">
                <a16:creationId xmlns:a16="http://schemas.microsoft.com/office/drawing/2014/main" id="{042ADAF4-6A66-ADCD-36E1-5B3F5BA5B5C4}"/>
              </a:ext>
            </a:extLst>
          </p:cNvPr>
          <p:cNvCxnSpPr/>
          <p:nvPr/>
        </p:nvCxnSpPr>
        <p:spPr>
          <a:xfrm>
            <a:off x="8503920" y="2057400"/>
            <a:ext cx="320040" cy="0"/>
          </a:xfrm>
          <a:prstGeom prst="line">
            <a:avLst/>
          </a:prstGeom>
          <a:ln w="38100">
            <a:solidFill>
              <a:srgbClr val="6C28D9"/>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2">
            <a:extLst>
              <a:ext uri="{FF2B5EF4-FFF2-40B4-BE49-F238E27FC236}">
                <a16:creationId xmlns:a16="http://schemas.microsoft.com/office/drawing/2014/main" id="{C0D1F8C2-4119-2F97-C6D6-F53DF83DAEB1}"/>
              </a:ext>
            </a:extLst>
          </p:cNvPr>
          <p:cNvCxnSpPr/>
          <p:nvPr/>
        </p:nvCxnSpPr>
        <p:spPr>
          <a:xfrm flipH="1" flipV="1">
            <a:off x="3474720" y="1527048"/>
            <a:ext cx="1280160" cy="18288"/>
          </a:xfrm>
          <a:prstGeom prst="line">
            <a:avLst/>
          </a:prstGeom>
          <a:ln w="38100">
            <a:solidFill>
              <a:srgbClr val="62627D"/>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AB417364-0C13-17B4-BA07-7AAFFF567ECF}"/>
              </a:ext>
            </a:extLst>
          </p:cNvPr>
          <p:cNvSpPr txBox="1"/>
          <p:nvPr/>
        </p:nvSpPr>
        <p:spPr>
          <a:xfrm>
            <a:off x="3246120" y="1216152"/>
            <a:ext cx="2011680"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a:solidFill>
                  <a:srgbClr val="62627D"/>
                </a:solidFill>
                <a:latin typeface="Calibri"/>
              </a:rPr>
              <a:t>WAIT ↺ buffer more</a:t>
            </a:r>
          </a:p>
        </p:txBody>
      </p:sp>
      <p:sp>
        <p:nvSpPr>
          <p:cNvPr id="17" name="Rounded Rectangle 14">
            <a:extLst>
              <a:ext uri="{FF2B5EF4-FFF2-40B4-BE49-F238E27FC236}">
                <a16:creationId xmlns:a16="http://schemas.microsoft.com/office/drawing/2014/main" id="{E0045DB6-BA2B-DE7B-249B-8CA111A5E2AD}"/>
              </a:ext>
            </a:extLst>
          </p:cNvPr>
          <p:cNvSpPr/>
          <p:nvPr/>
        </p:nvSpPr>
        <p:spPr>
          <a:xfrm>
            <a:off x="8823960" y="3200400"/>
            <a:ext cx="2880360" cy="914400"/>
          </a:xfrm>
          <a:prstGeom prst="roundRect">
            <a:avLst>
              <a:gd name="adj" fmla="val 14000"/>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lnSpc>
                <a:spcPct val="100000"/>
              </a:lnSpc>
            </a:pPr>
            <a:r>
              <a:rPr sz="1600" b="1" i="0">
                <a:solidFill>
                  <a:srgbClr val="FFFFFF"/>
                </a:solidFill>
                <a:latin typeface="Calibri"/>
              </a:rPr>
              <a:t>M5  Grounded Synthesizer</a:t>
            </a:r>
          </a:p>
          <a:p>
            <a:pPr algn="ctr">
              <a:lnSpc>
                <a:spcPct val="100000"/>
              </a:lnSpc>
              <a:spcBef>
                <a:spcPts val="100"/>
              </a:spcBef>
            </a:pPr>
            <a:r>
              <a:rPr sz="1050" b="0" i="0">
                <a:solidFill>
                  <a:srgbClr val="FFFFFF"/>
                </a:solidFill>
                <a:latin typeface="Calibri"/>
              </a:rPr>
              <a:t>claim graph · citations · uncertainty</a:t>
            </a:r>
          </a:p>
        </p:txBody>
      </p:sp>
      <p:sp>
        <p:nvSpPr>
          <p:cNvPr id="18" name="Rounded Rectangle 15">
            <a:extLst>
              <a:ext uri="{FF2B5EF4-FFF2-40B4-BE49-F238E27FC236}">
                <a16:creationId xmlns:a16="http://schemas.microsoft.com/office/drawing/2014/main" id="{AAF52BA8-0BB4-BBDF-6902-240675106275}"/>
              </a:ext>
            </a:extLst>
          </p:cNvPr>
          <p:cNvSpPr/>
          <p:nvPr/>
        </p:nvSpPr>
        <p:spPr>
          <a:xfrm>
            <a:off x="5303520" y="3200400"/>
            <a:ext cx="2377440" cy="914400"/>
          </a:xfrm>
          <a:prstGeom prst="roundRect">
            <a:avLst>
              <a:gd name="adj" fmla="val 14000"/>
            </a:avLst>
          </a:prstGeom>
          <a:solidFill>
            <a:srgbClr val="0E7A6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lnSpc>
                <a:spcPct val="100000"/>
              </a:lnSpc>
            </a:pPr>
            <a:r>
              <a:rPr sz="1600" b="1" i="0">
                <a:solidFill>
                  <a:srgbClr val="FFFFFF"/>
                </a:solidFill>
                <a:latin typeface="Calibri"/>
              </a:rPr>
              <a:t>M4  Session State &amp; Refinement</a:t>
            </a:r>
          </a:p>
          <a:p>
            <a:pPr algn="ctr">
              <a:lnSpc>
                <a:spcPct val="100000"/>
              </a:lnSpc>
              <a:spcBef>
                <a:spcPts val="100"/>
              </a:spcBef>
            </a:pPr>
            <a:r>
              <a:rPr sz="1050" b="0" i="0">
                <a:solidFill>
                  <a:srgbClr val="FFFFFF"/>
                </a:solidFill>
                <a:latin typeface="Calibri"/>
              </a:rPr>
              <a:t>claim delta · patch only touched</a:t>
            </a:r>
          </a:p>
        </p:txBody>
      </p:sp>
      <p:cxnSp>
        <p:nvCxnSpPr>
          <p:cNvPr id="19" name="Connector 16">
            <a:extLst>
              <a:ext uri="{FF2B5EF4-FFF2-40B4-BE49-F238E27FC236}">
                <a16:creationId xmlns:a16="http://schemas.microsoft.com/office/drawing/2014/main" id="{844C7948-774D-9592-C0C0-36DD17285773}"/>
              </a:ext>
            </a:extLst>
          </p:cNvPr>
          <p:cNvCxnSpPr/>
          <p:nvPr/>
        </p:nvCxnSpPr>
        <p:spPr>
          <a:xfrm>
            <a:off x="10259568" y="2514600"/>
            <a:ext cx="0" cy="685800"/>
          </a:xfrm>
          <a:prstGeom prst="line">
            <a:avLst/>
          </a:prstGeom>
          <a:ln w="38100">
            <a:solidFill>
              <a:srgbClr val="4FB09C"/>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7">
            <a:extLst>
              <a:ext uri="{FF2B5EF4-FFF2-40B4-BE49-F238E27FC236}">
                <a16:creationId xmlns:a16="http://schemas.microsoft.com/office/drawing/2014/main" id="{17CE0622-8B05-2628-CF7E-3E7A15FFE1FA}"/>
              </a:ext>
            </a:extLst>
          </p:cNvPr>
          <p:cNvCxnSpPr/>
          <p:nvPr/>
        </p:nvCxnSpPr>
        <p:spPr>
          <a:xfrm flipH="1">
            <a:off x="7680960" y="3657600"/>
            <a:ext cx="1143000" cy="0"/>
          </a:xfrm>
          <a:prstGeom prst="line">
            <a:avLst/>
          </a:prstGeom>
          <a:ln w="38100">
            <a:solidFill>
              <a:srgbClr val="4FB09C"/>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18">
            <a:extLst>
              <a:ext uri="{FF2B5EF4-FFF2-40B4-BE49-F238E27FC236}">
                <a16:creationId xmlns:a16="http://schemas.microsoft.com/office/drawing/2014/main" id="{34DD4B30-E31E-BED1-1FDA-B79BEDBB0153}"/>
              </a:ext>
            </a:extLst>
          </p:cNvPr>
          <p:cNvCxnSpPr/>
          <p:nvPr/>
        </p:nvCxnSpPr>
        <p:spPr>
          <a:xfrm>
            <a:off x="7680960" y="3803904"/>
            <a:ext cx="1143000" cy="0"/>
          </a:xfrm>
          <a:prstGeom prst="line">
            <a:avLst/>
          </a:prstGeom>
          <a:ln w="38100">
            <a:solidFill>
              <a:srgbClr val="0E7A66"/>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19">
            <a:extLst>
              <a:ext uri="{FF2B5EF4-FFF2-40B4-BE49-F238E27FC236}">
                <a16:creationId xmlns:a16="http://schemas.microsoft.com/office/drawing/2014/main" id="{5A77FF3D-43A7-44E8-C0A3-5E1E10DEBCA3}"/>
              </a:ext>
            </a:extLst>
          </p:cNvPr>
          <p:cNvCxnSpPr/>
          <p:nvPr/>
        </p:nvCxnSpPr>
        <p:spPr>
          <a:xfrm>
            <a:off x="5120640" y="2514600"/>
            <a:ext cx="548640" cy="685800"/>
          </a:xfrm>
          <a:prstGeom prst="line">
            <a:avLst/>
          </a:prstGeom>
          <a:ln w="38100">
            <a:solidFill>
              <a:srgbClr val="0E7A66"/>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59CBDAAF-CBE8-EAF9-80A4-183231306E27}"/>
              </a:ext>
            </a:extLst>
          </p:cNvPr>
          <p:cNvSpPr txBox="1"/>
          <p:nvPr/>
        </p:nvSpPr>
        <p:spPr>
          <a:xfrm>
            <a:off x="4823460" y="2680177"/>
            <a:ext cx="1645920" cy="161583"/>
          </a:xfrm>
          <a:prstGeom prst="rect">
            <a:avLst/>
          </a:prstGeom>
          <a:noFill/>
        </p:spPr>
        <p:txBody>
          <a:bodyPr wrap="square" lIns="0" tIns="0" rIns="0" bIns="0" anchor="t">
            <a:spAutoFit/>
          </a:bodyPr>
          <a:lstStyle/>
          <a:p>
            <a:pPr algn="l">
              <a:lnSpc>
                <a:spcPct val="100000"/>
              </a:lnSpc>
              <a:spcBef>
                <a:spcPts val="0"/>
              </a:spcBef>
              <a:spcAft>
                <a:spcPts val="600"/>
              </a:spcAft>
            </a:pPr>
            <a:r>
              <a:rPr sz="1050" b="1" i="0" dirty="0">
                <a:solidFill>
                  <a:srgbClr val="0E7A66"/>
                </a:solidFill>
                <a:latin typeface="Calibri"/>
              </a:rPr>
              <a:t>REFINE </a:t>
            </a:r>
          </a:p>
        </p:txBody>
      </p:sp>
      <p:sp>
        <p:nvSpPr>
          <p:cNvPr id="24" name="Rounded Rectangle 21">
            <a:extLst>
              <a:ext uri="{FF2B5EF4-FFF2-40B4-BE49-F238E27FC236}">
                <a16:creationId xmlns:a16="http://schemas.microsoft.com/office/drawing/2014/main" id="{6536A846-1DE4-023A-E94A-D6FEB5D339D2}"/>
              </a:ext>
            </a:extLst>
          </p:cNvPr>
          <p:cNvSpPr/>
          <p:nvPr/>
        </p:nvSpPr>
        <p:spPr>
          <a:xfrm>
            <a:off x="8823960" y="4754880"/>
            <a:ext cx="2880360" cy="777240"/>
          </a:xfrm>
          <a:prstGeom prst="roundRect">
            <a:avLst>
              <a:gd name="adj" fmla="val 14000"/>
            </a:avLst>
          </a:prstGeom>
          <a:solidFill>
            <a:srgbClr val="13132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lnSpc>
                <a:spcPct val="100000"/>
              </a:lnSpc>
            </a:pPr>
            <a:r>
              <a:rPr sz="1600" b="1" i="0">
                <a:solidFill>
                  <a:srgbClr val="FFFFFF"/>
                </a:solidFill>
                <a:latin typeface="Calibri"/>
              </a:rPr>
              <a:t>Streamed answer + citations + trace_id</a:t>
            </a:r>
          </a:p>
        </p:txBody>
      </p:sp>
      <p:cxnSp>
        <p:nvCxnSpPr>
          <p:cNvPr id="25" name="Connector 22">
            <a:extLst>
              <a:ext uri="{FF2B5EF4-FFF2-40B4-BE49-F238E27FC236}">
                <a16:creationId xmlns:a16="http://schemas.microsoft.com/office/drawing/2014/main" id="{1E39290D-58EE-6468-2554-DCDC8B1117C2}"/>
              </a:ext>
            </a:extLst>
          </p:cNvPr>
          <p:cNvCxnSpPr/>
          <p:nvPr/>
        </p:nvCxnSpPr>
        <p:spPr>
          <a:xfrm>
            <a:off x="10259568" y="4114800"/>
            <a:ext cx="0" cy="640080"/>
          </a:xfrm>
          <a:prstGeom prst="line">
            <a:avLst/>
          </a:prstGeom>
          <a:ln w="38100">
            <a:solidFill>
              <a:srgbClr val="4FB09C"/>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3">
            <a:extLst>
              <a:ext uri="{FF2B5EF4-FFF2-40B4-BE49-F238E27FC236}">
                <a16:creationId xmlns:a16="http://schemas.microsoft.com/office/drawing/2014/main" id="{A18ACCF4-836F-1CEB-CDC6-2525F5C75BEE}"/>
              </a:ext>
            </a:extLst>
          </p:cNvPr>
          <p:cNvSpPr/>
          <p:nvPr/>
        </p:nvSpPr>
        <p:spPr>
          <a:xfrm>
            <a:off x="469392" y="6172200"/>
            <a:ext cx="11036808" cy="457200"/>
          </a:xfrm>
          <a:prstGeom prst="roundRect">
            <a:avLst>
              <a:gd name="adj" fmla="val 30000"/>
            </a:avLst>
          </a:prstGeom>
          <a:solidFill>
            <a:srgbClr val="1B1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a:extLst>
              <a:ext uri="{FF2B5EF4-FFF2-40B4-BE49-F238E27FC236}">
                <a16:creationId xmlns:a16="http://schemas.microsoft.com/office/drawing/2014/main" id="{6BDF9ACB-E826-F8B9-02F3-556B91BFD440}"/>
              </a:ext>
            </a:extLst>
          </p:cNvPr>
          <p:cNvSpPr txBox="1"/>
          <p:nvPr/>
        </p:nvSpPr>
        <p:spPr>
          <a:xfrm>
            <a:off x="760476" y="6235688"/>
            <a:ext cx="10789920" cy="276999"/>
          </a:xfrm>
          <a:prstGeom prst="rect">
            <a:avLst/>
          </a:prstGeom>
          <a:noFill/>
        </p:spPr>
        <p:txBody>
          <a:bodyPr wrap="square" lIns="0" tIns="0" rIns="0" bIns="0" anchor="ctr">
            <a:spAutoFit/>
          </a:bodyPr>
          <a:lstStyle/>
          <a:p>
            <a:pPr algn="l">
              <a:lnSpc>
                <a:spcPct val="100000"/>
              </a:lnSpc>
              <a:spcBef>
                <a:spcPts val="0"/>
              </a:spcBef>
              <a:spcAft>
                <a:spcPts val="600"/>
              </a:spcAft>
            </a:pPr>
            <a:r>
              <a:rPr b="1" i="0" dirty="0">
                <a:solidFill>
                  <a:srgbClr val="B9A6F0"/>
                </a:solidFill>
                <a:latin typeface="Calibri"/>
              </a:rPr>
              <a:t>M6  Telemetry Bus</a:t>
            </a:r>
            <a:r>
              <a:rPr sz="1600" b="0" i="0" dirty="0">
                <a:solidFill>
                  <a:srgbClr val="FFFFFF"/>
                </a:solidFill>
                <a:latin typeface="Calibri"/>
              </a:rPr>
              <a:t>   — every module emits to one JSONL trace (100% coverage, non-blocking) · single </a:t>
            </a:r>
            <a:r>
              <a:rPr sz="1600" b="0" i="0" dirty="0" err="1">
                <a:solidFill>
                  <a:srgbClr val="FFFFFF"/>
                </a:solidFill>
                <a:latin typeface="Calibri"/>
              </a:rPr>
              <a:t>trace_id</a:t>
            </a:r>
            <a:r>
              <a:rPr sz="1600" b="0" i="0" dirty="0">
                <a:solidFill>
                  <a:srgbClr val="FFFFFF"/>
                </a:solidFill>
                <a:latin typeface="Calibri"/>
              </a:rPr>
              <a:t> per turn</a:t>
            </a:r>
          </a:p>
        </p:txBody>
      </p:sp>
      <p:cxnSp>
        <p:nvCxnSpPr>
          <p:cNvPr id="28" name="Connector 25">
            <a:extLst>
              <a:ext uri="{FF2B5EF4-FFF2-40B4-BE49-F238E27FC236}">
                <a16:creationId xmlns:a16="http://schemas.microsoft.com/office/drawing/2014/main" id="{DA257CB5-FCF1-9E0E-91D8-C496C2829925}"/>
              </a:ext>
            </a:extLst>
          </p:cNvPr>
          <p:cNvCxnSpPr>
            <a:cxnSpLocks/>
          </p:cNvCxnSpPr>
          <p:nvPr/>
        </p:nvCxnSpPr>
        <p:spPr>
          <a:xfrm>
            <a:off x="1554480" y="5143500"/>
            <a:ext cx="0" cy="1028700"/>
          </a:xfrm>
          <a:prstGeom prst="line">
            <a:avLst/>
          </a:prstGeom>
          <a:ln w="57150">
            <a:solidFill>
              <a:srgbClr val="8A7AC0"/>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6">
            <a:extLst>
              <a:ext uri="{FF2B5EF4-FFF2-40B4-BE49-F238E27FC236}">
                <a16:creationId xmlns:a16="http://schemas.microsoft.com/office/drawing/2014/main" id="{C66EF55B-FEC1-B74C-3156-40A3EE254436}"/>
              </a:ext>
            </a:extLst>
          </p:cNvPr>
          <p:cNvCxnSpPr>
            <a:cxnSpLocks/>
          </p:cNvCxnSpPr>
          <p:nvPr/>
        </p:nvCxnSpPr>
        <p:spPr>
          <a:xfrm flipH="1">
            <a:off x="3383280" y="5070749"/>
            <a:ext cx="22860" cy="1101451"/>
          </a:xfrm>
          <a:prstGeom prst="line">
            <a:avLst/>
          </a:prstGeom>
          <a:ln w="57150">
            <a:solidFill>
              <a:srgbClr val="8A7AC0"/>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7">
            <a:extLst>
              <a:ext uri="{FF2B5EF4-FFF2-40B4-BE49-F238E27FC236}">
                <a16:creationId xmlns:a16="http://schemas.microsoft.com/office/drawing/2014/main" id="{611562FA-D02C-B477-10B8-2B6EBF0138B6}"/>
              </a:ext>
            </a:extLst>
          </p:cNvPr>
          <p:cNvCxnSpPr>
            <a:cxnSpLocks/>
          </p:cNvCxnSpPr>
          <p:nvPr/>
        </p:nvCxnSpPr>
        <p:spPr>
          <a:xfrm flipH="1">
            <a:off x="5303520" y="4967785"/>
            <a:ext cx="45720" cy="1204415"/>
          </a:xfrm>
          <a:prstGeom prst="line">
            <a:avLst/>
          </a:prstGeom>
          <a:ln w="38100">
            <a:solidFill>
              <a:srgbClr val="8A7AC0"/>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28">
            <a:extLst>
              <a:ext uri="{FF2B5EF4-FFF2-40B4-BE49-F238E27FC236}">
                <a16:creationId xmlns:a16="http://schemas.microsoft.com/office/drawing/2014/main" id="{B9E915A1-74D8-0CD3-A437-3C3130FA296D}"/>
              </a:ext>
            </a:extLst>
          </p:cNvPr>
          <p:cNvCxnSpPr>
            <a:cxnSpLocks/>
          </p:cNvCxnSpPr>
          <p:nvPr/>
        </p:nvCxnSpPr>
        <p:spPr>
          <a:xfrm>
            <a:off x="7543800" y="4967785"/>
            <a:ext cx="0" cy="1204415"/>
          </a:xfrm>
          <a:prstGeom prst="line">
            <a:avLst/>
          </a:prstGeom>
          <a:ln w="38100">
            <a:solidFill>
              <a:srgbClr val="8A7AC0"/>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29">
            <a:extLst>
              <a:ext uri="{FF2B5EF4-FFF2-40B4-BE49-F238E27FC236}">
                <a16:creationId xmlns:a16="http://schemas.microsoft.com/office/drawing/2014/main" id="{221F8CF4-8EFC-CED6-32DA-65BB75D9F412}"/>
              </a:ext>
            </a:extLst>
          </p:cNvPr>
          <p:cNvCxnSpPr>
            <a:cxnSpLocks/>
          </p:cNvCxnSpPr>
          <p:nvPr/>
        </p:nvCxnSpPr>
        <p:spPr>
          <a:xfrm>
            <a:off x="10259568" y="5568696"/>
            <a:ext cx="0" cy="603504"/>
          </a:xfrm>
          <a:prstGeom prst="line">
            <a:avLst/>
          </a:prstGeom>
          <a:ln w="38100">
            <a:solidFill>
              <a:srgbClr val="8A7AC0"/>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EF3DDF85-B8DC-5F43-A429-DEAF39EE04D0}"/>
              </a:ext>
            </a:extLst>
          </p:cNvPr>
          <p:cNvSpPr txBox="1"/>
          <p:nvPr/>
        </p:nvSpPr>
        <p:spPr>
          <a:xfrm>
            <a:off x="487680" y="3740092"/>
            <a:ext cx="4206240" cy="1107226"/>
          </a:xfrm>
          <a:prstGeom prst="rect">
            <a:avLst/>
          </a:prstGeom>
          <a:noFill/>
        </p:spPr>
        <p:txBody>
          <a:bodyPr wrap="square" lIns="0" tIns="0" rIns="0" bIns="0" anchor="t">
            <a:spAutoFit/>
          </a:bodyPr>
          <a:lstStyle/>
          <a:p>
            <a:pPr algn="l">
              <a:lnSpc>
                <a:spcPct val="105000"/>
              </a:lnSpc>
              <a:spcBef>
                <a:spcPts val="0"/>
              </a:spcBef>
              <a:spcAft>
                <a:spcPts val="400"/>
              </a:spcAft>
            </a:pPr>
            <a:r>
              <a:rPr b="1" i="0" dirty="0">
                <a:solidFill>
                  <a:srgbClr val="6C28D9"/>
                </a:solidFill>
                <a:latin typeface="Calibri"/>
              </a:rPr>
              <a:t>No agent framework.</a:t>
            </a:r>
          </a:p>
          <a:p>
            <a:pPr algn="l">
              <a:lnSpc>
                <a:spcPct val="105000"/>
              </a:lnSpc>
              <a:spcBef>
                <a:spcPts val="0"/>
              </a:spcBef>
              <a:spcAft>
                <a:spcPts val="400"/>
              </a:spcAft>
            </a:pPr>
            <a:r>
              <a:rPr sz="1600" b="0" i="0" dirty="0">
                <a:solidFill>
                  <a:srgbClr val="62627D"/>
                </a:solidFill>
                <a:latin typeface="Calibri"/>
              </a:rPr>
              <a:t>Libraries split text &amp; call models; we write the control flow ourselves — cheaper, faster, and it satisfies the guide's Architectural-Parsimony rule.</a:t>
            </a:r>
          </a:p>
        </p:txBody>
      </p:sp>
    </p:spTree>
    <p:extLst>
      <p:ext uri="{BB962C8B-B14F-4D97-AF65-F5344CB8AC3E}">
        <p14:creationId xmlns:p14="http://schemas.microsoft.com/office/powerpoint/2010/main" val="819641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5" name="TextBox 4">
            <a:extLst>
              <a:ext uri="{FF2B5EF4-FFF2-40B4-BE49-F238E27FC236}">
                <a16:creationId xmlns:a16="http://schemas.microsoft.com/office/drawing/2014/main" id="{962576BE-BBDD-E2BC-E701-B9F733E8C4D8}"/>
              </a:ext>
            </a:extLst>
          </p:cNvPr>
          <p:cNvSpPr txBox="1"/>
          <p:nvPr/>
        </p:nvSpPr>
        <p:spPr>
          <a:xfrm>
            <a:off x="685800" y="1371600"/>
            <a:ext cx="10972800" cy="276999"/>
          </a:xfrm>
          <a:prstGeom prst="rect">
            <a:avLst/>
          </a:prstGeom>
          <a:noFill/>
        </p:spPr>
        <p:txBody>
          <a:bodyPr wrap="square" lIns="0" tIns="0" rIns="0" bIns="0" anchor="t">
            <a:spAutoFit/>
          </a:bodyPr>
          <a:lstStyle/>
          <a:p>
            <a:pPr algn="l">
              <a:lnSpc>
                <a:spcPct val="100000"/>
              </a:lnSpc>
              <a:spcBef>
                <a:spcPts val="0"/>
              </a:spcBef>
              <a:spcAft>
                <a:spcPts val="600"/>
              </a:spcAft>
            </a:pPr>
            <a:r>
              <a:rPr b="1" i="0">
                <a:solidFill>
                  <a:srgbClr val="6C28D9"/>
                </a:solidFill>
                <a:latin typeface="Calibri"/>
              </a:rPr>
              <a:t>The demo storyboard — one continuous full-duplex conversation</a:t>
            </a:r>
          </a:p>
        </p:txBody>
      </p:sp>
      <p:sp>
        <p:nvSpPr>
          <p:cNvPr id="7" name="Rounded Rectangle 4">
            <a:extLst>
              <a:ext uri="{FF2B5EF4-FFF2-40B4-BE49-F238E27FC236}">
                <a16:creationId xmlns:a16="http://schemas.microsoft.com/office/drawing/2014/main" id="{4E18D2F6-F9B3-DED6-5F06-D9724BA7F996}"/>
              </a:ext>
            </a:extLst>
          </p:cNvPr>
          <p:cNvSpPr/>
          <p:nvPr/>
        </p:nvSpPr>
        <p:spPr>
          <a:xfrm>
            <a:off x="685800" y="1828799"/>
            <a:ext cx="3593592" cy="1316735"/>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Rounded Rectangle 5">
            <a:extLst>
              <a:ext uri="{FF2B5EF4-FFF2-40B4-BE49-F238E27FC236}">
                <a16:creationId xmlns:a16="http://schemas.microsoft.com/office/drawing/2014/main" id="{8D180C1D-27DD-04E6-C232-A7A092C634BE}"/>
              </a:ext>
            </a:extLst>
          </p:cNvPr>
          <p:cNvSpPr/>
          <p:nvPr/>
        </p:nvSpPr>
        <p:spPr>
          <a:xfrm>
            <a:off x="685800" y="1828800"/>
            <a:ext cx="3593592" cy="109728"/>
          </a:xfrm>
          <a:prstGeom prst="roundRect">
            <a:avLst>
              <a:gd name="adj" fmla="val 50000"/>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Oval 10">
            <a:extLst>
              <a:ext uri="{FF2B5EF4-FFF2-40B4-BE49-F238E27FC236}">
                <a16:creationId xmlns:a16="http://schemas.microsoft.com/office/drawing/2014/main" id="{47B1A8CD-6AAB-6DE5-0B8B-633DA5EBB783}"/>
              </a:ext>
            </a:extLst>
          </p:cNvPr>
          <p:cNvSpPr/>
          <p:nvPr/>
        </p:nvSpPr>
        <p:spPr>
          <a:xfrm>
            <a:off x="850392" y="2048256"/>
            <a:ext cx="457200" cy="457200"/>
          </a:xfrm>
          <a:prstGeom prst="ellipse">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a:extLst>
              <a:ext uri="{FF2B5EF4-FFF2-40B4-BE49-F238E27FC236}">
                <a16:creationId xmlns:a16="http://schemas.microsoft.com/office/drawing/2014/main" id="{A0FF7A1B-6ADE-73F5-9C8F-878FE20772AF}"/>
              </a:ext>
            </a:extLst>
          </p:cNvPr>
          <p:cNvSpPr txBox="1"/>
          <p:nvPr/>
        </p:nvSpPr>
        <p:spPr>
          <a:xfrm>
            <a:off x="850392" y="2138356"/>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1</a:t>
            </a:r>
          </a:p>
        </p:txBody>
      </p:sp>
      <p:sp>
        <p:nvSpPr>
          <p:cNvPr id="15" name="TextBox 14">
            <a:extLst>
              <a:ext uri="{FF2B5EF4-FFF2-40B4-BE49-F238E27FC236}">
                <a16:creationId xmlns:a16="http://schemas.microsoft.com/office/drawing/2014/main" id="{F3C6B5C6-D51F-1D6B-3929-DAC18FA6FC39}"/>
              </a:ext>
            </a:extLst>
          </p:cNvPr>
          <p:cNvSpPr txBox="1"/>
          <p:nvPr/>
        </p:nvSpPr>
        <p:spPr>
          <a:xfrm>
            <a:off x="1417320" y="2035572"/>
            <a:ext cx="2724912" cy="482568"/>
          </a:xfrm>
          <a:prstGeom prst="rect">
            <a:avLst/>
          </a:prstGeom>
          <a:noFill/>
        </p:spPr>
        <p:txBody>
          <a:bodyPr wrap="square" lIns="0" tIns="0" rIns="0" bIns="0" anchor="ctr">
            <a:spAutoFit/>
          </a:bodyPr>
          <a:lstStyle/>
          <a:p>
            <a:pPr algn="l">
              <a:lnSpc>
                <a:spcPct val="98000"/>
              </a:lnSpc>
              <a:spcBef>
                <a:spcPts val="0"/>
              </a:spcBef>
              <a:spcAft>
                <a:spcPts val="600"/>
              </a:spcAft>
            </a:pPr>
            <a:r>
              <a:rPr sz="1600" b="1" i="0" dirty="0">
                <a:solidFill>
                  <a:srgbClr val="13132B"/>
                </a:solidFill>
                <a:latin typeface="Calibri"/>
              </a:rPr>
              <a:t>Compound utterance, mid-sentence</a:t>
            </a:r>
          </a:p>
        </p:txBody>
      </p:sp>
      <p:sp>
        <p:nvSpPr>
          <p:cNvPr id="17" name="TextBox 16">
            <a:extLst>
              <a:ext uri="{FF2B5EF4-FFF2-40B4-BE49-F238E27FC236}">
                <a16:creationId xmlns:a16="http://schemas.microsoft.com/office/drawing/2014/main" id="{A1FE2300-2B79-B9A6-9596-BAFDB3C6B7CF}"/>
              </a:ext>
            </a:extLst>
          </p:cNvPr>
          <p:cNvSpPr txBox="1"/>
          <p:nvPr/>
        </p:nvSpPr>
        <p:spPr>
          <a:xfrm>
            <a:off x="868680" y="2542032"/>
            <a:ext cx="3227832" cy="553998"/>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62627D"/>
                </a:solidFill>
                <a:latin typeface="Calibri"/>
              </a:rPr>
              <a:t>User is still speaking; the controller fires a speculative search the moment it's confident. (G2 hero moment)</a:t>
            </a:r>
          </a:p>
        </p:txBody>
      </p:sp>
      <p:sp>
        <p:nvSpPr>
          <p:cNvPr id="19" name="Rounded Rectangle 10">
            <a:extLst>
              <a:ext uri="{FF2B5EF4-FFF2-40B4-BE49-F238E27FC236}">
                <a16:creationId xmlns:a16="http://schemas.microsoft.com/office/drawing/2014/main" id="{E99DEEE8-1718-57E0-4517-C7276868CA83}"/>
              </a:ext>
            </a:extLst>
          </p:cNvPr>
          <p:cNvSpPr/>
          <p:nvPr/>
        </p:nvSpPr>
        <p:spPr>
          <a:xfrm>
            <a:off x="4443984" y="1828800"/>
            <a:ext cx="3575304" cy="131673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Rounded Rectangle 11">
            <a:extLst>
              <a:ext uri="{FF2B5EF4-FFF2-40B4-BE49-F238E27FC236}">
                <a16:creationId xmlns:a16="http://schemas.microsoft.com/office/drawing/2014/main" id="{50ECE555-EF2C-D81E-A69F-F3651E1E4BE1}"/>
              </a:ext>
            </a:extLst>
          </p:cNvPr>
          <p:cNvSpPr/>
          <p:nvPr/>
        </p:nvSpPr>
        <p:spPr>
          <a:xfrm>
            <a:off x="4443984" y="1828800"/>
            <a:ext cx="3593592" cy="109728"/>
          </a:xfrm>
          <a:prstGeom prst="roundRect">
            <a:avLst>
              <a:gd name="adj" fmla="val 50000"/>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Oval 22">
            <a:extLst>
              <a:ext uri="{FF2B5EF4-FFF2-40B4-BE49-F238E27FC236}">
                <a16:creationId xmlns:a16="http://schemas.microsoft.com/office/drawing/2014/main" id="{E85329EF-88AA-A60A-AA76-71278E8DF8AE}"/>
              </a:ext>
            </a:extLst>
          </p:cNvPr>
          <p:cNvSpPr/>
          <p:nvPr/>
        </p:nvSpPr>
        <p:spPr>
          <a:xfrm>
            <a:off x="4608576" y="2048256"/>
            <a:ext cx="457200" cy="457200"/>
          </a:xfrm>
          <a:prstGeom prst="ellipse">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a:extLst>
              <a:ext uri="{FF2B5EF4-FFF2-40B4-BE49-F238E27FC236}">
                <a16:creationId xmlns:a16="http://schemas.microsoft.com/office/drawing/2014/main" id="{40F8D603-EE74-5B80-03BA-CCD092AAF246}"/>
              </a:ext>
            </a:extLst>
          </p:cNvPr>
          <p:cNvSpPr txBox="1"/>
          <p:nvPr/>
        </p:nvSpPr>
        <p:spPr>
          <a:xfrm>
            <a:off x="4608576" y="2138356"/>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2</a:t>
            </a:r>
          </a:p>
        </p:txBody>
      </p:sp>
      <p:sp>
        <p:nvSpPr>
          <p:cNvPr id="27" name="TextBox 26">
            <a:extLst>
              <a:ext uri="{FF2B5EF4-FFF2-40B4-BE49-F238E27FC236}">
                <a16:creationId xmlns:a16="http://schemas.microsoft.com/office/drawing/2014/main" id="{CBCBD37E-B5BA-8D68-548E-755BA5CAC503}"/>
              </a:ext>
            </a:extLst>
          </p:cNvPr>
          <p:cNvSpPr txBox="1"/>
          <p:nvPr/>
        </p:nvSpPr>
        <p:spPr>
          <a:xfrm>
            <a:off x="5175504" y="2156214"/>
            <a:ext cx="2724912" cy="241285"/>
          </a:xfrm>
          <a:prstGeom prst="rect">
            <a:avLst/>
          </a:prstGeom>
          <a:noFill/>
        </p:spPr>
        <p:txBody>
          <a:bodyPr wrap="square" lIns="0" tIns="0" rIns="0" bIns="0" anchor="ctr">
            <a:spAutoFit/>
          </a:bodyPr>
          <a:lstStyle/>
          <a:p>
            <a:pPr algn="l">
              <a:lnSpc>
                <a:spcPct val="98000"/>
              </a:lnSpc>
              <a:spcBef>
                <a:spcPts val="0"/>
              </a:spcBef>
              <a:spcAft>
                <a:spcPts val="600"/>
              </a:spcAft>
            </a:pPr>
            <a:r>
              <a:rPr sz="1600" b="1" i="0">
                <a:solidFill>
                  <a:srgbClr val="13132B"/>
                </a:solidFill>
                <a:latin typeface="Calibri"/>
              </a:rPr>
              <a:t>Live decomposition</a:t>
            </a:r>
          </a:p>
        </p:txBody>
      </p:sp>
      <p:sp>
        <p:nvSpPr>
          <p:cNvPr id="29" name="TextBox 28">
            <a:extLst>
              <a:ext uri="{FF2B5EF4-FFF2-40B4-BE49-F238E27FC236}">
                <a16:creationId xmlns:a16="http://schemas.microsoft.com/office/drawing/2014/main" id="{2BFFE445-43BF-C417-0895-231AC876870C}"/>
              </a:ext>
            </a:extLst>
          </p:cNvPr>
          <p:cNvSpPr txBox="1"/>
          <p:nvPr/>
        </p:nvSpPr>
        <p:spPr>
          <a:xfrm>
            <a:off x="4626864" y="2542032"/>
            <a:ext cx="3227832" cy="369332"/>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62627D"/>
                </a:solidFill>
                <a:latin typeface="Calibri"/>
              </a:rPr>
              <a:t>The single request splits into 2–4 sub-queries, shown expanding in real time.</a:t>
            </a:r>
          </a:p>
        </p:txBody>
      </p:sp>
      <p:sp>
        <p:nvSpPr>
          <p:cNvPr id="31" name="Rounded Rectangle 16">
            <a:extLst>
              <a:ext uri="{FF2B5EF4-FFF2-40B4-BE49-F238E27FC236}">
                <a16:creationId xmlns:a16="http://schemas.microsoft.com/office/drawing/2014/main" id="{D03A7D34-65C3-78B2-4F14-FD656A8458ED}"/>
              </a:ext>
            </a:extLst>
          </p:cNvPr>
          <p:cNvSpPr/>
          <p:nvPr/>
        </p:nvSpPr>
        <p:spPr>
          <a:xfrm>
            <a:off x="8220456" y="1828800"/>
            <a:ext cx="3575304" cy="1228868"/>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Rounded Rectangle 17">
            <a:extLst>
              <a:ext uri="{FF2B5EF4-FFF2-40B4-BE49-F238E27FC236}">
                <a16:creationId xmlns:a16="http://schemas.microsoft.com/office/drawing/2014/main" id="{FC2F4C31-00F0-2F1C-46EE-F01BA9297BAE}"/>
              </a:ext>
            </a:extLst>
          </p:cNvPr>
          <p:cNvSpPr/>
          <p:nvPr/>
        </p:nvSpPr>
        <p:spPr>
          <a:xfrm>
            <a:off x="8202168" y="1828800"/>
            <a:ext cx="3593592" cy="109728"/>
          </a:xfrm>
          <a:prstGeom prst="roundRect">
            <a:avLst>
              <a:gd name="adj" fmla="val 50000"/>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Oval 34">
            <a:extLst>
              <a:ext uri="{FF2B5EF4-FFF2-40B4-BE49-F238E27FC236}">
                <a16:creationId xmlns:a16="http://schemas.microsoft.com/office/drawing/2014/main" id="{560784A0-CE0E-331F-4CDA-E92ABCA3CA96}"/>
              </a:ext>
            </a:extLst>
          </p:cNvPr>
          <p:cNvSpPr/>
          <p:nvPr/>
        </p:nvSpPr>
        <p:spPr>
          <a:xfrm>
            <a:off x="8366760" y="2048256"/>
            <a:ext cx="457200" cy="457200"/>
          </a:xfrm>
          <a:prstGeom prst="ellipse">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a:extLst>
              <a:ext uri="{FF2B5EF4-FFF2-40B4-BE49-F238E27FC236}">
                <a16:creationId xmlns:a16="http://schemas.microsoft.com/office/drawing/2014/main" id="{0F3A9030-2924-06C3-15A9-694B114E78AB}"/>
              </a:ext>
            </a:extLst>
          </p:cNvPr>
          <p:cNvSpPr txBox="1"/>
          <p:nvPr/>
        </p:nvSpPr>
        <p:spPr>
          <a:xfrm>
            <a:off x="8366760" y="2138356"/>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3</a:t>
            </a:r>
          </a:p>
        </p:txBody>
      </p:sp>
      <p:sp>
        <p:nvSpPr>
          <p:cNvPr id="39" name="TextBox 38">
            <a:extLst>
              <a:ext uri="{FF2B5EF4-FFF2-40B4-BE49-F238E27FC236}">
                <a16:creationId xmlns:a16="http://schemas.microsoft.com/office/drawing/2014/main" id="{A95219A6-2CE9-D8CF-83F0-CD214E89C8C8}"/>
              </a:ext>
            </a:extLst>
          </p:cNvPr>
          <p:cNvSpPr txBox="1"/>
          <p:nvPr/>
        </p:nvSpPr>
        <p:spPr>
          <a:xfrm>
            <a:off x="8933688" y="2156214"/>
            <a:ext cx="2724912" cy="241285"/>
          </a:xfrm>
          <a:prstGeom prst="rect">
            <a:avLst/>
          </a:prstGeom>
          <a:noFill/>
        </p:spPr>
        <p:txBody>
          <a:bodyPr wrap="square" lIns="0" tIns="0" rIns="0" bIns="0" anchor="ctr">
            <a:spAutoFit/>
          </a:bodyPr>
          <a:lstStyle/>
          <a:p>
            <a:pPr algn="l">
              <a:lnSpc>
                <a:spcPct val="98000"/>
              </a:lnSpc>
              <a:spcBef>
                <a:spcPts val="0"/>
              </a:spcBef>
              <a:spcAft>
                <a:spcPts val="600"/>
              </a:spcAft>
            </a:pPr>
            <a:r>
              <a:rPr sz="1600" b="1" i="0">
                <a:solidFill>
                  <a:srgbClr val="13132B"/>
                </a:solidFill>
                <a:latin typeface="Calibri"/>
              </a:rPr>
              <a:t>Fuse · rerank · ground</a:t>
            </a:r>
          </a:p>
        </p:txBody>
      </p:sp>
      <p:sp>
        <p:nvSpPr>
          <p:cNvPr id="41" name="TextBox 40">
            <a:extLst>
              <a:ext uri="{FF2B5EF4-FFF2-40B4-BE49-F238E27FC236}">
                <a16:creationId xmlns:a16="http://schemas.microsoft.com/office/drawing/2014/main" id="{97F54284-E7FD-ECC9-F016-75B04E457C18}"/>
              </a:ext>
            </a:extLst>
          </p:cNvPr>
          <p:cNvSpPr txBox="1"/>
          <p:nvPr/>
        </p:nvSpPr>
        <p:spPr>
          <a:xfrm>
            <a:off x="8385048" y="2542032"/>
            <a:ext cx="3227832" cy="369332"/>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62627D"/>
                </a:solidFill>
                <a:latin typeface="Calibri"/>
              </a:rPr>
              <a:t>Dense + sparse hits merge via RRF, rerank to top-k; evidence chunks light up with IDs.</a:t>
            </a:r>
          </a:p>
        </p:txBody>
      </p:sp>
      <p:sp>
        <p:nvSpPr>
          <p:cNvPr id="43" name="Rounded Rectangle 22">
            <a:extLst>
              <a:ext uri="{FF2B5EF4-FFF2-40B4-BE49-F238E27FC236}">
                <a16:creationId xmlns:a16="http://schemas.microsoft.com/office/drawing/2014/main" id="{3C131F0C-66B1-3201-8450-BA1C3E41B122}"/>
              </a:ext>
            </a:extLst>
          </p:cNvPr>
          <p:cNvSpPr/>
          <p:nvPr/>
        </p:nvSpPr>
        <p:spPr>
          <a:xfrm>
            <a:off x="685800" y="3291839"/>
            <a:ext cx="3575304" cy="1359563"/>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Rounded Rectangle 23">
            <a:extLst>
              <a:ext uri="{FF2B5EF4-FFF2-40B4-BE49-F238E27FC236}">
                <a16:creationId xmlns:a16="http://schemas.microsoft.com/office/drawing/2014/main" id="{8D8A0E6F-A0DC-89C2-1609-57B033060AE1}"/>
              </a:ext>
            </a:extLst>
          </p:cNvPr>
          <p:cNvSpPr/>
          <p:nvPr/>
        </p:nvSpPr>
        <p:spPr>
          <a:xfrm>
            <a:off x="685800" y="3291840"/>
            <a:ext cx="3593592" cy="109728"/>
          </a:xfrm>
          <a:prstGeom prst="roundRect">
            <a:avLst>
              <a:gd name="adj" fmla="val 50000"/>
            </a:avLst>
          </a:prstGeom>
          <a:solidFill>
            <a:srgbClr val="702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7" name="Oval 46">
            <a:extLst>
              <a:ext uri="{FF2B5EF4-FFF2-40B4-BE49-F238E27FC236}">
                <a16:creationId xmlns:a16="http://schemas.microsoft.com/office/drawing/2014/main" id="{CB66FD3A-5F09-61D6-0E61-F8BDA2570C50}"/>
              </a:ext>
            </a:extLst>
          </p:cNvPr>
          <p:cNvSpPr/>
          <p:nvPr/>
        </p:nvSpPr>
        <p:spPr>
          <a:xfrm>
            <a:off x="850392" y="3511296"/>
            <a:ext cx="457200" cy="457200"/>
          </a:xfrm>
          <a:prstGeom prst="ellipse">
            <a:avLst/>
          </a:prstGeom>
          <a:solidFill>
            <a:srgbClr val="702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TextBox 48">
            <a:extLst>
              <a:ext uri="{FF2B5EF4-FFF2-40B4-BE49-F238E27FC236}">
                <a16:creationId xmlns:a16="http://schemas.microsoft.com/office/drawing/2014/main" id="{F743FF7C-9E24-D0C0-D3C4-04420D39312D}"/>
              </a:ext>
            </a:extLst>
          </p:cNvPr>
          <p:cNvSpPr txBox="1"/>
          <p:nvPr/>
        </p:nvSpPr>
        <p:spPr>
          <a:xfrm>
            <a:off x="850392" y="3601396"/>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4</a:t>
            </a:r>
          </a:p>
        </p:txBody>
      </p:sp>
      <p:sp>
        <p:nvSpPr>
          <p:cNvPr id="51" name="TextBox 50">
            <a:extLst>
              <a:ext uri="{FF2B5EF4-FFF2-40B4-BE49-F238E27FC236}">
                <a16:creationId xmlns:a16="http://schemas.microsoft.com/office/drawing/2014/main" id="{8F38B880-4D93-3527-8120-95C92C3972FA}"/>
              </a:ext>
            </a:extLst>
          </p:cNvPr>
          <p:cNvSpPr txBox="1"/>
          <p:nvPr/>
        </p:nvSpPr>
        <p:spPr>
          <a:xfrm>
            <a:off x="1417320" y="3619254"/>
            <a:ext cx="2724912" cy="241285"/>
          </a:xfrm>
          <a:prstGeom prst="rect">
            <a:avLst/>
          </a:prstGeom>
          <a:noFill/>
        </p:spPr>
        <p:txBody>
          <a:bodyPr wrap="square" lIns="0" tIns="0" rIns="0" bIns="0" anchor="ctr">
            <a:spAutoFit/>
          </a:bodyPr>
          <a:lstStyle/>
          <a:p>
            <a:pPr algn="l">
              <a:lnSpc>
                <a:spcPct val="98000"/>
              </a:lnSpc>
              <a:spcBef>
                <a:spcPts val="0"/>
              </a:spcBef>
              <a:spcAft>
                <a:spcPts val="600"/>
              </a:spcAft>
            </a:pPr>
            <a:r>
              <a:rPr sz="1600" b="1" i="0" dirty="0">
                <a:solidFill>
                  <a:srgbClr val="13132B"/>
                </a:solidFill>
                <a:latin typeface="Calibri"/>
              </a:rPr>
              <a:t>Answer streams with citations</a:t>
            </a:r>
          </a:p>
        </p:txBody>
      </p:sp>
      <p:sp>
        <p:nvSpPr>
          <p:cNvPr id="53" name="TextBox 52">
            <a:extLst>
              <a:ext uri="{FF2B5EF4-FFF2-40B4-BE49-F238E27FC236}">
                <a16:creationId xmlns:a16="http://schemas.microsoft.com/office/drawing/2014/main" id="{A1996D08-FE87-D62F-AE61-51FB447717FD}"/>
              </a:ext>
            </a:extLst>
          </p:cNvPr>
          <p:cNvSpPr txBox="1"/>
          <p:nvPr/>
        </p:nvSpPr>
        <p:spPr>
          <a:xfrm>
            <a:off x="868680" y="4005072"/>
            <a:ext cx="3227832" cy="369332"/>
          </a:xfrm>
          <a:prstGeom prst="rect">
            <a:avLst/>
          </a:prstGeom>
          <a:noFill/>
        </p:spPr>
        <p:txBody>
          <a:bodyPr wrap="square" lIns="0" tIns="0" rIns="0" bIns="0" anchor="t">
            <a:spAutoFit/>
          </a:bodyPr>
          <a:lstStyle/>
          <a:p>
            <a:pPr algn="l">
              <a:lnSpc>
                <a:spcPct val="100000"/>
              </a:lnSpc>
              <a:spcBef>
                <a:spcPts val="0"/>
              </a:spcBef>
              <a:spcAft>
                <a:spcPts val="600"/>
              </a:spcAft>
            </a:pPr>
            <a:r>
              <a:rPr sz="1200" b="0" i="0" dirty="0">
                <a:solidFill>
                  <a:srgbClr val="62627D"/>
                </a:solidFill>
                <a:latin typeface="Calibri"/>
              </a:rPr>
              <a:t>Grounded text streams token-by-token, each claim carrying an inline citation + </a:t>
            </a:r>
            <a:r>
              <a:rPr sz="1200" b="0" i="0" dirty="0" err="1">
                <a:solidFill>
                  <a:srgbClr val="62627D"/>
                </a:solidFill>
                <a:latin typeface="Calibri"/>
              </a:rPr>
              <a:t>trace_id</a:t>
            </a:r>
            <a:r>
              <a:rPr sz="1200" b="0" i="0" dirty="0">
                <a:solidFill>
                  <a:srgbClr val="62627D"/>
                </a:solidFill>
                <a:latin typeface="Calibri"/>
              </a:rPr>
              <a:t>.</a:t>
            </a:r>
          </a:p>
        </p:txBody>
      </p:sp>
      <p:sp>
        <p:nvSpPr>
          <p:cNvPr id="55" name="Rounded Rectangle 28">
            <a:extLst>
              <a:ext uri="{FF2B5EF4-FFF2-40B4-BE49-F238E27FC236}">
                <a16:creationId xmlns:a16="http://schemas.microsoft.com/office/drawing/2014/main" id="{340D074A-19A1-A29A-2E18-9437366EAA77}"/>
              </a:ext>
            </a:extLst>
          </p:cNvPr>
          <p:cNvSpPr/>
          <p:nvPr/>
        </p:nvSpPr>
        <p:spPr>
          <a:xfrm>
            <a:off x="4443984" y="3291840"/>
            <a:ext cx="3648456" cy="1359562"/>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Rounded Rectangle 29">
            <a:extLst>
              <a:ext uri="{FF2B5EF4-FFF2-40B4-BE49-F238E27FC236}">
                <a16:creationId xmlns:a16="http://schemas.microsoft.com/office/drawing/2014/main" id="{A11B44EE-BCDC-BE72-8BFB-C5506B467975}"/>
              </a:ext>
            </a:extLst>
          </p:cNvPr>
          <p:cNvSpPr/>
          <p:nvPr/>
        </p:nvSpPr>
        <p:spPr>
          <a:xfrm>
            <a:off x="4443984" y="3291840"/>
            <a:ext cx="3593592" cy="109728"/>
          </a:xfrm>
          <a:prstGeom prst="roundRect">
            <a:avLst>
              <a:gd name="adj" fmla="val 50000"/>
            </a:avLst>
          </a:prstGeom>
          <a:solidFill>
            <a:srgbClr val="0E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9" name="Oval 58">
            <a:extLst>
              <a:ext uri="{FF2B5EF4-FFF2-40B4-BE49-F238E27FC236}">
                <a16:creationId xmlns:a16="http://schemas.microsoft.com/office/drawing/2014/main" id="{902C4A2D-64D7-4524-E4BA-F48061400430}"/>
              </a:ext>
            </a:extLst>
          </p:cNvPr>
          <p:cNvSpPr/>
          <p:nvPr/>
        </p:nvSpPr>
        <p:spPr>
          <a:xfrm>
            <a:off x="4608576" y="3511296"/>
            <a:ext cx="457200" cy="457200"/>
          </a:xfrm>
          <a:prstGeom prst="ellipse">
            <a:avLst/>
          </a:prstGeom>
          <a:solidFill>
            <a:srgbClr val="0E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1" name="TextBox 60">
            <a:extLst>
              <a:ext uri="{FF2B5EF4-FFF2-40B4-BE49-F238E27FC236}">
                <a16:creationId xmlns:a16="http://schemas.microsoft.com/office/drawing/2014/main" id="{502AB45E-5DB1-64EA-C841-E3AE2E542996}"/>
              </a:ext>
            </a:extLst>
          </p:cNvPr>
          <p:cNvSpPr txBox="1"/>
          <p:nvPr/>
        </p:nvSpPr>
        <p:spPr>
          <a:xfrm>
            <a:off x="4608576" y="3601396"/>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5</a:t>
            </a:r>
          </a:p>
        </p:txBody>
      </p:sp>
      <p:sp>
        <p:nvSpPr>
          <p:cNvPr id="63" name="TextBox 62">
            <a:extLst>
              <a:ext uri="{FF2B5EF4-FFF2-40B4-BE49-F238E27FC236}">
                <a16:creationId xmlns:a16="http://schemas.microsoft.com/office/drawing/2014/main" id="{73880DC3-0B46-5B18-2100-80AA33D8374F}"/>
              </a:ext>
            </a:extLst>
          </p:cNvPr>
          <p:cNvSpPr txBox="1"/>
          <p:nvPr/>
        </p:nvSpPr>
        <p:spPr>
          <a:xfrm>
            <a:off x="5175504" y="3619254"/>
            <a:ext cx="2724912" cy="241285"/>
          </a:xfrm>
          <a:prstGeom prst="rect">
            <a:avLst/>
          </a:prstGeom>
          <a:noFill/>
        </p:spPr>
        <p:txBody>
          <a:bodyPr wrap="square" lIns="0" tIns="0" rIns="0" bIns="0" anchor="ctr">
            <a:spAutoFit/>
          </a:bodyPr>
          <a:lstStyle/>
          <a:p>
            <a:pPr algn="l">
              <a:lnSpc>
                <a:spcPct val="98000"/>
              </a:lnSpc>
              <a:spcBef>
                <a:spcPts val="0"/>
              </a:spcBef>
              <a:spcAft>
                <a:spcPts val="600"/>
              </a:spcAft>
            </a:pPr>
            <a:r>
              <a:rPr sz="1600" b="1" i="0" dirty="0">
                <a:solidFill>
                  <a:srgbClr val="13132B"/>
                </a:solidFill>
                <a:latin typeface="Calibri"/>
              </a:rPr>
              <a:t>New detail → refine (v1→v2)</a:t>
            </a:r>
          </a:p>
        </p:txBody>
      </p:sp>
      <p:sp>
        <p:nvSpPr>
          <p:cNvPr id="65" name="TextBox 64">
            <a:extLst>
              <a:ext uri="{FF2B5EF4-FFF2-40B4-BE49-F238E27FC236}">
                <a16:creationId xmlns:a16="http://schemas.microsoft.com/office/drawing/2014/main" id="{2BCBC43A-ACEB-E793-6F20-C520B1FDD4E9}"/>
              </a:ext>
            </a:extLst>
          </p:cNvPr>
          <p:cNvSpPr txBox="1"/>
          <p:nvPr/>
        </p:nvSpPr>
        <p:spPr>
          <a:xfrm>
            <a:off x="4626864" y="4005072"/>
            <a:ext cx="3227832" cy="369332"/>
          </a:xfrm>
          <a:prstGeom prst="rect">
            <a:avLst/>
          </a:prstGeom>
          <a:noFill/>
        </p:spPr>
        <p:txBody>
          <a:bodyPr wrap="square" lIns="0" tIns="0" rIns="0" bIns="0" anchor="t">
            <a:spAutoFit/>
          </a:bodyPr>
          <a:lstStyle/>
          <a:p>
            <a:pPr algn="l">
              <a:lnSpc>
                <a:spcPct val="100000"/>
              </a:lnSpc>
              <a:spcBef>
                <a:spcPts val="0"/>
              </a:spcBef>
              <a:spcAft>
                <a:spcPts val="600"/>
              </a:spcAft>
            </a:pPr>
            <a:r>
              <a:rPr sz="1200" b="0" i="0" dirty="0">
                <a:solidFill>
                  <a:srgbClr val="62627D"/>
                </a:solidFill>
                <a:latin typeface="Calibri"/>
              </a:rPr>
              <a:t>User adds a constraint. Only touched claims change; a v1→v2 diff is shown — no re-search.</a:t>
            </a:r>
          </a:p>
        </p:txBody>
      </p:sp>
      <p:sp>
        <p:nvSpPr>
          <p:cNvPr id="67" name="Rounded Rectangle 34">
            <a:extLst>
              <a:ext uri="{FF2B5EF4-FFF2-40B4-BE49-F238E27FC236}">
                <a16:creationId xmlns:a16="http://schemas.microsoft.com/office/drawing/2014/main" id="{D3B32A35-DB99-8C11-EF4A-3EE724BE4D42}"/>
              </a:ext>
            </a:extLst>
          </p:cNvPr>
          <p:cNvSpPr/>
          <p:nvPr/>
        </p:nvSpPr>
        <p:spPr>
          <a:xfrm>
            <a:off x="8202168" y="3291840"/>
            <a:ext cx="3602736" cy="1359562"/>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9" name="Rounded Rectangle 35">
            <a:extLst>
              <a:ext uri="{FF2B5EF4-FFF2-40B4-BE49-F238E27FC236}">
                <a16:creationId xmlns:a16="http://schemas.microsoft.com/office/drawing/2014/main" id="{ACF5B534-8E5A-27D6-FE6C-FC91C7E56555}"/>
              </a:ext>
            </a:extLst>
          </p:cNvPr>
          <p:cNvSpPr/>
          <p:nvPr/>
        </p:nvSpPr>
        <p:spPr>
          <a:xfrm>
            <a:off x="8202168" y="3291840"/>
            <a:ext cx="3593592" cy="109728"/>
          </a:xfrm>
          <a:prstGeom prst="roundRect">
            <a:avLst>
              <a:gd name="adj" fmla="val 5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1" name="Oval 70">
            <a:extLst>
              <a:ext uri="{FF2B5EF4-FFF2-40B4-BE49-F238E27FC236}">
                <a16:creationId xmlns:a16="http://schemas.microsoft.com/office/drawing/2014/main" id="{D9075671-B683-9D79-480D-20CA0F2C197E}"/>
              </a:ext>
            </a:extLst>
          </p:cNvPr>
          <p:cNvSpPr/>
          <p:nvPr/>
        </p:nvSpPr>
        <p:spPr>
          <a:xfrm>
            <a:off x="8366760" y="3511296"/>
            <a:ext cx="457200" cy="45720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3" name="TextBox 72">
            <a:extLst>
              <a:ext uri="{FF2B5EF4-FFF2-40B4-BE49-F238E27FC236}">
                <a16:creationId xmlns:a16="http://schemas.microsoft.com/office/drawing/2014/main" id="{5A130079-3577-AAC3-D760-E996ACF8E86F}"/>
              </a:ext>
            </a:extLst>
          </p:cNvPr>
          <p:cNvSpPr txBox="1"/>
          <p:nvPr/>
        </p:nvSpPr>
        <p:spPr>
          <a:xfrm>
            <a:off x="8366760" y="3601396"/>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6</a:t>
            </a:r>
          </a:p>
        </p:txBody>
      </p:sp>
      <p:sp>
        <p:nvSpPr>
          <p:cNvPr id="75" name="TextBox 74">
            <a:extLst>
              <a:ext uri="{FF2B5EF4-FFF2-40B4-BE49-F238E27FC236}">
                <a16:creationId xmlns:a16="http://schemas.microsoft.com/office/drawing/2014/main" id="{F172AB4A-D8BF-F299-FF7B-61501389BB42}"/>
              </a:ext>
            </a:extLst>
          </p:cNvPr>
          <p:cNvSpPr txBox="1"/>
          <p:nvPr/>
        </p:nvSpPr>
        <p:spPr>
          <a:xfrm>
            <a:off x="8933688" y="3619254"/>
            <a:ext cx="2724912" cy="241285"/>
          </a:xfrm>
          <a:prstGeom prst="rect">
            <a:avLst/>
          </a:prstGeom>
          <a:noFill/>
        </p:spPr>
        <p:txBody>
          <a:bodyPr wrap="square" lIns="0" tIns="0" rIns="0" bIns="0" anchor="ctr">
            <a:spAutoFit/>
          </a:bodyPr>
          <a:lstStyle/>
          <a:p>
            <a:pPr algn="l">
              <a:lnSpc>
                <a:spcPct val="98000"/>
              </a:lnSpc>
              <a:spcBef>
                <a:spcPts val="0"/>
              </a:spcBef>
              <a:spcAft>
                <a:spcPts val="600"/>
              </a:spcAft>
            </a:pPr>
            <a:r>
              <a:rPr sz="1600" b="1" i="0">
                <a:solidFill>
                  <a:srgbClr val="13132B"/>
                </a:solidFill>
                <a:latin typeface="Calibri"/>
              </a:rPr>
              <a:t>Chit-chat → 0 retrievals</a:t>
            </a:r>
          </a:p>
        </p:txBody>
      </p:sp>
      <p:sp>
        <p:nvSpPr>
          <p:cNvPr id="77" name="TextBox 76">
            <a:extLst>
              <a:ext uri="{FF2B5EF4-FFF2-40B4-BE49-F238E27FC236}">
                <a16:creationId xmlns:a16="http://schemas.microsoft.com/office/drawing/2014/main" id="{7AB4EBC1-4E7B-425D-05BC-2F88B0E8A48A}"/>
              </a:ext>
            </a:extLst>
          </p:cNvPr>
          <p:cNvSpPr txBox="1"/>
          <p:nvPr/>
        </p:nvSpPr>
        <p:spPr>
          <a:xfrm>
            <a:off x="8385048" y="4005072"/>
            <a:ext cx="3227832" cy="369332"/>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62627D"/>
                </a:solidFill>
                <a:latin typeface="Calibri"/>
              </a:rPr>
              <a:t>A small-talk line is SUPPRESSED — the “0 retrievals” moment proves we don't search blindly.</a:t>
            </a:r>
          </a:p>
        </p:txBody>
      </p:sp>
      <p:sp>
        <p:nvSpPr>
          <p:cNvPr id="79" name="Rounded Rectangle 40">
            <a:extLst>
              <a:ext uri="{FF2B5EF4-FFF2-40B4-BE49-F238E27FC236}">
                <a16:creationId xmlns:a16="http://schemas.microsoft.com/office/drawing/2014/main" id="{E86A6FF1-1D0E-7829-6BBE-CF4CED956091}"/>
              </a:ext>
            </a:extLst>
          </p:cNvPr>
          <p:cNvSpPr/>
          <p:nvPr/>
        </p:nvSpPr>
        <p:spPr>
          <a:xfrm>
            <a:off x="685800" y="5120640"/>
            <a:ext cx="11183112" cy="1097280"/>
          </a:xfrm>
          <a:prstGeom prst="roundRect">
            <a:avLst>
              <a:gd name="adj" fmla="val 6000"/>
            </a:avLst>
          </a:prstGeom>
          <a:solidFill>
            <a:srgbClr val="13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1" name="TextBox 80">
            <a:extLst>
              <a:ext uri="{FF2B5EF4-FFF2-40B4-BE49-F238E27FC236}">
                <a16:creationId xmlns:a16="http://schemas.microsoft.com/office/drawing/2014/main" id="{9C0D0856-FB94-B344-3DCC-F2FC35C1C1E6}"/>
              </a:ext>
            </a:extLst>
          </p:cNvPr>
          <p:cNvSpPr txBox="1"/>
          <p:nvPr/>
        </p:nvSpPr>
        <p:spPr>
          <a:xfrm>
            <a:off x="896112" y="5230368"/>
            <a:ext cx="10972800" cy="246221"/>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B9A6F0"/>
                </a:solidFill>
                <a:latin typeface="Calibri"/>
              </a:rPr>
              <a:t>What the Streamlit UI shows on screen</a:t>
            </a:r>
          </a:p>
        </p:txBody>
      </p:sp>
      <p:sp>
        <p:nvSpPr>
          <p:cNvPr id="83" name="Rounded Rectangle 42">
            <a:extLst>
              <a:ext uri="{FF2B5EF4-FFF2-40B4-BE49-F238E27FC236}">
                <a16:creationId xmlns:a16="http://schemas.microsoft.com/office/drawing/2014/main" id="{28C6AA41-89EE-7E16-E3B0-56183029FEE9}"/>
              </a:ext>
            </a:extLst>
          </p:cNvPr>
          <p:cNvSpPr/>
          <p:nvPr/>
        </p:nvSpPr>
        <p:spPr>
          <a:xfrm>
            <a:off x="896112" y="5596128"/>
            <a:ext cx="1764792" cy="475488"/>
          </a:xfrm>
          <a:prstGeom prst="roundRect">
            <a:avLst>
              <a:gd name="adj" fmla="val 50000"/>
            </a:avLst>
          </a:prstGeom>
          <a:solidFill>
            <a:srgbClr val="2A2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5" name="TextBox 84">
            <a:extLst>
              <a:ext uri="{FF2B5EF4-FFF2-40B4-BE49-F238E27FC236}">
                <a16:creationId xmlns:a16="http://schemas.microsoft.com/office/drawing/2014/main" id="{0A7FCDEC-5C66-B1FC-D01A-992AF3F32EE0}"/>
              </a:ext>
            </a:extLst>
          </p:cNvPr>
          <p:cNvSpPr txBox="1"/>
          <p:nvPr/>
        </p:nvSpPr>
        <p:spPr>
          <a:xfrm>
            <a:off x="896112" y="5749233"/>
            <a:ext cx="1764792" cy="169277"/>
          </a:xfrm>
          <a:prstGeom prst="rect">
            <a:avLst/>
          </a:prstGeom>
          <a:noFill/>
        </p:spPr>
        <p:txBody>
          <a:bodyPr wrap="square" lIns="0" tIns="0" rIns="0" bIns="0" anchor="ctr">
            <a:spAutoFit/>
          </a:bodyPr>
          <a:lstStyle/>
          <a:p>
            <a:pPr algn="ctr">
              <a:lnSpc>
                <a:spcPct val="100000"/>
              </a:lnSpc>
              <a:spcBef>
                <a:spcPts val="0"/>
              </a:spcBef>
              <a:spcAft>
                <a:spcPts val="600"/>
              </a:spcAft>
            </a:pPr>
            <a:r>
              <a:rPr sz="1100" b="1" i="0" dirty="0">
                <a:solidFill>
                  <a:srgbClr val="FFFFFF"/>
                </a:solidFill>
                <a:latin typeface="Calibri"/>
              </a:rPr>
              <a:t>Transcript stream</a:t>
            </a:r>
          </a:p>
        </p:txBody>
      </p:sp>
      <p:sp>
        <p:nvSpPr>
          <p:cNvPr id="87" name="Rounded Rectangle 44">
            <a:extLst>
              <a:ext uri="{FF2B5EF4-FFF2-40B4-BE49-F238E27FC236}">
                <a16:creationId xmlns:a16="http://schemas.microsoft.com/office/drawing/2014/main" id="{3B33FD5E-E48A-368C-F200-3946C398E4BE}"/>
              </a:ext>
            </a:extLst>
          </p:cNvPr>
          <p:cNvSpPr/>
          <p:nvPr/>
        </p:nvSpPr>
        <p:spPr>
          <a:xfrm>
            <a:off x="2724912" y="5596128"/>
            <a:ext cx="1764792" cy="475488"/>
          </a:xfrm>
          <a:prstGeom prst="roundRect">
            <a:avLst>
              <a:gd name="adj" fmla="val 50000"/>
            </a:avLst>
          </a:prstGeom>
          <a:solidFill>
            <a:srgbClr val="2A2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9" name="TextBox 88">
            <a:extLst>
              <a:ext uri="{FF2B5EF4-FFF2-40B4-BE49-F238E27FC236}">
                <a16:creationId xmlns:a16="http://schemas.microsoft.com/office/drawing/2014/main" id="{3043076E-45C4-721B-CC57-2C29029D34F9}"/>
              </a:ext>
            </a:extLst>
          </p:cNvPr>
          <p:cNvSpPr txBox="1"/>
          <p:nvPr/>
        </p:nvSpPr>
        <p:spPr>
          <a:xfrm>
            <a:off x="2724912" y="5749233"/>
            <a:ext cx="1764792" cy="169277"/>
          </a:xfrm>
          <a:prstGeom prst="rect">
            <a:avLst/>
          </a:prstGeom>
          <a:noFill/>
        </p:spPr>
        <p:txBody>
          <a:bodyPr wrap="square" lIns="0" tIns="0" rIns="0" bIns="0" anchor="ctr">
            <a:spAutoFit/>
          </a:bodyPr>
          <a:lstStyle/>
          <a:p>
            <a:pPr algn="ctr">
              <a:lnSpc>
                <a:spcPct val="100000"/>
              </a:lnSpc>
              <a:spcBef>
                <a:spcPts val="0"/>
              </a:spcBef>
              <a:spcAft>
                <a:spcPts val="600"/>
              </a:spcAft>
            </a:pPr>
            <a:r>
              <a:rPr sz="1100" b="1" i="0">
                <a:solidFill>
                  <a:srgbClr val="FFFFFF"/>
                </a:solidFill>
                <a:latin typeface="Calibri"/>
              </a:rPr>
              <a:t>Controller decision</a:t>
            </a:r>
          </a:p>
        </p:txBody>
      </p:sp>
      <p:sp>
        <p:nvSpPr>
          <p:cNvPr id="91" name="Rounded Rectangle 46">
            <a:extLst>
              <a:ext uri="{FF2B5EF4-FFF2-40B4-BE49-F238E27FC236}">
                <a16:creationId xmlns:a16="http://schemas.microsoft.com/office/drawing/2014/main" id="{9B9DBBA2-A3BA-DAE1-5243-73DAE951FFCC}"/>
              </a:ext>
            </a:extLst>
          </p:cNvPr>
          <p:cNvSpPr/>
          <p:nvPr/>
        </p:nvSpPr>
        <p:spPr>
          <a:xfrm>
            <a:off x="4553712" y="5596128"/>
            <a:ext cx="1764792" cy="475488"/>
          </a:xfrm>
          <a:prstGeom prst="roundRect">
            <a:avLst>
              <a:gd name="adj" fmla="val 50000"/>
            </a:avLst>
          </a:prstGeom>
          <a:solidFill>
            <a:srgbClr val="2A2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3" name="TextBox 92">
            <a:extLst>
              <a:ext uri="{FF2B5EF4-FFF2-40B4-BE49-F238E27FC236}">
                <a16:creationId xmlns:a16="http://schemas.microsoft.com/office/drawing/2014/main" id="{4E95E7F2-FD8A-6103-A391-F7DB8A9039F5}"/>
              </a:ext>
            </a:extLst>
          </p:cNvPr>
          <p:cNvSpPr txBox="1"/>
          <p:nvPr/>
        </p:nvSpPr>
        <p:spPr>
          <a:xfrm>
            <a:off x="4553712" y="5749233"/>
            <a:ext cx="1764792" cy="169277"/>
          </a:xfrm>
          <a:prstGeom prst="rect">
            <a:avLst/>
          </a:prstGeom>
          <a:noFill/>
        </p:spPr>
        <p:txBody>
          <a:bodyPr wrap="square" lIns="0" tIns="0" rIns="0" bIns="0" anchor="ctr">
            <a:spAutoFit/>
          </a:bodyPr>
          <a:lstStyle/>
          <a:p>
            <a:pPr algn="ctr">
              <a:lnSpc>
                <a:spcPct val="100000"/>
              </a:lnSpc>
              <a:spcBef>
                <a:spcPts val="0"/>
              </a:spcBef>
              <a:spcAft>
                <a:spcPts val="600"/>
              </a:spcAft>
            </a:pPr>
            <a:r>
              <a:rPr sz="1100" b="1" i="0">
                <a:solidFill>
                  <a:srgbClr val="FFFFFF"/>
                </a:solidFill>
                <a:latin typeface="Calibri"/>
              </a:rPr>
              <a:t>Sub-queries</a:t>
            </a:r>
          </a:p>
        </p:txBody>
      </p:sp>
      <p:sp>
        <p:nvSpPr>
          <p:cNvPr id="95" name="Rounded Rectangle 48">
            <a:extLst>
              <a:ext uri="{FF2B5EF4-FFF2-40B4-BE49-F238E27FC236}">
                <a16:creationId xmlns:a16="http://schemas.microsoft.com/office/drawing/2014/main" id="{1000FC04-C22E-73D3-08E2-D77275EA5A34}"/>
              </a:ext>
            </a:extLst>
          </p:cNvPr>
          <p:cNvSpPr/>
          <p:nvPr/>
        </p:nvSpPr>
        <p:spPr>
          <a:xfrm>
            <a:off x="6382512" y="5596128"/>
            <a:ext cx="1764792" cy="475488"/>
          </a:xfrm>
          <a:prstGeom prst="roundRect">
            <a:avLst>
              <a:gd name="adj" fmla="val 50000"/>
            </a:avLst>
          </a:prstGeom>
          <a:solidFill>
            <a:srgbClr val="2A2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7" name="TextBox 96">
            <a:extLst>
              <a:ext uri="{FF2B5EF4-FFF2-40B4-BE49-F238E27FC236}">
                <a16:creationId xmlns:a16="http://schemas.microsoft.com/office/drawing/2014/main" id="{C72A61CD-4E22-0C64-53FA-C556D34BE6B7}"/>
              </a:ext>
            </a:extLst>
          </p:cNvPr>
          <p:cNvSpPr txBox="1"/>
          <p:nvPr/>
        </p:nvSpPr>
        <p:spPr>
          <a:xfrm>
            <a:off x="6382512" y="5749233"/>
            <a:ext cx="1764792" cy="169277"/>
          </a:xfrm>
          <a:prstGeom prst="rect">
            <a:avLst/>
          </a:prstGeom>
          <a:noFill/>
        </p:spPr>
        <p:txBody>
          <a:bodyPr wrap="square" lIns="0" tIns="0" rIns="0" bIns="0" anchor="ctr">
            <a:spAutoFit/>
          </a:bodyPr>
          <a:lstStyle/>
          <a:p>
            <a:pPr algn="ctr">
              <a:lnSpc>
                <a:spcPct val="100000"/>
              </a:lnSpc>
              <a:spcBef>
                <a:spcPts val="0"/>
              </a:spcBef>
              <a:spcAft>
                <a:spcPts val="600"/>
              </a:spcAft>
            </a:pPr>
            <a:r>
              <a:rPr sz="1100" b="1" i="0">
                <a:solidFill>
                  <a:srgbClr val="FFFFFF"/>
                </a:solidFill>
                <a:latin typeface="Calibri"/>
              </a:rPr>
              <a:t>Evidence + IDs</a:t>
            </a:r>
          </a:p>
        </p:txBody>
      </p:sp>
      <p:sp>
        <p:nvSpPr>
          <p:cNvPr id="99" name="Rounded Rectangle 50">
            <a:extLst>
              <a:ext uri="{FF2B5EF4-FFF2-40B4-BE49-F238E27FC236}">
                <a16:creationId xmlns:a16="http://schemas.microsoft.com/office/drawing/2014/main" id="{6ADB5088-8B34-5E7E-F565-782BC8F7A27B}"/>
              </a:ext>
            </a:extLst>
          </p:cNvPr>
          <p:cNvSpPr/>
          <p:nvPr/>
        </p:nvSpPr>
        <p:spPr>
          <a:xfrm>
            <a:off x="8211312" y="5596128"/>
            <a:ext cx="1764792" cy="475488"/>
          </a:xfrm>
          <a:prstGeom prst="roundRect">
            <a:avLst>
              <a:gd name="adj" fmla="val 50000"/>
            </a:avLst>
          </a:prstGeom>
          <a:solidFill>
            <a:srgbClr val="2A2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1" name="TextBox 100">
            <a:extLst>
              <a:ext uri="{FF2B5EF4-FFF2-40B4-BE49-F238E27FC236}">
                <a16:creationId xmlns:a16="http://schemas.microsoft.com/office/drawing/2014/main" id="{40DFFE0D-0752-6BF0-7446-04AC4AF7E539}"/>
              </a:ext>
            </a:extLst>
          </p:cNvPr>
          <p:cNvSpPr txBox="1"/>
          <p:nvPr/>
        </p:nvSpPr>
        <p:spPr>
          <a:xfrm>
            <a:off x="8211312" y="5749233"/>
            <a:ext cx="1764792" cy="169277"/>
          </a:xfrm>
          <a:prstGeom prst="rect">
            <a:avLst/>
          </a:prstGeom>
          <a:noFill/>
        </p:spPr>
        <p:txBody>
          <a:bodyPr wrap="square" lIns="0" tIns="0" rIns="0" bIns="0" anchor="ctr">
            <a:spAutoFit/>
          </a:bodyPr>
          <a:lstStyle/>
          <a:p>
            <a:pPr algn="ctr">
              <a:lnSpc>
                <a:spcPct val="100000"/>
              </a:lnSpc>
              <a:spcBef>
                <a:spcPts val="0"/>
              </a:spcBef>
              <a:spcAft>
                <a:spcPts val="600"/>
              </a:spcAft>
            </a:pPr>
            <a:r>
              <a:rPr sz="1100" b="1" i="0">
                <a:solidFill>
                  <a:srgbClr val="FFFFFF"/>
                </a:solidFill>
                <a:latin typeface="Calibri"/>
              </a:rPr>
              <a:t>Claim graph (v1→v2)</a:t>
            </a:r>
          </a:p>
        </p:txBody>
      </p:sp>
      <p:sp>
        <p:nvSpPr>
          <p:cNvPr id="103" name="Rounded Rectangle 52">
            <a:extLst>
              <a:ext uri="{FF2B5EF4-FFF2-40B4-BE49-F238E27FC236}">
                <a16:creationId xmlns:a16="http://schemas.microsoft.com/office/drawing/2014/main" id="{06244290-849C-FC92-FEC9-6D9C0AC9ABBA}"/>
              </a:ext>
            </a:extLst>
          </p:cNvPr>
          <p:cNvSpPr/>
          <p:nvPr/>
        </p:nvSpPr>
        <p:spPr>
          <a:xfrm>
            <a:off x="10040112" y="5596128"/>
            <a:ext cx="1764792" cy="475488"/>
          </a:xfrm>
          <a:prstGeom prst="roundRect">
            <a:avLst>
              <a:gd name="adj" fmla="val 50000"/>
            </a:avLst>
          </a:prstGeom>
          <a:solidFill>
            <a:srgbClr val="2A2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5" name="TextBox 104">
            <a:extLst>
              <a:ext uri="{FF2B5EF4-FFF2-40B4-BE49-F238E27FC236}">
                <a16:creationId xmlns:a16="http://schemas.microsoft.com/office/drawing/2014/main" id="{96FDB941-C0AA-FEEE-1686-81C18FCD3739}"/>
              </a:ext>
            </a:extLst>
          </p:cNvPr>
          <p:cNvSpPr txBox="1"/>
          <p:nvPr/>
        </p:nvSpPr>
        <p:spPr>
          <a:xfrm>
            <a:off x="10040112" y="5749233"/>
            <a:ext cx="1764792" cy="169277"/>
          </a:xfrm>
          <a:prstGeom prst="rect">
            <a:avLst/>
          </a:prstGeom>
          <a:noFill/>
        </p:spPr>
        <p:txBody>
          <a:bodyPr wrap="square" lIns="0" tIns="0" rIns="0" bIns="0" anchor="ctr">
            <a:spAutoFit/>
          </a:bodyPr>
          <a:lstStyle/>
          <a:p>
            <a:pPr algn="ctr">
              <a:lnSpc>
                <a:spcPct val="100000"/>
              </a:lnSpc>
              <a:spcBef>
                <a:spcPts val="0"/>
              </a:spcBef>
              <a:spcAft>
                <a:spcPts val="600"/>
              </a:spcAft>
            </a:pPr>
            <a:r>
              <a:rPr sz="1100" b="1" i="0">
                <a:solidFill>
                  <a:srgbClr val="FFFFFF"/>
                </a:solidFill>
                <a:latin typeface="Calibri"/>
              </a:rPr>
              <a:t>Telemetry timeline</a:t>
            </a:r>
          </a:p>
        </p:txBody>
      </p:sp>
    </p:spTree>
    <p:extLst>
      <p:ext uri="{BB962C8B-B14F-4D97-AF65-F5344CB8AC3E}">
        <p14:creationId xmlns:p14="http://schemas.microsoft.com/office/powerpoint/2010/main" val="117824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5" name="Rounded Rectangle 3">
            <a:extLst>
              <a:ext uri="{FF2B5EF4-FFF2-40B4-BE49-F238E27FC236}">
                <a16:creationId xmlns:a16="http://schemas.microsoft.com/office/drawing/2014/main" id="{B46630F9-50C0-4643-0A01-93777738516D}"/>
              </a:ext>
            </a:extLst>
          </p:cNvPr>
          <p:cNvSpPr/>
          <p:nvPr/>
        </p:nvSpPr>
        <p:spPr>
          <a:xfrm>
            <a:off x="685800" y="1417320"/>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Rounded Rectangle 4">
            <a:extLst>
              <a:ext uri="{FF2B5EF4-FFF2-40B4-BE49-F238E27FC236}">
                <a16:creationId xmlns:a16="http://schemas.microsoft.com/office/drawing/2014/main" id="{980B5412-ED32-F73C-4C75-4BF3EE1E0179}"/>
              </a:ext>
            </a:extLst>
          </p:cNvPr>
          <p:cNvSpPr/>
          <p:nvPr/>
        </p:nvSpPr>
        <p:spPr>
          <a:xfrm>
            <a:off x="685800" y="1417320"/>
            <a:ext cx="118872" cy="1152144"/>
          </a:xfrm>
          <a:prstGeom prst="roundRect">
            <a:avLst>
              <a:gd name="adj" fmla="val 50000"/>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a:extLst>
              <a:ext uri="{FF2B5EF4-FFF2-40B4-BE49-F238E27FC236}">
                <a16:creationId xmlns:a16="http://schemas.microsoft.com/office/drawing/2014/main" id="{B612FDB0-265A-F3EC-1693-75335A0B3CBD}"/>
              </a:ext>
            </a:extLst>
          </p:cNvPr>
          <p:cNvSpPr txBox="1"/>
          <p:nvPr/>
        </p:nvSpPr>
        <p:spPr>
          <a:xfrm>
            <a:off x="941832" y="1527048"/>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a:solidFill>
                  <a:srgbClr val="4FB09C"/>
                </a:solidFill>
                <a:latin typeface="Calibri"/>
              </a:rPr>
              <a:t>VECTOR DB</a:t>
            </a:r>
          </a:p>
        </p:txBody>
      </p:sp>
      <p:sp>
        <p:nvSpPr>
          <p:cNvPr id="11" name="TextBox 10">
            <a:extLst>
              <a:ext uri="{FF2B5EF4-FFF2-40B4-BE49-F238E27FC236}">
                <a16:creationId xmlns:a16="http://schemas.microsoft.com/office/drawing/2014/main" id="{8ADEA6EB-B137-7E72-276A-EF3D2BD52C4F}"/>
              </a:ext>
            </a:extLst>
          </p:cNvPr>
          <p:cNvSpPr txBox="1"/>
          <p:nvPr/>
        </p:nvSpPr>
        <p:spPr>
          <a:xfrm>
            <a:off x="941832" y="1801368"/>
            <a:ext cx="3182112" cy="233910"/>
          </a:xfrm>
          <a:prstGeom prst="rect">
            <a:avLst/>
          </a:prstGeom>
          <a:noFill/>
        </p:spPr>
        <p:txBody>
          <a:bodyPr wrap="square" lIns="0" tIns="0" rIns="0" bIns="0" anchor="t">
            <a:spAutoFit/>
          </a:bodyPr>
          <a:lstStyle/>
          <a:p>
            <a:pPr algn="l">
              <a:lnSpc>
                <a:spcPct val="95000"/>
              </a:lnSpc>
              <a:spcBef>
                <a:spcPts val="0"/>
              </a:spcBef>
              <a:spcAft>
                <a:spcPts val="600"/>
              </a:spcAft>
            </a:pPr>
            <a:r>
              <a:rPr sz="1600" b="1" i="0" dirty="0" err="1">
                <a:solidFill>
                  <a:srgbClr val="13132B"/>
                </a:solidFill>
                <a:latin typeface="Calibri"/>
              </a:rPr>
              <a:t>Qdrant</a:t>
            </a:r>
            <a:r>
              <a:rPr sz="1600" b="1" i="0" dirty="0">
                <a:solidFill>
                  <a:srgbClr val="13132B"/>
                </a:solidFill>
                <a:latin typeface="Calibri"/>
              </a:rPr>
              <a:t> </a:t>
            </a:r>
          </a:p>
        </p:txBody>
      </p:sp>
      <p:sp>
        <p:nvSpPr>
          <p:cNvPr id="13" name="TextBox 12">
            <a:extLst>
              <a:ext uri="{FF2B5EF4-FFF2-40B4-BE49-F238E27FC236}">
                <a16:creationId xmlns:a16="http://schemas.microsoft.com/office/drawing/2014/main" id="{5EC4E238-C146-A4AD-C1F1-1FD85667D2C8}"/>
              </a:ext>
            </a:extLst>
          </p:cNvPr>
          <p:cNvSpPr txBox="1"/>
          <p:nvPr/>
        </p:nvSpPr>
        <p:spPr>
          <a:xfrm>
            <a:off x="941832" y="2185416"/>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a:solidFill>
                  <a:srgbClr val="62627D"/>
                </a:solidFill>
                <a:latin typeface="Calibri"/>
              </a:rPr>
              <a:t>Dense (+sparse) search · Docker, self-hosted</a:t>
            </a:r>
          </a:p>
        </p:txBody>
      </p:sp>
      <p:sp>
        <p:nvSpPr>
          <p:cNvPr id="15" name="Rounded Rectangle 8">
            <a:extLst>
              <a:ext uri="{FF2B5EF4-FFF2-40B4-BE49-F238E27FC236}">
                <a16:creationId xmlns:a16="http://schemas.microsoft.com/office/drawing/2014/main" id="{78C7B426-26C3-92C2-F8A8-93CC1D4D2FFE}"/>
              </a:ext>
            </a:extLst>
          </p:cNvPr>
          <p:cNvSpPr/>
          <p:nvPr/>
        </p:nvSpPr>
        <p:spPr>
          <a:xfrm>
            <a:off x="4425696" y="1417320"/>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Rounded Rectangle 9">
            <a:extLst>
              <a:ext uri="{FF2B5EF4-FFF2-40B4-BE49-F238E27FC236}">
                <a16:creationId xmlns:a16="http://schemas.microsoft.com/office/drawing/2014/main" id="{D0C79399-D113-3E23-014A-9AB5F51D0A77}"/>
              </a:ext>
            </a:extLst>
          </p:cNvPr>
          <p:cNvSpPr/>
          <p:nvPr/>
        </p:nvSpPr>
        <p:spPr>
          <a:xfrm>
            <a:off x="4425696" y="1417320"/>
            <a:ext cx="118872" cy="1152144"/>
          </a:xfrm>
          <a:prstGeom prst="roundRect">
            <a:avLst>
              <a:gd name="adj" fmla="val 50000"/>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a:extLst>
              <a:ext uri="{FF2B5EF4-FFF2-40B4-BE49-F238E27FC236}">
                <a16:creationId xmlns:a16="http://schemas.microsoft.com/office/drawing/2014/main" id="{4FC044AB-130F-A5A4-2A02-05323B05CF2E}"/>
              </a:ext>
            </a:extLst>
          </p:cNvPr>
          <p:cNvSpPr txBox="1"/>
          <p:nvPr/>
        </p:nvSpPr>
        <p:spPr>
          <a:xfrm>
            <a:off x="4681728" y="1527048"/>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a:solidFill>
                  <a:srgbClr val="3865E6"/>
                </a:solidFill>
                <a:latin typeface="Calibri"/>
              </a:rPr>
              <a:t>EMBEDDINGS</a:t>
            </a:r>
          </a:p>
        </p:txBody>
      </p:sp>
      <p:sp>
        <p:nvSpPr>
          <p:cNvPr id="21" name="TextBox 20">
            <a:extLst>
              <a:ext uri="{FF2B5EF4-FFF2-40B4-BE49-F238E27FC236}">
                <a16:creationId xmlns:a16="http://schemas.microsoft.com/office/drawing/2014/main" id="{042ACD0B-9DD3-AFC0-1BD6-08B29A70FF42}"/>
              </a:ext>
            </a:extLst>
          </p:cNvPr>
          <p:cNvSpPr txBox="1"/>
          <p:nvPr/>
        </p:nvSpPr>
        <p:spPr>
          <a:xfrm>
            <a:off x="4681728" y="1801368"/>
            <a:ext cx="3182112" cy="233910"/>
          </a:xfrm>
          <a:prstGeom prst="rect">
            <a:avLst/>
          </a:prstGeom>
          <a:noFill/>
        </p:spPr>
        <p:txBody>
          <a:bodyPr wrap="square" lIns="0" tIns="0" rIns="0" bIns="0" anchor="t">
            <a:spAutoFit/>
          </a:bodyPr>
          <a:lstStyle/>
          <a:p>
            <a:pPr algn="l">
              <a:lnSpc>
                <a:spcPct val="95000"/>
              </a:lnSpc>
              <a:spcBef>
                <a:spcPts val="0"/>
              </a:spcBef>
              <a:spcAft>
                <a:spcPts val="600"/>
              </a:spcAft>
            </a:pPr>
            <a:r>
              <a:rPr sz="1600" b="1" i="0" dirty="0">
                <a:solidFill>
                  <a:srgbClr val="13132B"/>
                </a:solidFill>
                <a:latin typeface="Calibri"/>
              </a:rPr>
              <a:t>BGE-small-en-v1.5 </a:t>
            </a:r>
          </a:p>
        </p:txBody>
      </p:sp>
      <p:sp>
        <p:nvSpPr>
          <p:cNvPr id="23" name="TextBox 22">
            <a:extLst>
              <a:ext uri="{FF2B5EF4-FFF2-40B4-BE49-F238E27FC236}">
                <a16:creationId xmlns:a16="http://schemas.microsoft.com/office/drawing/2014/main" id="{06CF3DA4-604D-3AAC-4BF1-AE46A7F1E094}"/>
              </a:ext>
            </a:extLst>
          </p:cNvPr>
          <p:cNvSpPr txBox="1"/>
          <p:nvPr/>
        </p:nvSpPr>
        <p:spPr>
          <a:xfrm>
            <a:off x="4681728" y="2185416"/>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a:solidFill>
                  <a:srgbClr val="62627D"/>
                </a:solidFill>
                <a:latin typeface="Calibri"/>
              </a:rPr>
              <a:t>Local, no API key · CPU-friendly</a:t>
            </a:r>
          </a:p>
        </p:txBody>
      </p:sp>
      <p:sp>
        <p:nvSpPr>
          <p:cNvPr id="25" name="Rounded Rectangle 13">
            <a:extLst>
              <a:ext uri="{FF2B5EF4-FFF2-40B4-BE49-F238E27FC236}">
                <a16:creationId xmlns:a16="http://schemas.microsoft.com/office/drawing/2014/main" id="{1C5E4DD9-9FE0-6373-B236-7E26FCDEC6EE}"/>
              </a:ext>
            </a:extLst>
          </p:cNvPr>
          <p:cNvSpPr/>
          <p:nvPr/>
        </p:nvSpPr>
        <p:spPr>
          <a:xfrm>
            <a:off x="8165592" y="1417320"/>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Rounded Rectangle 14">
            <a:extLst>
              <a:ext uri="{FF2B5EF4-FFF2-40B4-BE49-F238E27FC236}">
                <a16:creationId xmlns:a16="http://schemas.microsoft.com/office/drawing/2014/main" id="{A9AE1320-53F8-C6FB-599D-91F06E62822F}"/>
              </a:ext>
            </a:extLst>
          </p:cNvPr>
          <p:cNvSpPr/>
          <p:nvPr/>
        </p:nvSpPr>
        <p:spPr>
          <a:xfrm>
            <a:off x="8165592" y="1417320"/>
            <a:ext cx="118872" cy="1152144"/>
          </a:xfrm>
          <a:prstGeom prst="roundRect">
            <a:avLst>
              <a:gd name="adj" fmla="val 50000"/>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a:extLst>
              <a:ext uri="{FF2B5EF4-FFF2-40B4-BE49-F238E27FC236}">
                <a16:creationId xmlns:a16="http://schemas.microsoft.com/office/drawing/2014/main" id="{18692056-DB4C-C0BB-90F0-A6A4CDE31467}"/>
              </a:ext>
            </a:extLst>
          </p:cNvPr>
          <p:cNvSpPr txBox="1"/>
          <p:nvPr/>
        </p:nvSpPr>
        <p:spPr>
          <a:xfrm>
            <a:off x="8421624" y="1527048"/>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a:solidFill>
                  <a:srgbClr val="3865E6"/>
                </a:solidFill>
                <a:latin typeface="Calibri"/>
              </a:rPr>
              <a:t>SPARSE SEARCH</a:t>
            </a:r>
          </a:p>
        </p:txBody>
      </p:sp>
      <p:sp>
        <p:nvSpPr>
          <p:cNvPr id="31" name="TextBox 30">
            <a:extLst>
              <a:ext uri="{FF2B5EF4-FFF2-40B4-BE49-F238E27FC236}">
                <a16:creationId xmlns:a16="http://schemas.microsoft.com/office/drawing/2014/main" id="{B248940B-24A7-FBBE-3751-7F3C5094C811}"/>
              </a:ext>
            </a:extLst>
          </p:cNvPr>
          <p:cNvSpPr txBox="1"/>
          <p:nvPr/>
        </p:nvSpPr>
        <p:spPr>
          <a:xfrm>
            <a:off x="8421624" y="1801368"/>
            <a:ext cx="3182112" cy="233910"/>
          </a:xfrm>
          <a:prstGeom prst="rect">
            <a:avLst/>
          </a:prstGeom>
          <a:noFill/>
        </p:spPr>
        <p:txBody>
          <a:bodyPr wrap="square" lIns="0" tIns="0" rIns="0" bIns="0" anchor="t">
            <a:spAutoFit/>
          </a:bodyPr>
          <a:lstStyle/>
          <a:p>
            <a:pPr algn="l">
              <a:lnSpc>
                <a:spcPct val="95000"/>
              </a:lnSpc>
              <a:spcBef>
                <a:spcPts val="0"/>
              </a:spcBef>
              <a:spcAft>
                <a:spcPts val="600"/>
              </a:spcAft>
            </a:pPr>
            <a:r>
              <a:rPr sz="1600" b="1" i="0">
                <a:solidFill>
                  <a:srgbClr val="13132B"/>
                </a:solidFill>
                <a:latin typeface="Calibri"/>
              </a:rPr>
              <a:t>rank_bm25</a:t>
            </a:r>
          </a:p>
        </p:txBody>
      </p:sp>
      <p:sp>
        <p:nvSpPr>
          <p:cNvPr id="33" name="TextBox 32">
            <a:extLst>
              <a:ext uri="{FF2B5EF4-FFF2-40B4-BE49-F238E27FC236}">
                <a16:creationId xmlns:a16="http://schemas.microsoft.com/office/drawing/2014/main" id="{11084022-71ED-87AA-F069-3A546C4961FD}"/>
              </a:ext>
            </a:extLst>
          </p:cNvPr>
          <p:cNvSpPr txBox="1"/>
          <p:nvPr/>
        </p:nvSpPr>
        <p:spPr>
          <a:xfrm>
            <a:off x="8421624" y="2185416"/>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a:solidFill>
                  <a:srgbClr val="62627D"/>
                </a:solidFill>
                <a:latin typeface="Calibri"/>
              </a:rPr>
              <a:t>Keyword recall; complements dense</a:t>
            </a:r>
          </a:p>
        </p:txBody>
      </p:sp>
      <p:sp>
        <p:nvSpPr>
          <p:cNvPr id="35" name="Rounded Rectangle 18">
            <a:extLst>
              <a:ext uri="{FF2B5EF4-FFF2-40B4-BE49-F238E27FC236}">
                <a16:creationId xmlns:a16="http://schemas.microsoft.com/office/drawing/2014/main" id="{99B43CFE-7917-4989-EF1B-AE858D45B1EE}"/>
              </a:ext>
            </a:extLst>
          </p:cNvPr>
          <p:cNvSpPr/>
          <p:nvPr/>
        </p:nvSpPr>
        <p:spPr>
          <a:xfrm>
            <a:off x="685800" y="2715768"/>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Rounded Rectangle 19">
            <a:extLst>
              <a:ext uri="{FF2B5EF4-FFF2-40B4-BE49-F238E27FC236}">
                <a16:creationId xmlns:a16="http://schemas.microsoft.com/office/drawing/2014/main" id="{B3CD9CF2-C850-D44B-C65C-47A4643D0B1D}"/>
              </a:ext>
            </a:extLst>
          </p:cNvPr>
          <p:cNvSpPr/>
          <p:nvPr/>
        </p:nvSpPr>
        <p:spPr>
          <a:xfrm>
            <a:off x="685800" y="2715768"/>
            <a:ext cx="118872" cy="1152144"/>
          </a:xfrm>
          <a:prstGeom prst="roundRect">
            <a:avLst>
              <a:gd name="adj" fmla="val 50000"/>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TextBox 38">
            <a:extLst>
              <a:ext uri="{FF2B5EF4-FFF2-40B4-BE49-F238E27FC236}">
                <a16:creationId xmlns:a16="http://schemas.microsoft.com/office/drawing/2014/main" id="{B4164769-3E4E-442A-D17B-CE9F23CC4875}"/>
              </a:ext>
            </a:extLst>
          </p:cNvPr>
          <p:cNvSpPr txBox="1"/>
          <p:nvPr/>
        </p:nvSpPr>
        <p:spPr>
          <a:xfrm>
            <a:off x="941832" y="2825496"/>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a:solidFill>
                  <a:srgbClr val="4FB09C"/>
                </a:solidFill>
                <a:latin typeface="Calibri"/>
              </a:rPr>
              <a:t>FUSION + RERANK</a:t>
            </a:r>
          </a:p>
        </p:txBody>
      </p:sp>
      <p:sp>
        <p:nvSpPr>
          <p:cNvPr id="41" name="TextBox 40">
            <a:extLst>
              <a:ext uri="{FF2B5EF4-FFF2-40B4-BE49-F238E27FC236}">
                <a16:creationId xmlns:a16="http://schemas.microsoft.com/office/drawing/2014/main" id="{FE51C1DF-7F86-91F2-8CFF-F8B2AF002911}"/>
              </a:ext>
            </a:extLst>
          </p:cNvPr>
          <p:cNvSpPr txBox="1"/>
          <p:nvPr/>
        </p:nvSpPr>
        <p:spPr>
          <a:xfrm>
            <a:off x="941832" y="3099815"/>
            <a:ext cx="3182112" cy="233910"/>
          </a:xfrm>
          <a:prstGeom prst="rect">
            <a:avLst/>
          </a:prstGeom>
          <a:noFill/>
        </p:spPr>
        <p:txBody>
          <a:bodyPr wrap="square" lIns="0" tIns="0" rIns="0" bIns="0" anchor="t">
            <a:spAutoFit/>
          </a:bodyPr>
          <a:lstStyle/>
          <a:p>
            <a:pPr algn="l">
              <a:lnSpc>
                <a:spcPct val="95000"/>
              </a:lnSpc>
              <a:spcBef>
                <a:spcPts val="0"/>
              </a:spcBef>
              <a:spcAft>
                <a:spcPts val="600"/>
              </a:spcAft>
            </a:pPr>
            <a:r>
              <a:rPr sz="1600" b="1" i="0" dirty="0">
                <a:solidFill>
                  <a:srgbClr val="13132B"/>
                </a:solidFill>
                <a:latin typeface="Calibri"/>
              </a:rPr>
              <a:t>RRF + bge-reranker-v2-m3</a:t>
            </a:r>
          </a:p>
        </p:txBody>
      </p:sp>
      <p:sp>
        <p:nvSpPr>
          <p:cNvPr id="43" name="TextBox 42">
            <a:extLst>
              <a:ext uri="{FF2B5EF4-FFF2-40B4-BE49-F238E27FC236}">
                <a16:creationId xmlns:a16="http://schemas.microsoft.com/office/drawing/2014/main" id="{DFEE8D11-E03B-1939-2715-0A758D835546}"/>
              </a:ext>
            </a:extLst>
          </p:cNvPr>
          <p:cNvSpPr txBox="1"/>
          <p:nvPr/>
        </p:nvSpPr>
        <p:spPr>
          <a:xfrm>
            <a:off x="941832" y="3483863"/>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a:solidFill>
                  <a:srgbClr val="62627D"/>
                </a:solidFill>
                <a:latin typeface="Calibri"/>
              </a:rPr>
              <a:t>Merge sub-queries → rerank top-30 (CPU)</a:t>
            </a:r>
          </a:p>
        </p:txBody>
      </p:sp>
      <p:sp>
        <p:nvSpPr>
          <p:cNvPr id="45" name="Rounded Rectangle 23">
            <a:extLst>
              <a:ext uri="{FF2B5EF4-FFF2-40B4-BE49-F238E27FC236}">
                <a16:creationId xmlns:a16="http://schemas.microsoft.com/office/drawing/2014/main" id="{61AE4CB7-AA5E-3C94-B8CE-B18B9DA74BB8}"/>
              </a:ext>
            </a:extLst>
          </p:cNvPr>
          <p:cNvSpPr/>
          <p:nvPr/>
        </p:nvSpPr>
        <p:spPr>
          <a:xfrm>
            <a:off x="4425696" y="2715768"/>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7" name="Rounded Rectangle 24">
            <a:extLst>
              <a:ext uri="{FF2B5EF4-FFF2-40B4-BE49-F238E27FC236}">
                <a16:creationId xmlns:a16="http://schemas.microsoft.com/office/drawing/2014/main" id="{5B1BE32A-0DF1-ADD0-C474-49DEE330E26B}"/>
              </a:ext>
            </a:extLst>
          </p:cNvPr>
          <p:cNvSpPr/>
          <p:nvPr/>
        </p:nvSpPr>
        <p:spPr>
          <a:xfrm>
            <a:off x="4425696" y="2715768"/>
            <a:ext cx="118872" cy="1152144"/>
          </a:xfrm>
          <a:prstGeom prst="roundRect">
            <a:avLst>
              <a:gd name="adj" fmla="val 50000"/>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TextBox 48">
            <a:extLst>
              <a:ext uri="{FF2B5EF4-FFF2-40B4-BE49-F238E27FC236}">
                <a16:creationId xmlns:a16="http://schemas.microsoft.com/office/drawing/2014/main" id="{D48CB22C-E987-CC17-8D57-94AA28EBDBC7}"/>
              </a:ext>
            </a:extLst>
          </p:cNvPr>
          <p:cNvSpPr txBox="1"/>
          <p:nvPr/>
        </p:nvSpPr>
        <p:spPr>
          <a:xfrm>
            <a:off x="4681728" y="2825496"/>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a:solidFill>
                  <a:srgbClr val="6C28D9"/>
                </a:solidFill>
                <a:latin typeface="Calibri"/>
              </a:rPr>
              <a:t>MAIN LLM</a:t>
            </a:r>
          </a:p>
        </p:txBody>
      </p:sp>
      <p:sp>
        <p:nvSpPr>
          <p:cNvPr id="51" name="TextBox 50">
            <a:extLst>
              <a:ext uri="{FF2B5EF4-FFF2-40B4-BE49-F238E27FC236}">
                <a16:creationId xmlns:a16="http://schemas.microsoft.com/office/drawing/2014/main" id="{48067153-F18C-1868-75E4-999F6F51CDEC}"/>
              </a:ext>
            </a:extLst>
          </p:cNvPr>
          <p:cNvSpPr txBox="1"/>
          <p:nvPr/>
        </p:nvSpPr>
        <p:spPr>
          <a:xfrm>
            <a:off x="4681728" y="3099815"/>
            <a:ext cx="3182112" cy="544765"/>
          </a:xfrm>
          <a:prstGeom prst="rect">
            <a:avLst/>
          </a:prstGeom>
          <a:noFill/>
        </p:spPr>
        <p:txBody>
          <a:bodyPr wrap="square" lIns="0" tIns="0" rIns="0" bIns="0" anchor="t">
            <a:spAutoFit/>
          </a:bodyPr>
          <a:lstStyle/>
          <a:p>
            <a:pPr algn="l">
              <a:lnSpc>
                <a:spcPct val="95000"/>
              </a:lnSpc>
              <a:spcBef>
                <a:spcPts val="0"/>
              </a:spcBef>
              <a:spcAft>
                <a:spcPts val="600"/>
              </a:spcAft>
            </a:pPr>
            <a:r>
              <a:rPr lang="en-US" sz="1600" b="1" dirty="0">
                <a:solidFill>
                  <a:srgbClr val="13132B"/>
                </a:solidFill>
                <a:latin typeface="Calibri"/>
              </a:rPr>
              <a:t>Gemini 3.8 flash</a:t>
            </a:r>
          </a:p>
          <a:p>
            <a:pPr algn="l">
              <a:lnSpc>
                <a:spcPct val="95000"/>
              </a:lnSpc>
              <a:spcBef>
                <a:spcPts val="0"/>
              </a:spcBef>
              <a:spcAft>
                <a:spcPts val="600"/>
              </a:spcAft>
            </a:pPr>
            <a:endParaRPr sz="1600" b="1" i="0" dirty="0">
              <a:solidFill>
                <a:srgbClr val="13132B"/>
              </a:solidFill>
              <a:latin typeface="Calibri"/>
            </a:endParaRPr>
          </a:p>
        </p:txBody>
      </p:sp>
      <p:sp>
        <p:nvSpPr>
          <p:cNvPr id="53" name="TextBox 52">
            <a:extLst>
              <a:ext uri="{FF2B5EF4-FFF2-40B4-BE49-F238E27FC236}">
                <a16:creationId xmlns:a16="http://schemas.microsoft.com/office/drawing/2014/main" id="{8A2C017E-3967-0229-9715-758F59C58CD8}"/>
              </a:ext>
            </a:extLst>
          </p:cNvPr>
          <p:cNvSpPr txBox="1"/>
          <p:nvPr/>
        </p:nvSpPr>
        <p:spPr>
          <a:xfrm>
            <a:off x="4631436" y="3607585"/>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dirty="0">
                <a:solidFill>
                  <a:srgbClr val="62627D"/>
                </a:solidFill>
                <a:latin typeface="Calibri"/>
              </a:rPr>
              <a:t>Streaming generation · local fallback for demo-day</a:t>
            </a:r>
          </a:p>
        </p:txBody>
      </p:sp>
      <p:sp>
        <p:nvSpPr>
          <p:cNvPr id="55" name="Rounded Rectangle 28">
            <a:extLst>
              <a:ext uri="{FF2B5EF4-FFF2-40B4-BE49-F238E27FC236}">
                <a16:creationId xmlns:a16="http://schemas.microsoft.com/office/drawing/2014/main" id="{015F4C07-5FAB-E490-F7E1-C5AECA9A8783}"/>
              </a:ext>
            </a:extLst>
          </p:cNvPr>
          <p:cNvSpPr/>
          <p:nvPr/>
        </p:nvSpPr>
        <p:spPr>
          <a:xfrm>
            <a:off x="8165592" y="2715768"/>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Rounded Rectangle 29">
            <a:extLst>
              <a:ext uri="{FF2B5EF4-FFF2-40B4-BE49-F238E27FC236}">
                <a16:creationId xmlns:a16="http://schemas.microsoft.com/office/drawing/2014/main" id="{5E988295-6345-2F81-25F6-D41293167806}"/>
              </a:ext>
            </a:extLst>
          </p:cNvPr>
          <p:cNvSpPr/>
          <p:nvPr/>
        </p:nvSpPr>
        <p:spPr>
          <a:xfrm>
            <a:off x="8165592" y="2715768"/>
            <a:ext cx="118872" cy="1152144"/>
          </a:xfrm>
          <a:prstGeom prst="roundRect">
            <a:avLst>
              <a:gd name="adj" fmla="val 50000"/>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9" name="TextBox 58">
            <a:extLst>
              <a:ext uri="{FF2B5EF4-FFF2-40B4-BE49-F238E27FC236}">
                <a16:creationId xmlns:a16="http://schemas.microsoft.com/office/drawing/2014/main" id="{6F6C2820-85B2-F84A-2D29-17F0B4D988DE}"/>
              </a:ext>
            </a:extLst>
          </p:cNvPr>
          <p:cNvSpPr txBox="1"/>
          <p:nvPr/>
        </p:nvSpPr>
        <p:spPr>
          <a:xfrm>
            <a:off x="8421624" y="2825496"/>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a:solidFill>
                  <a:srgbClr val="6C28D9"/>
                </a:solidFill>
                <a:latin typeface="Calibri"/>
              </a:rPr>
              <a:t>CONTROLLER / DECOMPOSER</a:t>
            </a:r>
          </a:p>
        </p:txBody>
      </p:sp>
      <p:sp>
        <p:nvSpPr>
          <p:cNvPr id="61" name="TextBox 60">
            <a:extLst>
              <a:ext uri="{FF2B5EF4-FFF2-40B4-BE49-F238E27FC236}">
                <a16:creationId xmlns:a16="http://schemas.microsoft.com/office/drawing/2014/main" id="{71B66802-05B7-49E5-A215-8815FACBEA8C}"/>
              </a:ext>
            </a:extLst>
          </p:cNvPr>
          <p:cNvSpPr txBox="1"/>
          <p:nvPr/>
        </p:nvSpPr>
        <p:spPr>
          <a:xfrm>
            <a:off x="8421624" y="3099815"/>
            <a:ext cx="3182112" cy="233910"/>
          </a:xfrm>
          <a:prstGeom prst="rect">
            <a:avLst/>
          </a:prstGeom>
          <a:noFill/>
        </p:spPr>
        <p:txBody>
          <a:bodyPr wrap="square" lIns="0" tIns="0" rIns="0" bIns="0" anchor="t">
            <a:spAutoFit/>
          </a:bodyPr>
          <a:lstStyle/>
          <a:p>
            <a:pPr algn="l">
              <a:lnSpc>
                <a:spcPct val="95000"/>
              </a:lnSpc>
              <a:spcBef>
                <a:spcPts val="0"/>
              </a:spcBef>
              <a:spcAft>
                <a:spcPts val="600"/>
              </a:spcAft>
            </a:pPr>
            <a:r>
              <a:rPr sz="1600" b="1" i="0">
                <a:solidFill>
                  <a:srgbClr val="13132B"/>
                </a:solidFill>
                <a:latin typeface="Calibri"/>
              </a:rPr>
              <a:t>Small fast LLM (&lt;50 ms budget)</a:t>
            </a:r>
          </a:p>
        </p:txBody>
      </p:sp>
      <p:sp>
        <p:nvSpPr>
          <p:cNvPr id="63" name="TextBox 62">
            <a:extLst>
              <a:ext uri="{FF2B5EF4-FFF2-40B4-BE49-F238E27FC236}">
                <a16:creationId xmlns:a16="http://schemas.microsoft.com/office/drawing/2014/main" id="{CD1D90FE-07CA-F800-C02B-A947E8C3CBCA}"/>
              </a:ext>
            </a:extLst>
          </p:cNvPr>
          <p:cNvSpPr txBox="1"/>
          <p:nvPr/>
        </p:nvSpPr>
        <p:spPr>
          <a:xfrm>
            <a:off x="8421624" y="3483863"/>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a:solidFill>
                  <a:srgbClr val="62627D"/>
                </a:solidFill>
                <a:latin typeface="Calibri"/>
              </a:rPr>
              <a:t>Rule gate then LLM confirm</a:t>
            </a:r>
          </a:p>
        </p:txBody>
      </p:sp>
      <p:sp>
        <p:nvSpPr>
          <p:cNvPr id="65" name="Rounded Rectangle 33">
            <a:extLst>
              <a:ext uri="{FF2B5EF4-FFF2-40B4-BE49-F238E27FC236}">
                <a16:creationId xmlns:a16="http://schemas.microsoft.com/office/drawing/2014/main" id="{299CF6F2-D990-D255-D5FB-215AE15775EE}"/>
              </a:ext>
            </a:extLst>
          </p:cNvPr>
          <p:cNvSpPr/>
          <p:nvPr/>
        </p:nvSpPr>
        <p:spPr>
          <a:xfrm>
            <a:off x="685800" y="4014215"/>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7" name="Rounded Rectangle 34">
            <a:extLst>
              <a:ext uri="{FF2B5EF4-FFF2-40B4-BE49-F238E27FC236}">
                <a16:creationId xmlns:a16="http://schemas.microsoft.com/office/drawing/2014/main" id="{8511533F-B17E-3AB3-1A99-605B7769680E}"/>
              </a:ext>
            </a:extLst>
          </p:cNvPr>
          <p:cNvSpPr/>
          <p:nvPr/>
        </p:nvSpPr>
        <p:spPr>
          <a:xfrm>
            <a:off x="685800" y="4014215"/>
            <a:ext cx="118872" cy="1152144"/>
          </a:xfrm>
          <a:prstGeom prst="roundRect">
            <a:avLst>
              <a:gd name="adj" fmla="val 50000"/>
            </a:avLst>
          </a:prstGeom>
          <a:solidFill>
            <a:srgbClr val="702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9" name="TextBox 68">
            <a:extLst>
              <a:ext uri="{FF2B5EF4-FFF2-40B4-BE49-F238E27FC236}">
                <a16:creationId xmlns:a16="http://schemas.microsoft.com/office/drawing/2014/main" id="{FA6C3A72-B175-E0DB-27B2-6559B7F278A4}"/>
              </a:ext>
            </a:extLst>
          </p:cNvPr>
          <p:cNvSpPr txBox="1"/>
          <p:nvPr/>
        </p:nvSpPr>
        <p:spPr>
          <a:xfrm>
            <a:off x="941832" y="4123944"/>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a:solidFill>
                  <a:srgbClr val="7027DC"/>
                </a:solidFill>
                <a:latin typeface="Calibri"/>
              </a:rPr>
              <a:t>CONTRACTS / SCHEMAS</a:t>
            </a:r>
          </a:p>
        </p:txBody>
      </p:sp>
      <p:sp>
        <p:nvSpPr>
          <p:cNvPr id="71" name="TextBox 70">
            <a:extLst>
              <a:ext uri="{FF2B5EF4-FFF2-40B4-BE49-F238E27FC236}">
                <a16:creationId xmlns:a16="http://schemas.microsoft.com/office/drawing/2014/main" id="{37DE8FBE-DF30-D920-90EC-31E5854C5C26}"/>
              </a:ext>
            </a:extLst>
          </p:cNvPr>
          <p:cNvSpPr txBox="1"/>
          <p:nvPr/>
        </p:nvSpPr>
        <p:spPr>
          <a:xfrm>
            <a:off x="941832" y="4398264"/>
            <a:ext cx="3182112" cy="233910"/>
          </a:xfrm>
          <a:prstGeom prst="rect">
            <a:avLst/>
          </a:prstGeom>
          <a:noFill/>
        </p:spPr>
        <p:txBody>
          <a:bodyPr wrap="square" lIns="0" tIns="0" rIns="0" bIns="0" anchor="t">
            <a:spAutoFit/>
          </a:bodyPr>
          <a:lstStyle/>
          <a:p>
            <a:pPr algn="l">
              <a:lnSpc>
                <a:spcPct val="95000"/>
              </a:lnSpc>
              <a:spcBef>
                <a:spcPts val="0"/>
              </a:spcBef>
              <a:spcAft>
                <a:spcPts val="600"/>
              </a:spcAft>
            </a:pPr>
            <a:r>
              <a:rPr sz="1600" b="1" i="0">
                <a:solidFill>
                  <a:srgbClr val="13132B"/>
                </a:solidFill>
                <a:latin typeface="Calibri"/>
              </a:rPr>
              <a:t>Pydantic v2</a:t>
            </a:r>
          </a:p>
        </p:txBody>
      </p:sp>
      <p:sp>
        <p:nvSpPr>
          <p:cNvPr id="73" name="TextBox 72">
            <a:extLst>
              <a:ext uri="{FF2B5EF4-FFF2-40B4-BE49-F238E27FC236}">
                <a16:creationId xmlns:a16="http://schemas.microsoft.com/office/drawing/2014/main" id="{116B36A0-ABC0-0785-F8A4-9D10CBB3F44E}"/>
              </a:ext>
            </a:extLst>
          </p:cNvPr>
          <p:cNvSpPr txBox="1"/>
          <p:nvPr/>
        </p:nvSpPr>
        <p:spPr>
          <a:xfrm>
            <a:off x="941832" y="4782312"/>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a:solidFill>
                  <a:srgbClr val="62627D"/>
                </a:solidFill>
                <a:latin typeface="Calibri"/>
              </a:rPr>
              <a:t>7 frozen schemas · structured LLM output</a:t>
            </a:r>
          </a:p>
        </p:txBody>
      </p:sp>
      <p:sp>
        <p:nvSpPr>
          <p:cNvPr id="75" name="Rounded Rectangle 38">
            <a:extLst>
              <a:ext uri="{FF2B5EF4-FFF2-40B4-BE49-F238E27FC236}">
                <a16:creationId xmlns:a16="http://schemas.microsoft.com/office/drawing/2014/main" id="{F279CB84-E4CA-CC28-697B-9BEE4F52FE9D}"/>
              </a:ext>
            </a:extLst>
          </p:cNvPr>
          <p:cNvSpPr/>
          <p:nvPr/>
        </p:nvSpPr>
        <p:spPr>
          <a:xfrm>
            <a:off x="4425696" y="4014215"/>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7" name="Rounded Rectangle 39">
            <a:extLst>
              <a:ext uri="{FF2B5EF4-FFF2-40B4-BE49-F238E27FC236}">
                <a16:creationId xmlns:a16="http://schemas.microsoft.com/office/drawing/2014/main" id="{361C819C-17A4-837C-5F06-4E578BCDD77C}"/>
              </a:ext>
            </a:extLst>
          </p:cNvPr>
          <p:cNvSpPr/>
          <p:nvPr/>
        </p:nvSpPr>
        <p:spPr>
          <a:xfrm>
            <a:off x="4425696" y="4014215"/>
            <a:ext cx="118872" cy="1152144"/>
          </a:xfrm>
          <a:prstGeom prst="roundRect">
            <a:avLst>
              <a:gd name="adj" fmla="val 50000"/>
            </a:avLst>
          </a:prstGeom>
          <a:solidFill>
            <a:srgbClr val="702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9" name="TextBox 78">
            <a:extLst>
              <a:ext uri="{FF2B5EF4-FFF2-40B4-BE49-F238E27FC236}">
                <a16:creationId xmlns:a16="http://schemas.microsoft.com/office/drawing/2014/main" id="{61DA3D8D-1870-B15A-96DF-CE426E7ABB96}"/>
              </a:ext>
            </a:extLst>
          </p:cNvPr>
          <p:cNvSpPr txBox="1"/>
          <p:nvPr/>
        </p:nvSpPr>
        <p:spPr>
          <a:xfrm>
            <a:off x="4681728" y="4123944"/>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a:solidFill>
                  <a:srgbClr val="7027DC"/>
                </a:solidFill>
                <a:latin typeface="Calibri"/>
              </a:rPr>
              <a:t>TELEMETRY</a:t>
            </a:r>
          </a:p>
        </p:txBody>
      </p:sp>
      <p:sp>
        <p:nvSpPr>
          <p:cNvPr id="81" name="TextBox 80">
            <a:extLst>
              <a:ext uri="{FF2B5EF4-FFF2-40B4-BE49-F238E27FC236}">
                <a16:creationId xmlns:a16="http://schemas.microsoft.com/office/drawing/2014/main" id="{CA23A0B4-05BA-5BC9-BBE8-C193D95E4985}"/>
              </a:ext>
            </a:extLst>
          </p:cNvPr>
          <p:cNvSpPr txBox="1"/>
          <p:nvPr/>
        </p:nvSpPr>
        <p:spPr>
          <a:xfrm>
            <a:off x="4681728" y="4398264"/>
            <a:ext cx="3182112" cy="233910"/>
          </a:xfrm>
          <a:prstGeom prst="rect">
            <a:avLst/>
          </a:prstGeom>
          <a:noFill/>
        </p:spPr>
        <p:txBody>
          <a:bodyPr wrap="square" lIns="0" tIns="0" rIns="0" bIns="0" anchor="t">
            <a:spAutoFit/>
          </a:bodyPr>
          <a:lstStyle/>
          <a:p>
            <a:pPr algn="l">
              <a:lnSpc>
                <a:spcPct val="95000"/>
              </a:lnSpc>
              <a:spcBef>
                <a:spcPts val="0"/>
              </a:spcBef>
              <a:spcAft>
                <a:spcPts val="600"/>
              </a:spcAft>
            </a:pPr>
            <a:r>
              <a:rPr sz="1600" b="1" i="0">
                <a:solidFill>
                  <a:srgbClr val="13132B"/>
                </a:solidFill>
                <a:latin typeface="Calibri"/>
              </a:rPr>
              <a:t>structlog → JSONL (+ OTel/Jaeger)</a:t>
            </a:r>
          </a:p>
        </p:txBody>
      </p:sp>
      <p:sp>
        <p:nvSpPr>
          <p:cNvPr id="83" name="TextBox 82">
            <a:extLst>
              <a:ext uri="{FF2B5EF4-FFF2-40B4-BE49-F238E27FC236}">
                <a16:creationId xmlns:a16="http://schemas.microsoft.com/office/drawing/2014/main" id="{D6C1729C-3252-C254-714B-12BE1C39AA4D}"/>
              </a:ext>
            </a:extLst>
          </p:cNvPr>
          <p:cNvSpPr txBox="1"/>
          <p:nvPr/>
        </p:nvSpPr>
        <p:spPr>
          <a:xfrm>
            <a:off x="4631436" y="4917465"/>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dirty="0">
                <a:solidFill>
                  <a:srgbClr val="62627D"/>
                </a:solidFill>
                <a:latin typeface="Calibri"/>
              </a:rPr>
              <a:t>100% trace coverage (G6)</a:t>
            </a:r>
          </a:p>
        </p:txBody>
      </p:sp>
      <p:sp>
        <p:nvSpPr>
          <p:cNvPr id="85" name="Rounded Rectangle 43">
            <a:extLst>
              <a:ext uri="{FF2B5EF4-FFF2-40B4-BE49-F238E27FC236}">
                <a16:creationId xmlns:a16="http://schemas.microsoft.com/office/drawing/2014/main" id="{5EA34896-5E2A-96C7-81E6-AF6D7811468D}"/>
              </a:ext>
            </a:extLst>
          </p:cNvPr>
          <p:cNvSpPr/>
          <p:nvPr/>
        </p:nvSpPr>
        <p:spPr>
          <a:xfrm>
            <a:off x="8165592" y="4014215"/>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7" name="Rounded Rectangle 44">
            <a:extLst>
              <a:ext uri="{FF2B5EF4-FFF2-40B4-BE49-F238E27FC236}">
                <a16:creationId xmlns:a16="http://schemas.microsoft.com/office/drawing/2014/main" id="{D44AE047-55AE-A26B-A4C2-5D693142BA6A}"/>
              </a:ext>
            </a:extLst>
          </p:cNvPr>
          <p:cNvSpPr/>
          <p:nvPr/>
        </p:nvSpPr>
        <p:spPr>
          <a:xfrm>
            <a:off x="8165592" y="4014215"/>
            <a:ext cx="118872" cy="1152144"/>
          </a:xfrm>
          <a:prstGeom prst="roundRect">
            <a:avLst>
              <a:gd name="adj" fmla="val 5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9" name="TextBox 88">
            <a:extLst>
              <a:ext uri="{FF2B5EF4-FFF2-40B4-BE49-F238E27FC236}">
                <a16:creationId xmlns:a16="http://schemas.microsoft.com/office/drawing/2014/main" id="{B7190F7B-7105-3C27-FCA8-D6B076BB196C}"/>
              </a:ext>
            </a:extLst>
          </p:cNvPr>
          <p:cNvSpPr txBox="1"/>
          <p:nvPr/>
        </p:nvSpPr>
        <p:spPr>
          <a:xfrm>
            <a:off x="8421624" y="4123944"/>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dirty="0">
                <a:solidFill>
                  <a:srgbClr val="E08A00"/>
                </a:solidFill>
                <a:latin typeface="Calibri"/>
              </a:rPr>
              <a:t>EVAL HARNESS</a:t>
            </a:r>
          </a:p>
        </p:txBody>
      </p:sp>
      <p:sp>
        <p:nvSpPr>
          <p:cNvPr id="91" name="TextBox 90">
            <a:extLst>
              <a:ext uri="{FF2B5EF4-FFF2-40B4-BE49-F238E27FC236}">
                <a16:creationId xmlns:a16="http://schemas.microsoft.com/office/drawing/2014/main" id="{1E95B9D6-0E72-5FD8-C626-5755CAF1DA4A}"/>
              </a:ext>
            </a:extLst>
          </p:cNvPr>
          <p:cNvSpPr txBox="1"/>
          <p:nvPr/>
        </p:nvSpPr>
        <p:spPr>
          <a:xfrm>
            <a:off x="8421624" y="4398264"/>
            <a:ext cx="3182112" cy="233910"/>
          </a:xfrm>
          <a:prstGeom prst="rect">
            <a:avLst/>
          </a:prstGeom>
          <a:noFill/>
        </p:spPr>
        <p:txBody>
          <a:bodyPr wrap="square" lIns="0" tIns="0" rIns="0" bIns="0" anchor="t">
            <a:spAutoFit/>
          </a:bodyPr>
          <a:lstStyle/>
          <a:p>
            <a:pPr algn="l">
              <a:lnSpc>
                <a:spcPct val="95000"/>
              </a:lnSpc>
              <a:spcBef>
                <a:spcPts val="0"/>
              </a:spcBef>
              <a:spcAft>
                <a:spcPts val="600"/>
              </a:spcAft>
            </a:pPr>
            <a:r>
              <a:rPr sz="1600" b="1" i="0">
                <a:solidFill>
                  <a:srgbClr val="13132B"/>
                </a:solidFill>
                <a:latin typeface="Calibri"/>
              </a:rPr>
              <a:t>pytest + custom gate scorers</a:t>
            </a:r>
          </a:p>
        </p:txBody>
      </p:sp>
      <p:sp>
        <p:nvSpPr>
          <p:cNvPr id="93" name="TextBox 92">
            <a:extLst>
              <a:ext uri="{FF2B5EF4-FFF2-40B4-BE49-F238E27FC236}">
                <a16:creationId xmlns:a16="http://schemas.microsoft.com/office/drawing/2014/main" id="{445FCF36-6A83-BDE9-1727-FE1BE8E0D669}"/>
              </a:ext>
            </a:extLst>
          </p:cNvPr>
          <p:cNvSpPr txBox="1"/>
          <p:nvPr/>
        </p:nvSpPr>
        <p:spPr>
          <a:xfrm>
            <a:off x="8421624" y="4782312"/>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a:solidFill>
                  <a:srgbClr val="62627D"/>
                </a:solidFill>
                <a:latin typeface="Calibri"/>
              </a:rPr>
              <a:t>One-command G1–G6 scorecard</a:t>
            </a:r>
          </a:p>
        </p:txBody>
      </p:sp>
      <p:sp>
        <p:nvSpPr>
          <p:cNvPr id="95" name="Rounded Rectangle 48">
            <a:extLst>
              <a:ext uri="{FF2B5EF4-FFF2-40B4-BE49-F238E27FC236}">
                <a16:creationId xmlns:a16="http://schemas.microsoft.com/office/drawing/2014/main" id="{97A9B4D2-B0A5-5CC0-B9C8-DC5FD5C1E548}"/>
              </a:ext>
            </a:extLst>
          </p:cNvPr>
          <p:cNvSpPr/>
          <p:nvPr/>
        </p:nvSpPr>
        <p:spPr>
          <a:xfrm>
            <a:off x="685800" y="5312664"/>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7" name="Rounded Rectangle 49">
            <a:extLst>
              <a:ext uri="{FF2B5EF4-FFF2-40B4-BE49-F238E27FC236}">
                <a16:creationId xmlns:a16="http://schemas.microsoft.com/office/drawing/2014/main" id="{77958E41-87D0-B855-1DC2-791B17C66E4E}"/>
              </a:ext>
            </a:extLst>
          </p:cNvPr>
          <p:cNvSpPr/>
          <p:nvPr/>
        </p:nvSpPr>
        <p:spPr>
          <a:xfrm>
            <a:off x="685800" y="5312664"/>
            <a:ext cx="118872" cy="1152144"/>
          </a:xfrm>
          <a:prstGeom prst="roundRect">
            <a:avLst>
              <a:gd name="adj" fmla="val 5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9" name="TextBox 98">
            <a:extLst>
              <a:ext uri="{FF2B5EF4-FFF2-40B4-BE49-F238E27FC236}">
                <a16:creationId xmlns:a16="http://schemas.microsoft.com/office/drawing/2014/main" id="{B37A8E76-6F3A-6911-B919-CC7B1D9315BE}"/>
              </a:ext>
            </a:extLst>
          </p:cNvPr>
          <p:cNvSpPr txBox="1"/>
          <p:nvPr/>
        </p:nvSpPr>
        <p:spPr>
          <a:xfrm>
            <a:off x="941832" y="5422392"/>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a:solidFill>
                  <a:srgbClr val="E08A00"/>
                </a:solidFill>
                <a:latin typeface="Calibri"/>
              </a:rPr>
              <a:t>DEMO UI</a:t>
            </a:r>
          </a:p>
        </p:txBody>
      </p:sp>
      <p:sp>
        <p:nvSpPr>
          <p:cNvPr id="101" name="TextBox 100">
            <a:extLst>
              <a:ext uri="{FF2B5EF4-FFF2-40B4-BE49-F238E27FC236}">
                <a16:creationId xmlns:a16="http://schemas.microsoft.com/office/drawing/2014/main" id="{FFA03A35-EDEE-270F-E1C9-E254D4E7B8D0}"/>
              </a:ext>
            </a:extLst>
          </p:cNvPr>
          <p:cNvSpPr txBox="1"/>
          <p:nvPr/>
        </p:nvSpPr>
        <p:spPr>
          <a:xfrm>
            <a:off x="941832" y="5696712"/>
            <a:ext cx="3182112" cy="233910"/>
          </a:xfrm>
          <a:prstGeom prst="rect">
            <a:avLst/>
          </a:prstGeom>
          <a:noFill/>
        </p:spPr>
        <p:txBody>
          <a:bodyPr wrap="square" lIns="0" tIns="0" rIns="0" bIns="0" anchor="t">
            <a:spAutoFit/>
          </a:bodyPr>
          <a:lstStyle/>
          <a:p>
            <a:pPr algn="l">
              <a:lnSpc>
                <a:spcPct val="95000"/>
              </a:lnSpc>
              <a:spcBef>
                <a:spcPts val="0"/>
              </a:spcBef>
              <a:spcAft>
                <a:spcPts val="600"/>
              </a:spcAft>
            </a:pPr>
            <a:r>
              <a:rPr sz="1600" b="1" i="0" dirty="0" err="1">
                <a:solidFill>
                  <a:srgbClr val="13132B"/>
                </a:solidFill>
                <a:latin typeface="Calibri"/>
              </a:rPr>
              <a:t>Streamlit</a:t>
            </a:r>
            <a:r>
              <a:rPr sz="1600" b="1" i="0" dirty="0">
                <a:solidFill>
                  <a:srgbClr val="13132B"/>
                </a:solidFill>
                <a:latin typeface="Calibri"/>
              </a:rPr>
              <a:t> </a:t>
            </a:r>
          </a:p>
        </p:txBody>
      </p:sp>
      <p:sp>
        <p:nvSpPr>
          <p:cNvPr id="103" name="TextBox 102">
            <a:extLst>
              <a:ext uri="{FF2B5EF4-FFF2-40B4-BE49-F238E27FC236}">
                <a16:creationId xmlns:a16="http://schemas.microsoft.com/office/drawing/2014/main" id="{B3B45D4C-6C3C-6DAB-6836-68BB5BEBC185}"/>
              </a:ext>
            </a:extLst>
          </p:cNvPr>
          <p:cNvSpPr txBox="1"/>
          <p:nvPr/>
        </p:nvSpPr>
        <p:spPr>
          <a:xfrm>
            <a:off x="941832" y="6080759"/>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a:solidFill>
                  <a:srgbClr val="62627D"/>
                </a:solidFill>
                <a:latin typeface="Calibri"/>
              </a:rPr>
              <a:t>Shows all required demo beats</a:t>
            </a:r>
          </a:p>
        </p:txBody>
      </p:sp>
      <p:sp>
        <p:nvSpPr>
          <p:cNvPr id="105" name="Rounded Rectangle 53">
            <a:extLst>
              <a:ext uri="{FF2B5EF4-FFF2-40B4-BE49-F238E27FC236}">
                <a16:creationId xmlns:a16="http://schemas.microsoft.com/office/drawing/2014/main" id="{B1A799B3-B8E1-E785-2331-12B504C2E1C5}"/>
              </a:ext>
            </a:extLst>
          </p:cNvPr>
          <p:cNvSpPr/>
          <p:nvPr/>
        </p:nvSpPr>
        <p:spPr>
          <a:xfrm>
            <a:off x="4425696" y="5312664"/>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7" name="Rounded Rectangle 54">
            <a:extLst>
              <a:ext uri="{FF2B5EF4-FFF2-40B4-BE49-F238E27FC236}">
                <a16:creationId xmlns:a16="http://schemas.microsoft.com/office/drawing/2014/main" id="{14E9CDD0-2004-9BC9-534B-431C06E4D2FE}"/>
              </a:ext>
            </a:extLst>
          </p:cNvPr>
          <p:cNvSpPr/>
          <p:nvPr/>
        </p:nvSpPr>
        <p:spPr>
          <a:xfrm>
            <a:off x="4425696" y="5312664"/>
            <a:ext cx="118872" cy="1152144"/>
          </a:xfrm>
          <a:prstGeom prst="roundRect">
            <a:avLst>
              <a:gd name="adj" fmla="val 50000"/>
            </a:avLst>
          </a:prstGeom>
          <a:solidFill>
            <a:srgbClr val="3A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9" name="TextBox 108">
            <a:extLst>
              <a:ext uri="{FF2B5EF4-FFF2-40B4-BE49-F238E27FC236}">
                <a16:creationId xmlns:a16="http://schemas.microsoft.com/office/drawing/2014/main" id="{0133C2C3-1EFB-F7ED-5C09-8EF471D95EF4}"/>
              </a:ext>
            </a:extLst>
          </p:cNvPr>
          <p:cNvSpPr txBox="1"/>
          <p:nvPr/>
        </p:nvSpPr>
        <p:spPr>
          <a:xfrm>
            <a:off x="4681728" y="5422392"/>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a:solidFill>
                  <a:srgbClr val="3A3A52"/>
                </a:solidFill>
                <a:latin typeface="Calibri"/>
              </a:rPr>
              <a:t>TRANSPORT</a:t>
            </a:r>
          </a:p>
        </p:txBody>
      </p:sp>
      <p:sp>
        <p:nvSpPr>
          <p:cNvPr id="111" name="TextBox 110">
            <a:extLst>
              <a:ext uri="{FF2B5EF4-FFF2-40B4-BE49-F238E27FC236}">
                <a16:creationId xmlns:a16="http://schemas.microsoft.com/office/drawing/2014/main" id="{36DA043A-9DDA-EF89-F251-1EF924028FFD}"/>
              </a:ext>
            </a:extLst>
          </p:cNvPr>
          <p:cNvSpPr txBox="1"/>
          <p:nvPr/>
        </p:nvSpPr>
        <p:spPr>
          <a:xfrm>
            <a:off x="4681728" y="5696712"/>
            <a:ext cx="3182112" cy="233910"/>
          </a:xfrm>
          <a:prstGeom prst="rect">
            <a:avLst/>
          </a:prstGeom>
          <a:noFill/>
        </p:spPr>
        <p:txBody>
          <a:bodyPr wrap="square" lIns="0" tIns="0" rIns="0" bIns="0" anchor="t">
            <a:spAutoFit/>
          </a:bodyPr>
          <a:lstStyle/>
          <a:p>
            <a:pPr algn="l">
              <a:lnSpc>
                <a:spcPct val="95000"/>
              </a:lnSpc>
              <a:spcBef>
                <a:spcPts val="0"/>
              </a:spcBef>
              <a:spcAft>
                <a:spcPts val="600"/>
              </a:spcAft>
            </a:pPr>
            <a:r>
              <a:rPr sz="1600" b="1" i="0">
                <a:solidFill>
                  <a:srgbClr val="13132B"/>
                </a:solidFill>
                <a:latin typeface="Calibri"/>
              </a:rPr>
              <a:t>async Python · WebSocket</a:t>
            </a:r>
          </a:p>
        </p:txBody>
      </p:sp>
      <p:sp>
        <p:nvSpPr>
          <p:cNvPr id="113" name="TextBox 112">
            <a:extLst>
              <a:ext uri="{FF2B5EF4-FFF2-40B4-BE49-F238E27FC236}">
                <a16:creationId xmlns:a16="http://schemas.microsoft.com/office/drawing/2014/main" id="{496BE09D-C969-9DF8-B414-8A496A0A9082}"/>
              </a:ext>
            </a:extLst>
          </p:cNvPr>
          <p:cNvSpPr txBox="1"/>
          <p:nvPr/>
        </p:nvSpPr>
        <p:spPr>
          <a:xfrm>
            <a:off x="4681728" y="6080759"/>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a:solidFill>
                  <a:srgbClr val="62627D"/>
                </a:solidFill>
                <a:latin typeface="Calibri"/>
              </a:rPr>
              <a:t>Full-duplex streaming transcript</a:t>
            </a:r>
          </a:p>
        </p:txBody>
      </p:sp>
      <p:sp>
        <p:nvSpPr>
          <p:cNvPr id="115" name="Rounded Rectangle 58">
            <a:extLst>
              <a:ext uri="{FF2B5EF4-FFF2-40B4-BE49-F238E27FC236}">
                <a16:creationId xmlns:a16="http://schemas.microsoft.com/office/drawing/2014/main" id="{C8F1B2D0-B2C8-711A-CEE5-BF3DDBDBAF8C}"/>
              </a:ext>
            </a:extLst>
          </p:cNvPr>
          <p:cNvSpPr/>
          <p:nvPr/>
        </p:nvSpPr>
        <p:spPr>
          <a:xfrm>
            <a:off x="8165592" y="5312664"/>
            <a:ext cx="3593592" cy="1152144"/>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7" name="Rounded Rectangle 59">
            <a:extLst>
              <a:ext uri="{FF2B5EF4-FFF2-40B4-BE49-F238E27FC236}">
                <a16:creationId xmlns:a16="http://schemas.microsoft.com/office/drawing/2014/main" id="{733C71EF-9CFA-05E4-C51C-332CD6677745}"/>
              </a:ext>
            </a:extLst>
          </p:cNvPr>
          <p:cNvSpPr/>
          <p:nvPr/>
        </p:nvSpPr>
        <p:spPr>
          <a:xfrm>
            <a:off x="8165592" y="5312664"/>
            <a:ext cx="118872" cy="1152144"/>
          </a:xfrm>
          <a:prstGeom prst="roundRect">
            <a:avLst>
              <a:gd name="adj" fmla="val 50000"/>
            </a:avLst>
          </a:prstGeom>
          <a:solidFill>
            <a:srgbClr val="3A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9" name="TextBox 118">
            <a:extLst>
              <a:ext uri="{FF2B5EF4-FFF2-40B4-BE49-F238E27FC236}">
                <a16:creationId xmlns:a16="http://schemas.microsoft.com/office/drawing/2014/main" id="{0179027D-F30F-F279-1935-981DC6E9D930}"/>
              </a:ext>
            </a:extLst>
          </p:cNvPr>
          <p:cNvSpPr txBox="1"/>
          <p:nvPr/>
        </p:nvSpPr>
        <p:spPr>
          <a:xfrm>
            <a:off x="8435272" y="5422392"/>
            <a:ext cx="3227832" cy="169277"/>
          </a:xfrm>
          <a:prstGeom prst="rect">
            <a:avLst/>
          </a:prstGeom>
          <a:noFill/>
        </p:spPr>
        <p:txBody>
          <a:bodyPr wrap="square" lIns="0" tIns="0" rIns="0" bIns="0" anchor="t">
            <a:spAutoFit/>
          </a:bodyPr>
          <a:lstStyle/>
          <a:p>
            <a:pPr algn="l">
              <a:lnSpc>
                <a:spcPct val="100000"/>
              </a:lnSpc>
              <a:spcBef>
                <a:spcPts val="0"/>
              </a:spcBef>
              <a:spcAft>
                <a:spcPts val="600"/>
              </a:spcAft>
            </a:pPr>
            <a:r>
              <a:rPr sz="1100" b="1" i="0" dirty="0">
                <a:solidFill>
                  <a:srgbClr val="3A3A52"/>
                </a:solidFill>
                <a:latin typeface="Calibri"/>
              </a:rPr>
              <a:t>C</a:t>
            </a:r>
            <a:r>
              <a:rPr lang="en-IN" sz="1100" b="1" i="0" dirty="0">
                <a:solidFill>
                  <a:srgbClr val="3A3A52"/>
                </a:solidFill>
                <a:latin typeface="Calibri"/>
              </a:rPr>
              <a:t>HUNK STRATEGY</a:t>
            </a:r>
            <a:endParaRPr sz="1100" b="1" i="0" dirty="0">
              <a:solidFill>
                <a:srgbClr val="3A3A52"/>
              </a:solidFill>
              <a:latin typeface="Calibri"/>
            </a:endParaRPr>
          </a:p>
        </p:txBody>
      </p:sp>
      <p:sp>
        <p:nvSpPr>
          <p:cNvPr id="121" name="TextBox 120">
            <a:extLst>
              <a:ext uri="{FF2B5EF4-FFF2-40B4-BE49-F238E27FC236}">
                <a16:creationId xmlns:a16="http://schemas.microsoft.com/office/drawing/2014/main" id="{0510C056-13CB-09D5-889C-985AC5E2BD6E}"/>
              </a:ext>
            </a:extLst>
          </p:cNvPr>
          <p:cNvSpPr txBox="1"/>
          <p:nvPr/>
        </p:nvSpPr>
        <p:spPr>
          <a:xfrm>
            <a:off x="8421624" y="5696712"/>
            <a:ext cx="3182112" cy="233910"/>
          </a:xfrm>
          <a:prstGeom prst="rect">
            <a:avLst/>
          </a:prstGeom>
          <a:noFill/>
        </p:spPr>
        <p:txBody>
          <a:bodyPr wrap="square" lIns="0" tIns="0" rIns="0" bIns="0" anchor="t">
            <a:spAutoFit/>
          </a:bodyPr>
          <a:lstStyle/>
          <a:p>
            <a:pPr algn="l">
              <a:lnSpc>
                <a:spcPct val="95000"/>
              </a:lnSpc>
              <a:spcBef>
                <a:spcPts val="0"/>
              </a:spcBef>
              <a:spcAft>
                <a:spcPts val="600"/>
              </a:spcAft>
            </a:pPr>
            <a:r>
              <a:rPr lang="en-US" sz="1600" b="1" i="0" dirty="0">
                <a:solidFill>
                  <a:srgbClr val="13132B"/>
                </a:solidFill>
                <a:latin typeface="Calibri"/>
              </a:rPr>
              <a:t>300-500 tokens with 15% overlap</a:t>
            </a:r>
            <a:endParaRPr sz="1600" b="1" i="0" dirty="0">
              <a:solidFill>
                <a:srgbClr val="13132B"/>
              </a:solidFill>
              <a:latin typeface="Calibri"/>
            </a:endParaRPr>
          </a:p>
        </p:txBody>
      </p:sp>
      <p:sp>
        <p:nvSpPr>
          <p:cNvPr id="123" name="TextBox 122">
            <a:extLst>
              <a:ext uri="{FF2B5EF4-FFF2-40B4-BE49-F238E27FC236}">
                <a16:creationId xmlns:a16="http://schemas.microsoft.com/office/drawing/2014/main" id="{644E6E47-F482-CB36-5ABD-2036AA6B753F}"/>
              </a:ext>
            </a:extLst>
          </p:cNvPr>
          <p:cNvSpPr txBox="1"/>
          <p:nvPr/>
        </p:nvSpPr>
        <p:spPr>
          <a:xfrm>
            <a:off x="8421624" y="6080759"/>
            <a:ext cx="3182112" cy="165879"/>
          </a:xfrm>
          <a:prstGeom prst="rect">
            <a:avLst/>
          </a:prstGeom>
          <a:noFill/>
        </p:spPr>
        <p:txBody>
          <a:bodyPr wrap="square" lIns="0" tIns="0" rIns="0" bIns="0" anchor="t">
            <a:spAutoFit/>
          </a:bodyPr>
          <a:lstStyle/>
          <a:p>
            <a:pPr algn="l">
              <a:lnSpc>
                <a:spcPct val="98000"/>
              </a:lnSpc>
              <a:spcBef>
                <a:spcPts val="0"/>
              </a:spcBef>
              <a:spcAft>
                <a:spcPts val="600"/>
              </a:spcAft>
            </a:pPr>
            <a:r>
              <a:rPr sz="1100" b="0" i="0">
                <a:solidFill>
                  <a:srgbClr val="62627D"/>
                </a:solidFill>
                <a:latin typeface="Calibri"/>
              </a:rPr>
              <a:t>No-hardcoding · git-versioned thresholds</a:t>
            </a:r>
          </a:p>
        </p:txBody>
      </p:sp>
      <p:sp>
        <p:nvSpPr>
          <p:cNvPr id="125" name="TextBox 124">
            <a:extLst>
              <a:ext uri="{FF2B5EF4-FFF2-40B4-BE49-F238E27FC236}">
                <a16:creationId xmlns:a16="http://schemas.microsoft.com/office/drawing/2014/main" id="{A49390DA-EE99-04D5-19DC-B244513958B3}"/>
              </a:ext>
            </a:extLst>
          </p:cNvPr>
          <p:cNvSpPr txBox="1"/>
          <p:nvPr/>
        </p:nvSpPr>
        <p:spPr>
          <a:xfrm>
            <a:off x="676656" y="6526474"/>
            <a:ext cx="10972800" cy="184666"/>
          </a:xfrm>
          <a:prstGeom prst="rect">
            <a:avLst/>
          </a:prstGeom>
          <a:noFill/>
        </p:spPr>
        <p:txBody>
          <a:bodyPr wrap="square" lIns="0" tIns="0" rIns="0" bIns="0" anchor="t">
            <a:spAutoFit/>
          </a:bodyPr>
          <a:lstStyle/>
          <a:p>
            <a:pPr algn="l">
              <a:lnSpc>
                <a:spcPct val="100000"/>
              </a:lnSpc>
              <a:spcBef>
                <a:spcPts val="0"/>
              </a:spcBef>
              <a:spcAft>
                <a:spcPts val="600"/>
              </a:spcAft>
            </a:pPr>
            <a:r>
              <a:rPr sz="1200" b="1" i="1" dirty="0">
                <a:solidFill>
                  <a:srgbClr val="6C28D9"/>
                </a:solidFill>
                <a:latin typeface="Calibri"/>
              </a:rPr>
              <a:t>Principle: free, local, CPU-friendly components wherever possible → privacy, low cost/turn, and a demo that runs offline.</a:t>
            </a:r>
          </a:p>
        </p:txBody>
      </p:sp>
    </p:spTree>
    <p:extLst>
      <p:ext uri="{BB962C8B-B14F-4D97-AF65-F5344CB8AC3E}">
        <p14:creationId xmlns:p14="http://schemas.microsoft.com/office/powerpoint/2010/main" val="3724828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777240" y="60980"/>
            <a:ext cx="10515600" cy="1325563"/>
          </a:xfrm>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5" name="Rounded Rectangle 3">
            <a:extLst>
              <a:ext uri="{FF2B5EF4-FFF2-40B4-BE49-F238E27FC236}">
                <a16:creationId xmlns:a16="http://schemas.microsoft.com/office/drawing/2014/main" id="{13A87620-B0DD-F131-5335-30F7462DDAE2}"/>
              </a:ext>
            </a:extLst>
          </p:cNvPr>
          <p:cNvSpPr/>
          <p:nvPr/>
        </p:nvSpPr>
        <p:spPr>
          <a:xfrm>
            <a:off x="685800" y="1417320"/>
            <a:ext cx="5532120" cy="1965960"/>
          </a:xfrm>
          <a:prstGeom prst="roundRect">
            <a:avLst>
              <a:gd name="adj" fmla="val 6000"/>
            </a:avLst>
          </a:prstGeom>
          <a:solidFill>
            <a:srgbClr val="13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TextBox 6">
            <a:extLst>
              <a:ext uri="{FF2B5EF4-FFF2-40B4-BE49-F238E27FC236}">
                <a16:creationId xmlns:a16="http://schemas.microsoft.com/office/drawing/2014/main" id="{961DABDF-F021-4F47-E58F-A62658960C00}"/>
              </a:ext>
            </a:extLst>
          </p:cNvPr>
          <p:cNvSpPr txBox="1"/>
          <p:nvPr/>
        </p:nvSpPr>
        <p:spPr>
          <a:xfrm>
            <a:off x="914400" y="1554480"/>
            <a:ext cx="5120640" cy="215444"/>
          </a:xfrm>
          <a:prstGeom prst="rect">
            <a:avLst/>
          </a:prstGeom>
          <a:noFill/>
        </p:spPr>
        <p:txBody>
          <a:bodyPr wrap="square" lIns="0" tIns="0" rIns="0" bIns="0" anchor="t">
            <a:spAutoFit/>
          </a:bodyPr>
          <a:lstStyle/>
          <a:p>
            <a:pPr algn="l">
              <a:lnSpc>
                <a:spcPct val="100000"/>
              </a:lnSpc>
              <a:spcBef>
                <a:spcPts val="0"/>
              </a:spcBef>
              <a:spcAft>
                <a:spcPts val="600"/>
              </a:spcAft>
            </a:pPr>
            <a:r>
              <a:rPr sz="1400" b="1" i="0">
                <a:solidFill>
                  <a:srgbClr val="B9A6F0"/>
                </a:solidFill>
                <a:latin typeface="Calibri"/>
              </a:rPr>
              <a:t>PRIMARY USE CASE</a:t>
            </a:r>
          </a:p>
        </p:txBody>
      </p:sp>
      <p:sp>
        <p:nvSpPr>
          <p:cNvPr id="9" name="TextBox 8">
            <a:extLst>
              <a:ext uri="{FF2B5EF4-FFF2-40B4-BE49-F238E27FC236}">
                <a16:creationId xmlns:a16="http://schemas.microsoft.com/office/drawing/2014/main" id="{8C7C028F-27B2-AE23-3189-67B616C4FAE9}"/>
              </a:ext>
            </a:extLst>
          </p:cNvPr>
          <p:cNvSpPr txBox="1"/>
          <p:nvPr/>
        </p:nvSpPr>
        <p:spPr>
          <a:xfrm>
            <a:off x="914400" y="1920240"/>
            <a:ext cx="5120640" cy="809902"/>
          </a:xfrm>
          <a:prstGeom prst="rect">
            <a:avLst/>
          </a:prstGeom>
          <a:noFill/>
        </p:spPr>
        <p:txBody>
          <a:bodyPr wrap="square" lIns="0" tIns="0" rIns="0" bIns="0" anchor="t">
            <a:spAutoFit/>
          </a:bodyPr>
          <a:lstStyle/>
          <a:p>
            <a:pPr algn="l">
              <a:lnSpc>
                <a:spcPct val="110000"/>
              </a:lnSpc>
              <a:spcBef>
                <a:spcPts val="0"/>
              </a:spcBef>
              <a:spcAft>
                <a:spcPts val="600"/>
              </a:spcAft>
            </a:pPr>
            <a:r>
              <a:rPr sz="1600" b="1" i="0">
                <a:solidFill>
                  <a:srgbClr val="FFFFFF"/>
                </a:solidFill>
                <a:latin typeface="Calibri"/>
              </a:rPr>
              <a:t>On-device Samsung assistant (Bixby-style)</a:t>
            </a:r>
          </a:p>
          <a:p>
            <a:pPr algn="l">
              <a:lnSpc>
                <a:spcPct val="110000"/>
              </a:lnSpc>
              <a:spcBef>
                <a:spcPts val="0"/>
              </a:spcBef>
              <a:spcAft>
                <a:spcPts val="600"/>
              </a:spcAft>
            </a:pPr>
            <a:r>
              <a:rPr sz="1400" b="0" i="0">
                <a:solidFill>
                  <a:srgbClr val="FFFFFF"/>
                </a:solidFill>
                <a:latin typeface="Calibri"/>
              </a:rPr>
              <a:t>answering from a device manual / support corpus </a:t>
            </a:r>
            <a:r>
              <a:rPr sz="1400" b="1" i="0">
                <a:solidFill>
                  <a:srgbClr val="B9A6F0"/>
                </a:solidFill>
                <a:latin typeface="Calibri"/>
              </a:rPr>
              <a:t>while the user is still talking</a:t>
            </a:r>
            <a:r>
              <a:rPr sz="1400" b="0" i="0">
                <a:solidFill>
                  <a:srgbClr val="FFFFFF"/>
                </a:solidFill>
                <a:latin typeface="Calibri"/>
              </a:rPr>
              <a:t> — grounded, cited, and instant, entirely on-device.</a:t>
            </a:r>
          </a:p>
        </p:txBody>
      </p:sp>
      <p:sp>
        <p:nvSpPr>
          <p:cNvPr id="11" name="TextBox 10">
            <a:extLst>
              <a:ext uri="{FF2B5EF4-FFF2-40B4-BE49-F238E27FC236}">
                <a16:creationId xmlns:a16="http://schemas.microsoft.com/office/drawing/2014/main" id="{3976742B-D8B4-C284-509C-1D4B5A1A3BBE}"/>
              </a:ext>
            </a:extLst>
          </p:cNvPr>
          <p:cNvSpPr txBox="1"/>
          <p:nvPr/>
        </p:nvSpPr>
        <p:spPr>
          <a:xfrm>
            <a:off x="6355080" y="1417320"/>
            <a:ext cx="5486400" cy="246221"/>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6C28D9"/>
                </a:solidFill>
                <a:latin typeface="Calibri"/>
              </a:rPr>
              <a:t>Why it matters</a:t>
            </a:r>
          </a:p>
        </p:txBody>
      </p:sp>
      <p:sp>
        <p:nvSpPr>
          <p:cNvPr id="13" name="Rounded Rectangle 7">
            <a:extLst>
              <a:ext uri="{FF2B5EF4-FFF2-40B4-BE49-F238E27FC236}">
                <a16:creationId xmlns:a16="http://schemas.microsoft.com/office/drawing/2014/main" id="{059C2502-84D7-1A5A-61BF-985B8A5D401A}"/>
              </a:ext>
            </a:extLst>
          </p:cNvPr>
          <p:cNvSpPr/>
          <p:nvPr/>
        </p:nvSpPr>
        <p:spPr>
          <a:xfrm>
            <a:off x="6355080" y="1828800"/>
            <a:ext cx="5349240" cy="658368"/>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Rounded Rectangle 8">
            <a:extLst>
              <a:ext uri="{FF2B5EF4-FFF2-40B4-BE49-F238E27FC236}">
                <a16:creationId xmlns:a16="http://schemas.microsoft.com/office/drawing/2014/main" id="{78194AF8-F0FC-D1A7-1665-152821466BDF}"/>
              </a:ext>
            </a:extLst>
          </p:cNvPr>
          <p:cNvSpPr/>
          <p:nvPr/>
        </p:nvSpPr>
        <p:spPr>
          <a:xfrm>
            <a:off x="6355080" y="1828800"/>
            <a:ext cx="118872" cy="658368"/>
          </a:xfrm>
          <a:prstGeom prst="roundRect">
            <a:avLst>
              <a:gd name="adj" fmla="val 50000"/>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TextBox 16">
            <a:extLst>
              <a:ext uri="{FF2B5EF4-FFF2-40B4-BE49-F238E27FC236}">
                <a16:creationId xmlns:a16="http://schemas.microsoft.com/office/drawing/2014/main" id="{62DC04FD-D031-1E5F-7A2B-A36078368DC8}"/>
              </a:ext>
            </a:extLst>
          </p:cNvPr>
          <p:cNvSpPr txBox="1"/>
          <p:nvPr/>
        </p:nvSpPr>
        <p:spPr>
          <a:xfrm>
            <a:off x="6583680" y="2034873"/>
            <a:ext cx="2286000"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a:solidFill>
                  <a:srgbClr val="13132B"/>
                </a:solidFill>
                <a:latin typeface="Calibri"/>
              </a:rPr>
              <a:t>↓ TTFT</a:t>
            </a:r>
          </a:p>
        </p:txBody>
      </p:sp>
      <p:sp>
        <p:nvSpPr>
          <p:cNvPr id="19" name="TextBox 18">
            <a:extLst>
              <a:ext uri="{FF2B5EF4-FFF2-40B4-BE49-F238E27FC236}">
                <a16:creationId xmlns:a16="http://schemas.microsoft.com/office/drawing/2014/main" id="{499F0AB5-61A8-6F8B-EB4E-0E2E1EF05323}"/>
              </a:ext>
            </a:extLst>
          </p:cNvPr>
          <p:cNvSpPr txBox="1"/>
          <p:nvPr/>
        </p:nvSpPr>
        <p:spPr>
          <a:xfrm>
            <a:off x="8641080" y="2065651"/>
            <a:ext cx="2971800" cy="184666"/>
          </a:xfrm>
          <a:prstGeom prst="rect">
            <a:avLst/>
          </a:prstGeom>
          <a:noFill/>
        </p:spPr>
        <p:txBody>
          <a:bodyPr wrap="square" lIns="0" tIns="0" rIns="0" bIns="0" anchor="ctr">
            <a:spAutoFit/>
          </a:bodyPr>
          <a:lstStyle/>
          <a:p>
            <a:pPr algn="l">
              <a:lnSpc>
                <a:spcPct val="100000"/>
              </a:lnSpc>
              <a:spcBef>
                <a:spcPts val="0"/>
              </a:spcBef>
              <a:spcAft>
                <a:spcPts val="600"/>
              </a:spcAft>
            </a:pPr>
            <a:r>
              <a:rPr sz="1200" b="0" i="0">
                <a:solidFill>
                  <a:srgbClr val="62627D"/>
                </a:solidFill>
                <a:latin typeface="Calibri"/>
              </a:rPr>
              <a:t>Speculative retrieval → answers feel instant</a:t>
            </a:r>
          </a:p>
        </p:txBody>
      </p:sp>
      <p:sp>
        <p:nvSpPr>
          <p:cNvPr id="21" name="Rounded Rectangle 11">
            <a:extLst>
              <a:ext uri="{FF2B5EF4-FFF2-40B4-BE49-F238E27FC236}">
                <a16:creationId xmlns:a16="http://schemas.microsoft.com/office/drawing/2014/main" id="{5354F1FE-4425-76C5-E132-931637D44A29}"/>
              </a:ext>
            </a:extLst>
          </p:cNvPr>
          <p:cNvSpPr/>
          <p:nvPr/>
        </p:nvSpPr>
        <p:spPr>
          <a:xfrm>
            <a:off x="6355080" y="2587752"/>
            <a:ext cx="5349240" cy="658368"/>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ounded Rectangle 12">
            <a:extLst>
              <a:ext uri="{FF2B5EF4-FFF2-40B4-BE49-F238E27FC236}">
                <a16:creationId xmlns:a16="http://schemas.microsoft.com/office/drawing/2014/main" id="{46A38A85-0949-4608-1DDE-8B76EFA53939}"/>
              </a:ext>
            </a:extLst>
          </p:cNvPr>
          <p:cNvSpPr/>
          <p:nvPr/>
        </p:nvSpPr>
        <p:spPr>
          <a:xfrm>
            <a:off x="6355080" y="2587752"/>
            <a:ext cx="118872" cy="658368"/>
          </a:xfrm>
          <a:prstGeom prst="roundRect">
            <a:avLst>
              <a:gd name="adj" fmla="val 50000"/>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a:extLst>
              <a:ext uri="{FF2B5EF4-FFF2-40B4-BE49-F238E27FC236}">
                <a16:creationId xmlns:a16="http://schemas.microsoft.com/office/drawing/2014/main" id="{188FC223-E6AB-3D10-4BDB-6C6B025A725A}"/>
              </a:ext>
            </a:extLst>
          </p:cNvPr>
          <p:cNvSpPr txBox="1"/>
          <p:nvPr/>
        </p:nvSpPr>
        <p:spPr>
          <a:xfrm>
            <a:off x="6583680" y="2793825"/>
            <a:ext cx="2286000"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a:solidFill>
                  <a:srgbClr val="13132B"/>
                </a:solidFill>
                <a:latin typeface="Calibri"/>
              </a:rPr>
              <a:t>↓ Turns</a:t>
            </a:r>
          </a:p>
        </p:txBody>
      </p:sp>
      <p:sp>
        <p:nvSpPr>
          <p:cNvPr id="27" name="TextBox 26">
            <a:extLst>
              <a:ext uri="{FF2B5EF4-FFF2-40B4-BE49-F238E27FC236}">
                <a16:creationId xmlns:a16="http://schemas.microsoft.com/office/drawing/2014/main" id="{266D6554-0131-F528-D0D1-65937864D465}"/>
              </a:ext>
            </a:extLst>
          </p:cNvPr>
          <p:cNvSpPr txBox="1"/>
          <p:nvPr/>
        </p:nvSpPr>
        <p:spPr>
          <a:xfrm>
            <a:off x="8641080" y="2824603"/>
            <a:ext cx="2971800" cy="184666"/>
          </a:xfrm>
          <a:prstGeom prst="rect">
            <a:avLst/>
          </a:prstGeom>
          <a:noFill/>
        </p:spPr>
        <p:txBody>
          <a:bodyPr wrap="square" lIns="0" tIns="0" rIns="0" bIns="0" anchor="ctr">
            <a:spAutoFit/>
          </a:bodyPr>
          <a:lstStyle/>
          <a:p>
            <a:pPr algn="l">
              <a:lnSpc>
                <a:spcPct val="100000"/>
              </a:lnSpc>
              <a:spcBef>
                <a:spcPts val="0"/>
              </a:spcBef>
              <a:spcAft>
                <a:spcPts val="600"/>
              </a:spcAft>
            </a:pPr>
            <a:r>
              <a:rPr sz="1200" b="0" i="0">
                <a:solidFill>
                  <a:srgbClr val="62627D"/>
                </a:solidFill>
                <a:latin typeface="Calibri"/>
              </a:rPr>
              <a:t>Multi-intent fan-out answers everything at once</a:t>
            </a:r>
          </a:p>
        </p:txBody>
      </p:sp>
      <p:sp>
        <p:nvSpPr>
          <p:cNvPr id="29" name="Rounded Rectangle 15">
            <a:extLst>
              <a:ext uri="{FF2B5EF4-FFF2-40B4-BE49-F238E27FC236}">
                <a16:creationId xmlns:a16="http://schemas.microsoft.com/office/drawing/2014/main" id="{BE6FFC88-950F-CACD-EF64-4FD218612C3B}"/>
              </a:ext>
            </a:extLst>
          </p:cNvPr>
          <p:cNvSpPr/>
          <p:nvPr/>
        </p:nvSpPr>
        <p:spPr>
          <a:xfrm>
            <a:off x="6355080" y="3346704"/>
            <a:ext cx="5349240" cy="658368"/>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Rounded Rectangle 16">
            <a:extLst>
              <a:ext uri="{FF2B5EF4-FFF2-40B4-BE49-F238E27FC236}">
                <a16:creationId xmlns:a16="http://schemas.microsoft.com/office/drawing/2014/main" id="{C217D104-468E-F56D-10F2-7A40FDDE31CF}"/>
              </a:ext>
            </a:extLst>
          </p:cNvPr>
          <p:cNvSpPr/>
          <p:nvPr/>
        </p:nvSpPr>
        <p:spPr>
          <a:xfrm>
            <a:off x="6355080" y="3346704"/>
            <a:ext cx="118872" cy="658368"/>
          </a:xfrm>
          <a:prstGeom prst="roundRect">
            <a:avLst>
              <a:gd name="adj" fmla="val 50000"/>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3" name="TextBox 32">
            <a:extLst>
              <a:ext uri="{FF2B5EF4-FFF2-40B4-BE49-F238E27FC236}">
                <a16:creationId xmlns:a16="http://schemas.microsoft.com/office/drawing/2014/main" id="{A4453E50-8B92-EDDF-8CEC-E839CC4CEBF2}"/>
              </a:ext>
            </a:extLst>
          </p:cNvPr>
          <p:cNvSpPr txBox="1"/>
          <p:nvPr/>
        </p:nvSpPr>
        <p:spPr>
          <a:xfrm>
            <a:off x="6583680" y="3552777"/>
            <a:ext cx="2286000"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dirty="0">
                <a:solidFill>
                  <a:srgbClr val="13132B"/>
                </a:solidFill>
                <a:latin typeface="Calibri"/>
              </a:rPr>
              <a:t>0 hallucination</a:t>
            </a:r>
          </a:p>
        </p:txBody>
      </p:sp>
      <p:sp>
        <p:nvSpPr>
          <p:cNvPr id="35" name="TextBox 34">
            <a:extLst>
              <a:ext uri="{FF2B5EF4-FFF2-40B4-BE49-F238E27FC236}">
                <a16:creationId xmlns:a16="http://schemas.microsoft.com/office/drawing/2014/main" id="{B85C14AA-8AF3-06FC-39AF-8EC191B8EBE5}"/>
              </a:ext>
            </a:extLst>
          </p:cNvPr>
          <p:cNvSpPr txBox="1"/>
          <p:nvPr/>
        </p:nvSpPr>
        <p:spPr>
          <a:xfrm>
            <a:off x="8641080" y="3583555"/>
            <a:ext cx="2971800" cy="184666"/>
          </a:xfrm>
          <a:prstGeom prst="rect">
            <a:avLst/>
          </a:prstGeom>
          <a:noFill/>
        </p:spPr>
        <p:txBody>
          <a:bodyPr wrap="square" lIns="0" tIns="0" rIns="0" bIns="0" anchor="ctr">
            <a:spAutoFit/>
          </a:bodyPr>
          <a:lstStyle/>
          <a:p>
            <a:pPr algn="l">
              <a:lnSpc>
                <a:spcPct val="100000"/>
              </a:lnSpc>
              <a:spcBef>
                <a:spcPts val="0"/>
              </a:spcBef>
              <a:spcAft>
                <a:spcPts val="600"/>
              </a:spcAft>
            </a:pPr>
            <a:r>
              <a:rPr sz="1200" b="0" i="0">
                <a:solidFill>
                  <a:srgbClr val="62627D"/>
                </a:solidFill>
                <a:latin typeface="Calibri"/>
              </a:rPr>
              <a:t>Whitelist grounding, not prompt-begging</a:t>
            </a:r>
          </a:p>
        </p:txBody>
      </p:sp>
      <p:sp>
        <p:nvSpPr>
          <p:cNvPr id="37" name="Rounded Rectangle 19">
            <a:extLst>
              <a:ext uri="{FF2B5EF4-FFF2-40B4-BE49-F238E27FC236}">
                <a16:creationId xmlns:a16="http://schemas.microsoft.com/office/drawing/2014/main" id="{95F4975B-D215-EE54-0360-AE51CAAC4F7C}"/>
              </a:ext>
            </a:extLst>
          </p:cNvPr>
          <p:cNvSpPr/>
          <p:nvPr/>
        </p:nvSpPr>
        <p:spPr>
          <a:xfrm>
            <a:off x="6355080" y="4105656"/>
            <a:ext cx="5349240" cy="658368"/>
          </a:xfrm>
          <a:prstGeom prst="roundRect">
            <a:avLst>
              <a:gd name="adj" fmla="val 6000"/>
            </a:avLst>
          </a:prstGeom>
          <a:solidFill>
            <a:srgbClr val="F4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9" name="Rounded Rectangle 20">
            <a:extLst>
              <a:ext uri="{FF2B5EF4-FFF2-40B4-BE49-F238E27FC236}">
                <a16:creationId xmlns:a16="http://schemas.microsoft.com/office/drawing/2014/main" id="{9DCEA796-AD19-ED73-35BC-564487727CFB}"/>
              </a:ext>
            </a:extLst>
          </p:cNvPr>
          <p:cNvSpPr/>
          <p:nvPr/>
        </p:nvSpPr>
        <p:spPr>
          <a:xfrm>
            <a:off x="6355080" y="4105656"/>
            <a:ext cx="118872" cy="658368"/>
          </a:xfrm>
          <a:prstGeom prst="roundRect">
            <a:avLst>
              <a:gd name="adj" fmla="val 5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1" name="TextBox 40">
            <a:extLst>
              <a:ext uri="{FF2B5EF4-FFF2-40B4-BE49-F238E27FC236}">
                <a16:creationId xmlns:a16="http://schemas.microsoft.com/office/drawing/2014/main" id="{359F6EC0-A786-0F7F-6250-7E4294FA35AA}"/>
              </a:ext>
            </a:extLst>
          </p:cNvPr>
          <p:cNvSpPr txBox="1"/>
          <p:nvPr/>
        </p:nvSpPr>
        <p:spPr>
          <a:xfrm>
            <a:off x="6583680" y="4311729"/>
            <a:ext cx="2286000"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a:solidFill>
                  <a:srgbClr val="13132B"/>
                </a:solidFill>
                <a:latin typeface="Calibri"/>
              </a:rPr>
              <a:t>↓ Cost/turn</a:t>
            </a:r>
          </a:p>
        </p:txBody>
      </p:sp>
      <p:sp>
        <p:nvSpPr>
          <p:cNvPr id="43" name="TextBox 42">
            <a:extLst>
              <a:ext uri="{FF2B5EF4-FFF2-40B4-BE49-F238E27FC236}">
                <a16:creationId xmlns:a16="http://schemas.microsoft.com/office/drawing/2014/main" id="{7D050A75-800A-5D51-0697-68C55FAB3300}"/>
              </a:ext>
            </a:extLst>
          </p:cNvPr>
          <p:cNvSpPr txBox="1"/>
          <p:nvPr/>
        </p:nvSpPr>
        <p:spPr>
          <a:xfrm>
            <a:off x="8641080" y="4342507"/>
            <a:ext cx="2971800" cy="184666"/>
          </a:xfrm>
          <a:prstGeom prst="rect">
            <a:avLst/>
          </a:prstGeom>
          <a:noFill/>
        </p:spPr>
        <p:txBody>
          <a:bodyPr wrap="square" lIns="0" tIns="0" rIns="0" bIns="0" anchor="ctr">
            <a:spAutoFit/>
          </a:bodyPr>
          <a:lstStyle/>
          <a:p>
            <a:pPr algn="l">
              <a:lnSpc>
                <a:spcPct val="100000"/>
              </a:lnSpc>
              <a:spcBef>
                <a:spcPts val="0"/>
              </a:spcBef>
              <a:spcAft>
                <a:spcPts val="600"/>
              </a:spcAft>
            </a:pPr>
            <a:r>
              <a:rPr sz="1200" b="0" i="0">
                <a:solidFill>
                  <a:srgbClr val="62627D"/>
                </a:solidFill>
                <a:latin typeface="Calibri"/>
              </a:rPr>
              <a:t>Small local models · no agent orchestration</a:t>
            </a:r>
          </a:p>
        </p:txBody>
      </p:sp>
      <p:sp>
        <p:nvSpPr>
          <p:cNvPr id="45" name="TextBox 44">
            <a:extLst>
              <a:ext uri="{FF2B5EF4-FFF2-40B4-BE49-F238E27FC236}">
                <a16:creationId xmlns:a16="http://schemas.microsoft.com/office/drawing/2014/main" id="{53A2BC98-FB17-C194-3043-4AF6AC249728}"/>
              </a:ext>
            </a:extLst>
          </p:cNvPr>
          <p:cNvSpPr txBox="1"/>
          <p:nvPr/>
        </p:nvSpPr>
        <p:spPr>
          <a:xfrm>
            <a:off x="685800" y="3611880"/>
            <a:ext cx="5486400" cy="246221"/>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6C28D9"/>
                </a:solidFill>
                <a:latin typeface="Calibri"/>
              </a:rPr>
              <a:t>Where else it applies</a:t>
            </a:r>
          </a:p>
        </p:txBody>
      </p:sp>
      <p:sp>
        <p:nvSpPr>
          <p:cNvPr id="47" name="Rounded Rectangle 24">
            <a:extLst>
              <a:ext uri="{FF2B5EF4-FFF2-40B4-BE49-F238E27FC236}">
                <a16:creationId xmlns:a16="http://schemas.microsoft.com/office/drawing/2014/main" id="{69DEE954-DFF2-2066-BF85-A694E051DE4C}"/>
              </a:ext>
            </a:extLst>
          </p:cNvPr>
          <p:cNvSpPr/>
          <p:nvPr/>
        </p:nvSpPr>
        <p:spPr>
          <a:xfrm>
            <a:off x="685800" y="4041648"/>
            <a:ext cx="2724912" cy="566928"/>
          </a:xfrm>
          <a:prstGeom prst="roundRect">
            <a:avLst>
              <a:gd name="adj" fmla="val 6000"/>
            </a:avLst>
          </a:prstGeom>
          <a:solidFill>
            <a:srgbClr val="ECE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9" name="Oval 48">
            <a:extLst>
              <a:ext uri="{FF2B5EF4-FFF2-40B4-BE49-F238E27FC236}">
                <a16:creationId xmlns:a16="http://schemas.microsoft.com/office/drawing/2014/main" id="{404B8963-6BDD-C695-8E41-E1EA1F31B110}"/>
              </a:ext>
            </a:extLst>
          </p:cNvPr>
          <p:cNvSpPr/>
          <p:nvPr/>
        </p:nvSpPr>
        <p:spPr>
          <a:xfrm>
            <a:off x="822960" y="4215384"/>
            <a:ext cx="219456" cy="219456"/>
          </a:xfrm>
          <a:prstGeom prst="ellipse">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1" name="TextBox 50">
            <a:extLst>
              <a:ext uri="{FF2B5EF4-FFF2-40B4-BE49-F238E27FC236}">
                <a16:creationId xmlns:a16="http://schemas.microsoft.com/office/drawing/2014/main" id="{3D2C8013-58FD-F7EE-C2F9-FC4394FF68B5}"/>
              </a:ext>
            </a:extLst>
          </p:cNvPr>
          <p:cNvSpPr txBox="1"/>
          <p:nvPr/>
        </p:nvSpPr>
        <p:spPr>
          <a:xfrm>
            <a:off x="1143000" y="4234638"/>
            <a:ext cx="2176272" cy="180947"/>
          </a:xfrm>
          <a:prstGeom prst="rect">
            <a:avLst/>
          </a:prstGeom>
          <a:noFill/>
        </p:spPr>
        <p:txBody>
          <a:bodyPr wrap="square" lIns="0" tIns="0" rIns="0" bIns="0" anchor="ctr">
            <a:spAutoFit/>
          </a:bodyPr>
          <a:lstStyle/>
          <a:p>
            <a:pPr algn="l">
              <a:lnSpc>
                <a:spcPct val="98000"/>
              </a:lnSpc>
              <a:spcBef>
                <a:spcPts val="0"/>
              </a:spcBef>
              <a:spcAft>
                <a:spcPts val="600"/>
              </a:spcAft>
            </a:pPr>
            <a:r>
              <a:rPr sz="1200" b="0" i="0">
                <a:solidFill>
                  <a:srgbClr val="13132B"/>
                </a:solidFill>
                <a:latin typeface="Calibri"/>
              </a:rPr>
              <a:t>Customer-support voice bots</a:t>
            </a:r>
          </a:p>
        </p:txBody>
      </p:sp>
      <p:sp>
        <p:nvSpPr>
          <p:cNvPr id="53" name="Rounded Rectangle 27">
            <a:extLst>
              <a:ext uri="{FF2B5EF4-FFF2-40B4-BE49-F238E27FC236}">
                <a16:creationId xmlns:a16="http://schemas.microsoft.com/office/drawing/2014/main" id="{394D6997-FDB7-CAC1-9784-AAC5DAF7FB01}"/>
              </a:ext>
            </a:extLst>
          </p:cNvPr>
          <p:cNvSpPr/>
          <p:nvPr/>
        </p:nvSpPr>
        <p:spPr>
          <a:xfrm>
            <a:off x="3529584" y="4041648"/>
            <a:ext cx="2724912" cy="566928"/>
          </a:xfrm>
          <a:prstGeom prst="roundRect">
            <a:avLst>
              <a:gd name="adj" fmla="val 6000"/>
            </a:avLst>
          </a:prstGeom>
          <a:solidFill>
            <a:srgbClr val="ECE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Oval 54">
            <a:extLst>
              <a:ext uri="{FF2B5EF4-FFF2-40B4-BE49-F238E27FC236}">
                <a16:creationId xmlns:a16="http://schemas.microsoft.com/office/drawing/2014/main" id="{F1DEA5CD-9F7C-66EE-3D43-A58D7B095B85}"/>
              </a:ext>
            </a:extLst>
          </p:cNvPr>
          <p:cNvSpPr/>
          <p:nvPr/>
        </p:nvSpPr>
        <p:spPr>
          <a:xfrm>
            <a:off x="3666744" y="4215384"/>
            <a:ext cx="219456" cy="219456"/>
          </a:xfrm>
          <a:prstGeom prst="ellipse">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7" name="TextBox 56">
            <a:extLst>
              <a:ext uri="{FF2B5EF4-FFF2-40B4-BE49-F238E27FC236}">
                <a16:creationId xmlns:a16="http://schemas.microsoft.com/office/drawing/2014/main" id="{ED3AD636-6105-19D9-F778-D448ACE3E38C}"/>
              </a:ext>
            </a:extLst>
          </p:cNvPr>
          <p:cNvSpPr txBox="1"/>
          <p:nvPr/>
        </p:nvSpPr>
        <p:spPr>
          <a:xfrm>
            <a:off x="3986783" y="4234638"/>
            <a:ext cx="2176272" cy="180947"/>
          </a:xfrm>
          <a:prstGeom prst="rect">
            <a:avLst/>
          </a:prstGeom>
          <a:noFill/>
        </p:spPr>
        <p:txBody>
          <a:bodyPr wrap="square" lIns="0" tIns="0" rIns="0" bIns="0" anchor="ctr">
            <a:spAutoFit/>
          </a:bodyPr>
          <a:lstStyle/>
          <a:p>
            <a:pPr algn="l">
              <a:lnSpc>
                <a:spcPct val="98000"/>
              </a:lnSpc>
              <a:spcBef>
                <a:spcPts val="0"/>
              </a:spcBef>
              <a:spcAft>
                <a:spcPts val="600"/>
              </a:spcAft>
            </a:pPr>
            <a:r>
              <a:rPr sz="1200" b="0" i="0">
                <a:solidFill>
                  <a:srgbClr val="13132B"/>
                </a:solidFill>
                <a:latin typeface="Calibri"/>
              </a:rPr>
              <a:t>Live meeting copilots</a:t>
            </a:r>
          </a:p>
        </p:txBody>
      </p:sp>
      <p:sp>
        <p:nvSpPr>
          <p:cNvPr id="59" name="Rounded Rectangle 30">
            <a:extLst>
              <a:ext uri="{FF2B5EF4-FFF2-40B4-BE49-F238E27FC236}">
                <a16:creationId xmlns:a16="http://schemas.microsoft.com/office/drawing/2014/main" id="{32BF27C0-DC9C-8F96-2D96-6B6C8235F946}"/>
              </a:ext>
            </a:extLst>
          </p:cNvPr>
          <p:cNvSpPr/>
          <p:nvPr/>
        </p:nvSpPr>
        <p:spPr>
          <a:xfrm>
            <a:off x="685800" y="4736592"/>
            <a:ext cx="2724912" cy="566928"/>
          </a:xfrm>
          <a:prstGeom prst="roundRect">
            <a:avLst>
              <a:gd name="adj" fmla="val 6000"/>
            </a:avLst>
          </a:prstGeom>
          <a:solidFill>
            <a:srgbClr val="ECE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Oval 60">
            <a:extLst>
              <a:ext uri="{FF2B5EF4-FFF2-40B4-BE49-F238E27FC236}">
                <a16:creationId xmlns:a16="http://schemas.microsoft.com/office/drawing/2014/main" id="{41D5B84A-0E9E-2185-5A8B-D70342B3B44A}"/>
              </a:ext>
            </a:extLst>
          </p:cNvPr>
          <p:cNvSpPr/>
          <p:nvPr/>
        </p:nvSpPr>
        <p:spPr>
          <a:xfrm>
            <a:off x="822960" y="4910328"/>
            <a:ext cx="219456" cy="219456"/>
          </a:xfrm>
          <a:prstGeom prst="ellipse">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3" name="TextBox 62">
            <a:extLst>
              <a:ext uri="{FF2B5EF4-FFF2-40B4-BE49-F238E27FC236}">
                <a16:creationId xmlns:a16="http://schemas.microsoft.com/office/drawing/2014/main" id="{8A3F435D-152D-2843-6280-0EDDB185CA5A}"/>
              </a:ext>
            </a:extLst>
          </p:cNvPr>
          <p:cNvSpPr txBox="1"/>
          <p:nvPr/>
        </p:nvSpPr>
        <p:spPr>
          <a:xfrm>
            <a:off x="1143000" y="4929582"/>
            <a:ext cx="2176272" cy="180947"/>
          </a:xfrm>
          <a:prstGeom prst="rect">
            <a:avLst/>
          </a:prstGeom>
          <a:noFill/>
        </p:spPr>
        <p:txBody>
          <a:bodyPr wrap="square" lIns="0" tIns="0" rIns="0" bIns="0" anchor="ctr">
            <a:spAutoFit/>
          </a:bodyPr>
          <a:lstStyle/>
          <a:p>
            <a:pPr algn="l">
              <a:lnSpc>
                <a:spcPct val="98000"/>
              </a:lnSpc>
              <a:spcBef>
                <a:spcPts val="0"/>
              </a:spcBef>
              <a:spcAft>
                <a:spcPts val="600"/>
              </a:spcAft>
            </a:pPr>
            <a:r>
              <a:rPr sz="1200" b="0" i="0">
                <a:solidFill>
                  <a:srgbClr val="13132B"/>
                </a:solidFill>
                <a:latin typeface="Calibri"/>
              </a:rPr>
              <a:t>In-car / hands-free assistants</a:t>
            </a:r>
          </a:p>
        </p:txBody>
      </p:sp>
      <p:sp>
        <p:nvSpPr>
          <p:cNvPr id="65" name="Rounded Rectangle 33">
            <a:extLst>
              <a:ext uri="{FF2B5EF4-FFF2-40B4-BE49-F238E27FC236}">
                <a16:creationId xmlns:a16="http://schemas.microsoft.com/office/drawing/2014/main" id="{F98AED57-3B4E-79CE-604D-672339BFB3F8}"/>
              </a:ext>
            </a:extLst>
          </p:cNvPr>
          <p:cNvSpPr/>
          <p:nvPr/>
        </p:nvSpPr>
        <p:spPr>
          <a:xfrm>
            <a:off x="3529584" y="4736592"/>
            <a:ext cx="2724912" cy="566928"/>
          </a:xfrm>
          <a:prstGeom prst="roundRect">
            <a:avLst>
              <a:gd name="adj" fmla="val 6000"/>
            </a:avLst>
          </a:prstGeom>
          <a:solidFill>
            <a:srgbClr val="ECE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7" name="Oval 66">
            <a:extLst>
              <a:ext uri="{FF2B5EF4-FFF2-40B4-BE49-F238E27FC236}">
                <a16:creationId xmlns:a16="http://schemas.microsoft.com/office/drawing/2014/main" id="{B8FA3CC1-42C4-705A-4D52-22F2ACDBF2AF}"/>
              </a:ext>
            </a:extLst>
          </p:cNvPr>
          <p:cNvSpPr/>
          <p:nvPr/>
        </p:nvSpPr>
        <p:spPr>
          <a:xfrm>
            <a:off x="3666744" y="4910328"/>
            <a:ext cx="219456" cy="219456"/>
          </a:xfrm>
          <a:prstGeom prst="ellipse">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9" name="TextBox 68">
            <a:extLst>
              <a:ext uri="{FF2B5EF4-FFF2-40B4-BE49-F238E27FC236}">
                <a16:creationId xmlns:a16="http://schemas.microsoft.com/office/drawing/2014/main" id="{2E7F8EEE-A031-0D72-BD81-5D57F16B2089}"/>
              </a:ext>
            </a:extLst>
          </p:cNvPr>
          <p:cNvSpPr txBox="1"/>
          <p:nvPr/>
        </p:nvSpPr>
        <p:spPr>
          <a:xfrm>
            <a:off x="3986783" y="4929582"/>
            <a:ext cx="2176272" cy="180947"/>
          </a:xfrm>
          <a:prstGeom prst="rect">
            <a:avLst/>
          </a:prstGeom>
          <a:noFill/>
        </p:spPr>
        <p:txBody>
          <a:bodyPr wrap="square" lIns="0" tIns="0" rIns="0" bIns="0" anchor="ctr">
            <a:spAutoFit/>
          </a:bodyPr>
          <a:lstStyle/>
          <a:p>
            <a:pPr algn="l">
              <a:lnSpc>
                <a:spcPct val="98000"/>
              </a:lnSpc>
              <a:spcBef>
                <a:spcPts val="0"/>
              </a:spcBef>
              <a:spcAft>
                <a:spcPts val="600"/>
              </a:spcAft>
            </a:pPr>
            <a:r>
              <a:rPr sz="1200" b="0" i="0">
                <a:solidFill>
                  <a:srgbClr val="13132B"/>
                </a:solidFill>
                <a:latin typeface="Calibri"/>
              </a:rPr>
              <a:t>Accessibility (hands-free Q&amp;A)</a:t>
            </a:r>
          </a:p>
        </p:txBody>
      </p:sp>
      <p:sp>
        <p:nvSpPr>
          <p:cNvPr id="71" name="Rounded Rectangle 36">
            <a:extLst>
              <a:ext uri="{FF2B5EF4-FFF2-40B4-BE49-F238E27FC236}">
                <a16:creationId xmlns:a16="http://schemas.microsoft.com/office/drawing/2014/main" id="{F068D43E-0F8F-19BA-DEBA-BFB7857B3F58}"/>
              </a:ext>
            </a:extLst>
          </p:cNvPr>
          <p:cNvSpPr/>
          <p:nvPr/>
        </p:nvSpPr>
        <p:spPr>
          <a:xfrm>
            <a:off x="685800" y="5431536"/>
            <a:ext cx="2724912" cy="566928"/>
          </a:xfrm>
          <a:prstGeom prst="roundRect">
            <a:avLst>
              <a:gd name="adj" fmla="val 6000"/>
            </a:avLst>
          </a:prstGeom>
          <a:solidFill>
            <a:srgbClr val="ECE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3" name="Oval 72">
            <a:extLst>
              <a:ext uri="{FF2B5EF4-FFF2-40B4-BE49-F238E27FC236}">
                <a16:creationId xmlns:a16="http://schemas.microsoft.com/office/drawing/2014/main" id="{D7CF3C15-E30E-4B97-23AE-C004747B6171}"/>
              </a:ext>
            </a:extLst>
          </p:cNvPr>
          <p:cNvSpPr/>
          <p:nvPr/>
        </p:nvSpPr>
        <p:spPr>
          <a:xfrm>
            <a:off x="822960" y="5605272"/>
            <a:ext cx="219456" cy="219456"/>
          </a:xfrm>
          <a:prstGeom prst="ellipse">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5" name="TextBox 74">
            <a:extLst>
              <a:ext uri="{FF2B5EF4-FFF2-40B4-BE49-F238E27FC236}">
                <a16:creationId xmlns:a16="http://schemas.microsoft.com/office/drawing/2014/main" id="{BDE314F9-646B-8D32-392B-9003DC80E33F}"/>
              </a:ext>
            </a:extLst>
          </p:cNvPr>
          <p:cNvSpPr txBox="1"/>
          <p:nvPr/>
        </p:nvSpPr>
        <p:spPr>
          <a:xfrm>
            <a:off x="1143000" y="5534053"/>
            <a:ext cx="2176272" cy="361894"/>
          </a:xfrm>
          <a:prstGeom prst="rect">
            <a:avLst/>
          </a:prstGeom>
          <a:noFill/>
        </p:spPr>
        <p:txBody>
          <a:bodyPr wrap="square" lIns="0" tIns="0" rIns="0" bIns="0" anchor="ctr">
            <a:spAutoFit/>
          </a:bodyPr>
          <a:lstStyle/>
          <a:p>
            <a:pPr algn="l">
              <a:lnSpc>
                <a:spcPct val="98000"/>
              </a:lnSpc>
              <a:spcBef>
                <a:spcPts val="0"/>
              </a:spcBef>
              <a:spcAft>
                <a:spcPts val="600"/>
              </a:spcAft>
            </a:pPr>
            <a:r>
              <a:rPr sz="1200" b="0" i="0">
                <a:solidFill>
                  <a:srgbClr val="13132B"/>
                </a:solidFill>
                <a:latin typeface="Calibri"/>
              </a:rPr>
              <a:t>Clinical &amp; legal Q&amp;A on fixed corpora</a:t>
            </a:r>
          </a:p>
        </p:txBody>
      </p:sp>
      <p:sp>
        <p:nvSpPr>
          <p:cNvPr id="77" name="Rounded Rectangle 39">
            <a:extLst>
              <a:ext uri="{FF2B5EF4-FFF2-40B4-BE49-F238E27FC236}">
                <a16:creationId xmlns:a16="http://schemas.microsoft.com/office/drawing/2014/main" id="{0E08FCF9-E708-81B3-BD98-A40AAFAE0019}"/>
              </a:ext>
            </a:extLst>
          </p:cNvPr>
          <p:cNvSpPr/>
          <p:nvPr/>
        </p:nvSpPr>
        <p:spPr>
          <a:xfrm>
            <a:off x="3529584" y="5431536"/>
            <a:ext cx="2724912" cy="566928"/>
          </a:xfrm>
          <a:prstGeom prst="roundRect">
            <a:avLst>
              <a:gd name="adj" fmla="val 6000"/>
            </a:avLst>
          </a:prstGeom>
          <a:solidFill>
            <a:srgbClr val="ECE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9" name="Oval 78">
            <a:extLst>
              <a:ext uri="{FF2B5EF4-FFF2-40B4-BE49-F238E27FC236}">
                <a16:creationId xmlns:a16="http://schemas.microsoft.com/office/drawing/2014/main" id="{B53C4C74-D323-2892-DADA-FA03F4D477C9}"/>
              </a:ext>
            </a:extLst>
          </p:cNvPr>
          <p:cNvSpPr/>
          <p:nvPr/>
        </p:nvSpPr>
        <p:spPr>
          <a:xfrm>
            <a:off x="3666744" y="5605272"/>
            <a:ext cx="219456" cy="219456"/>
          </a:xfrm>
          <a:prstGeom prst="ellipse">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1" name="TextBox 80">
            <a:extLst>
              <a:ext uri="{FF2B5EF4-FFF2-40B4-BE49-F238E27FC236}">
                <a16:creationId xmlns:a16="http://schemas.microsoft.com/office/drawing/2014/main" id="{D21F0FC2-9340-296E-E594-E3D4C7AF52D9}"/>
              </a:ext>
            </a:extLst>
          </p:cNvPr>
          <p:cNvSpPr txBox="1"/>
          <p:nvPr/>
        </p:nvSpPr>
        <p:spPr>
          <a:xfrm>
            <a:off x="3986783" y="5534053"/>
            <a:ext cx="2176272" cy="361894"/>
          </a:xfrm>
          <a:prstGeom prst="rect">
            <a:avLst/>
          </a:prstGeom>
          <a:noFill/>
        </p:spPr>
        <p:txBody>
          <a:bodyPr wrap="square" lIns="0" tIns="0" rIns="0" bIns="0" anchor="ctr">
            <a:spAutoFit/>
          </a:bodyPr>
          <a:lstStyle/>
          <a:p>
            <a:pPr algn="l">
              <a:lnSpc>
                <a:spcPct val="98000"/>
              </a:lnSpc>
              <a:spcBef>
                <a:spcPts val="0"/>
              </a:spcBef>
              <a:spcAft>
                <a:spcPts val="600"/>
              </a:spcAft>
            </a:pPr>
            <a:r>
              <a:rPr sz="1200" b="0" i="0">
                <a:solidFill>
                  <a:srgbClr val="13132B"/>
                </a:solidFill>
                <a:latin typeface="Calibri"/>
              </a:rPr>
              <a:t>Field-service manuals on edge devices</a:t>
            </a:r>
          </a:p>
        </p:txBody>
      </p:sp>
      <p:sp>
        <p:nvSpPr>
          <p:cNvPr id="83" name="Rounded Rectangle 42">
            <a:extLst>
              <a:ext uri="{FF2B5EF4-FFF2-40B4-BE49-F238E27FC236}">
                <a16:creationId xmlns:a16="http://schemas.microsoft.com/office/drawing/2014/main" id="{6EE56D82-04B9-BAC9-0CAB-4B6731F83469}"/>
              </a:ext>
            </a:extLst>
          </p:cNvPr>
          <p:cNvSpPr/>
          <p:nvPr/>
        </p:nvSpPr>
        <p:spPr>
          <a:xfrm>
            <a:off x="6355080" y="5029200"/>
            <a:ext cx="5349240" cy="1188720"/>
          </a:xfrm>
          <a:prstGeom prst="roundRect">
            <a:avLst>
              <a:gd name="adj" fmla="val 6000"/>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5" name="TextBox 84">
            <a:extLst>
              <a:ext uri="{FF2B5EF4-FFF2-40B4-BE49-F238E27FC236}">
                <a16:creationId xmlns:a16="http://schemas.microsoft.com/office/drawing/2014/main" id="{E5E1A688-40AF-7403-C084-F299A728FF17}"/>
              </a:ext>
            </a:extLst>
          </p:cNvPr>
          <p:cNvSpPr txBox="1"/>
          <p:nvPr/>
        </p:nvSpPr>
        <p:spPr>
          <a:xfrm>
            <a:off x="6583680" y="5138928"/>
            <a:ext cx="4937760" cy="184666"/>
          </a:xfrm>
          <a:prstGeom prst="rect">
            <a:avLst/>
          </a:prstGeom>
          <a:noFill/>
        </p:spPr>
        <p:txBody>
          <a:bodyPr wrap="square" lIns="0" tIns="0" rIns="0" bIns="0" anchor="t">
            <a:spAutoFit/>
          </a:bodyPr>
          <a:lstStyle/>
          <a:p>
            <a:pPr algn="l">
              <a:lnSpc>
                <a:spcPct val="100000"/>
              </a:lnSpc>
              <a:spcBef>
                <a:spcPts val="0"/>
              </a:spcBef>
              <a:spcAft>
                <a:spcPts val="600"/>
              </a:spcAft>
            </a:pPr>
            <a:r>
              <a:rPr sz="1200" b="1" i="0">
                <a:solidFill>
                  <a:srgbClr val="FFFFFF"/>
                </a:solidFill>
                <a:latin typeface="Calibri"/>
              </a:rPr>
              <a:t>STRATEGIC FIT FOR SAMSUNG</a:t>
            </a:r>
          </a:p>
        </p:txBody>
      </p:sp>
      <p:sp>
        <p:nvSpPr>
          <p:cNvPr id="87" name="TextBox 86">
            <a:extLst>
              <a:ext uri="{FF2B5EF4-FFF2-40B4-BE49-F238E27FC236}">
                <a16:creationId xmlns:a16="http://schemas.microsoft.com/office/drawing/2014/main" id="{8CDDAEFB-7194-9BAF-6252-1F57179506E8}"/>
              </a:ext>
            </a:extLst>
          </p:cNvPr>
          <p:cNvSpPr txBox="1"/>
          <p:nvPr/>
        </p:nvSpPr>
        <p:spPr>
          <a:xfrm>
            <a:off x="6583680" y="5468112"/>
            <a:ext cx="4983480" cy="389658"/>
          </a:xfrm>
          <a:prstGeom prst="rect">
            <a:avLst/>
          </a:prstGeom>
          <a:noFill/>
        </p:spPr>
        <p:txBody>
          <a:bodyPr wrap="square" lIns="0" tIns="0" rIns="0" bIns="0" anchor="t">
            <a:spAutoFit/>
          </a:bodyPr>
          <a:lstStyle/>
          <a:p>
            <a:pPr algn="l">
              <a:lnSpc>
                <a:spcPct val="108000"/>
              </a:lnSpc>
              <a:spcBef>
                <a:spcPts val="0"/>
              </a:spcBef>
              <a:spcAft>
                <a:spcPts val="600"/>
              </a:spcAft>
            </a:pPr>
            <a:r>
              <a:rPr sz="1200" b="1" i="0">
                <a:solidFill>
                  <a:srgbClr val="E6DCFA"/>
                </a:solidFill>
                <a:latin typeface="Calibri"/>
              </a:rPr>
              <a:t>Privacy</a:t>
            </a:r>
            <a:r>
              <a:rPr sz="1200" b="0" i="0">
                <a:solidFill>
                  <a:srgbClr val="FFFFFF"/>
                </a:solidFill>
                <a:latin typeface="Calibri"/>
              </a:rPr>
              <a:t> (local corpus + local models) · </a:t>
            </a:r>
            <a:r>
              <a:rPr sz="1200" b="1" i="0">
                <a:solidFill>
                  <a:srgbClr val="E6DCFA"/>
                </a:solidFill>
                <a:latin typeface="Calibri"/>
              </a:rPr>
              <a:t>Latency</a:t>
            </a:r>
            <a:r>
              <a:rPr sz="1200" b="0" i="0">
                <a:solidFill>
                  <a:srgbClr val="FFFFFF"/>
                </a:solidFill>
                <a:latin typeface="Calibri"/>
              </a:rPr>
              <a:t> (edge, no round-trip) · </a:t>
            </a:r>
            <a:r>
              <a:rPr sz="1200" b="1" i="0">
                <a:solidFill>
                  <a:srgbClr val="E6DCFA"/>
                </a:solidFill>
                <a:latin typeface="Calibri"/>
              </a:rPr>
              <a:t>Scale</a:t>
            </a:r>
            <a:r>
              <a:rPr sz="1200" b="0" i="0">
                <a:solidFill>
                  <a:srgbClr val="FFFFFF"/>
                </a:solidFill>
                <a:latin typeface="Calibri"/>
              </a:rPr>
              <a:t> (low cost per turn across millions of devices).</a:t>
            </a:r>
          </a:p>
        </p:txBody>
      </p:sp>
    </p:spTree>
    <p:extLst>
      <p:ext uri="{BB962C8B-B14F-4D97-AF65-F5344CB8AC3E}">
        <p14:creationId xmlns:p14="http://schemas.microsoft.com/office/powerpoint/2010/main" val="3668119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110CCB9-58B9-0717-44CC-AC7D4255C08F}"/>
              </a:ext>
            </a:extLst>
          </p:cNvPr>
          <p:cNvSpPr txBox="1"/>
          <p:nvPr/>
        </p:nvSpPr>
        <p:spPr>
          <a:xfrm>
            <a:off x="685800" y="384048"/>
            <a:ext cx="10972800" cy="822960"/>
          </a:xfrm>
          <a:prstGeom prst="rect">
            <a:avLst/>
          </a:prstGeom>
          <a:noFill/>
        </p:spPr>
        <p:txBody>
          <a:bodyPr wrap="square" lIns="0" tIns="0" rIns="0" bIns="0" anchor="ctr">
            <a:spAutoFit/>
          </a:bodyPr>
          <a:lstStyle/>
          <a:p>
            <a:pPr algn="l">
              <a:lnSpc>
                <a:spcPct val="100000"/>
              </a:lnSpc>
              <a:spcBef>
                <a:spcPts val="0"/>
              </a:spcBef>
              <a:spcAft>
                <a:spcPts val="600"/>
              </a:spcAft>
            </a:pPr>
            <a:r>
              <a:rPr sz="3300" b="1" i="0">
                <a:solidFill>
                  <a:srgbClr val="6F4EA6"/>
                </a:solidFill>
                <a:latin typeface="Calibri"/>
              </a:rPr>
              <a:t>Innovation Highlights</a:t>
            </a:r>
          </a:p>
        </p:txBody>
      </p:sp>
      <p:sp>
        <p:nvSpPr>
          <p:cNvPr id="9" name="Rectangle 8">
            <a:extLst>
              <a:ext uri="{FF2B5EF4-FFF2-40B4-BE49-F238E27FC236}">
                <a16:creationId xmlns:a16="http://schemas.microsoft.com/office/drawing/2014/main" id="{C4A8D544-B1F4-3B75-591F-6BB17C06A03E}"/>
              </a:ext>
            </a:extLst>
          </p:cNvPr>
          <p:cNvSpPr/>
          <p:nvPr/>
        </p:nvSpPr>
        <p:spPr>
          <a:xfrm>
            <a:off x="731520" y="1115568"/>
            <a:ext cx="777240" cy="50292"/>
          </a:xfrm>
          <a:prstGeom prst="rect">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3">
            <a:extLst>
              <a:ext uri="{FF2B5EF4-FFF2-40B4-BE49-F238E27FC236}">
                <a16:creationId xmlns:a16="http://schemas.microsoft.com/office/drawing/2014/main" id="{278252C5-EF7A-20DB-5E0B-5AF5560C2B29}"/>
              </a:ext>
            </a:extLst>
          </p:cNvPr>
          <p:cNvSpPr/>
          <p:nvPr/>
        </p:nvSpPr>
        <p:spPr>
          <a:xfrm>
            <a:off x="685800" y="1417320"/>
            <a:ext cx="3593592" cy="2212848"/>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4">
            <a:extLst>
              <a:ext uri="{FF2B5EF4-FFF2-40B4-BE49-F238E27FC236}">
                <a16:creationId xmlns:a16="http://schemas.microsoft.com/office/drawing/2014/main" id="{C3222052-76AC-D91A-5F0F-88F2563ED5C8}"/>
              </a:ext>
            </a:extLst>
          </p:cNvPr>
          <p:cNvSpPr/>
          <p:nvPr/>
        </p:nvSpPr>
        <p:spPr>
          <a:xfrm>
            <a:off x="685800" y="1417320"/>
            <a:ext cx="3593592" cy="128016"/>
          </a:xfrm>
          <a:prstGeom prst="roundRect">
            <a:avLst>
              <a:gd name="adj" fmla="val 50000"/>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8A256916-6F1B-4F31-FC5E-C04EF016C016}"/>
              </a:ext>
            </a:extLst>
          </p:cNvPr>
          <p:cNvSpPr/>
          <p:nvPr/>
        </p:nvSpPr>
        <p:spPr>
          <a:xfrm>
            <a:off x="886968" y="1691640"/>
            <a:ext cx="402336" cy="402336"/>
          </a:xfrm>
          <a:prstGeom prst="ellipse">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305851F9-2E60-050E-562A-3C9E5046EEC2}"/>
              </a:ext>
            </a:extLst>
          </p:cNvPr>
          <p:cNvSpPr txBox="1"/>
          <p:nvPr/>
        </p:nvSpPr>
        <p:spPr>
          <a:xfrm>
            <a:off x="886968" y="1691640"/>
            <a:ext cx="402336" cy="402336"/>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a:solidFill>
                  <a:srgbClr val="FFFFFF"/>
                </a:solidFill>
                <a:latin typeface="Calibri"/>
              </a:rPr>
              <a:t>1</a:t>
            </a:r>
          </a:p>
        </p:txBody>
      </p:sp>
      <p:sp>
        <p:nvSpPr>
          <p:cNvPr id="19" name="TextBox 18">
            <a:extLst>
              <a:ext uri="{FF2B5EF4-FFF2-40B4-BE49-F238E27FC236}">
                <a16:creationId xmlns:a16="http://schemas.microsoft.com/office/drawing/2014/main" id="{392C14CD-E897-4346-39DD-226637381124}"/>
              </a:ext>
            </a:extLst>
          </p:cNvPr>
          <p:cNvSpPr txBox="1"/>
          <p:nvPr/>
        </p:nvSpPr>
        <p:spPr>
          <a:xfrm>
            <a:off x="1417320" y="1803285"/>
            <a:ext cx="2679192" cy="233910"/>
          </a:xfrm>
          <a:prstGeom prst="rect">
            <a:avLst/>
          </a:prstGeom>
          <a:noFill/>
        </p:spPr>
        <p:txBody>
          <a:bodyPr wrap="square" lIns="0" tIns="0" rIns="0" bIns="0" anchor="ctr">
            <a:spAutoFit/>
          </a:bodyPr>
          <a:lstStyle/>
          <a:p>
            <a:pPr algn="l">
              <a:lnSpc>
                <a:spcPct val="95000"/>
              </a:lnSpc>
              <a:spcBef>
                <a:spcPts val="0"/>
              </a:spcBef>
              <a:spcAft>
                <a:spcPts val="600"/>
              </a:spcAft>
            </a:pPr>
            <a:r>
              <a:rPr sz="1600" b="1" i="0" dirty="0">
                <a:solidFill>
                  <a:srgbClr val="13132B"/>
                </a:solidFill>
                <a:latin typeface="Calibri"/>
              </a:rPr>
              <a:t>Two-tier speculative gate</a:t>
            </a:r>
          </a:p>
        </p:txBody>
      </p:sp>
      <p:sp>
        <p:nvSpPr>
          <p:cNvPr id="21" name="TextBox 20">
            <a:extLst>
              <a:ext uri="{FF2B5EF4-FFF2-40B4-BE49-F238E27FC236}">
                <a16:creationId xmlns:a16="http://schemas.microsoft.com/office/drawing/2014/main" id="{735E53D3-9A24-D07E-9E83-3E0EA0984157}"/>
              </a:ext>
            </a:extLst>
          </p:cNvPr>
          <p:cNvSpPr txBox="1"/>
          <p:nvPr/>
        </p:nvSpPr>
        <p:spPr>
          <a:xfrm>
            <a:off x="905256" y="2258568"/>
            <a:ext cx="3154680" cy="669479"/>
          </a:xfrm>
          <a:prstGeom prst="rect">
            <a:avLst/>
          </a:prstGeom>
          <a:noFill/>
        </p:spPr>
        <p:txBody>
          <a:bodyPr wrap="square" lIns="0" tIns="0" rIns="0" bIns="0" anchor="t">
            <a:spAutoFit/>
          </a:bodyPr>
          <a:lstStyle/>
          <a:p>
            <a:pPr algn="l">
              <a:lnSpc>
                <a:spcPct val="105000"/>
              </a:lnSpc>
              <a:spcBef>
                <a:spcPts val="0"/>
              </a:spcBef>
              <a:spcAft>
                <a:spcPts val="600"/>
              </a:spcAft>
            </a:pPr>
            <a:r>
              <a:rPr sz="1400" b="0" i="0" dirty="0">
                <a:solidFill>
                  <a:srgbClr val="62627D"/>
                </a:solidFill>
                <a:latin typeface="Calibri"/>
              </a:rPr>
              <a:t>Cheap rule gate + LLM confirm, capped at 3 speculative retrievals/utterance — early retrieval without thrashing.</a:t>
            </a:r>
          </a:p>
        </p:txBody>
      </p:sp>
      <p:sp>
        <p:nvSpPr>
          <p:cNvPr id="23" name="Rounded Rectangle 9">
            <a:extLst>
              <a:ext uri="{FF2B5EF4-FFF2-40B4-BE49-F238E27FC236}">
                <a16:creationId xmlns:a16="http://schemas.microsoft.com/office/drawing/2014/main" id="{8E5F5ED2-A764-767B-E8D6-1D60F67A3696}"/>
              </a:ext>
            </a:extLst>
          </p:cNvPr>
          <p:cNvSpPr/>
          <p:nvPr/>
        </p:nvSpPr>
        <p:spPr>
          <a:xfrm>
            <a:off x="905256" y="3172968"/>
            <a:ext cx="2496312" cy="329184"/>
          </a:xfrm>
          <a:prstGeom prst="roundRect">
            <a:avLst>
              <a:gd name="adj" fmla="val 50000"/>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196BC957-9345-A1A1-82BA-2940DD56F04E}"/>
              </a:ext>
            </a:extLst>
          </p:cNvPr>
          <p:cNvSpPr txBox="1"/>
          <p:nvPr/>
        </p:nvSpPr>
        <p:spPr>
          <a:xfrm>
            <a:off x="905256" y="3172968"/>
            <a:ext cx="2496312" cy="329184"/>
          </a:xfrm>
          <a:prstGeom prst="rect">
            <a:avLst/>
          </a:prstGeom>
          <a:noFill/>
        </p:spPr>
        <p:txBody>
          <a:bodyPr wrap="square" lIns="0" tIns="0" rIns="0" bIns="0" anchor="ctr">
            <a:spAutoFit/>
          </a:bodyPr>
          <a:lstStyle/>
          <a:p>
            <a:pPr algn="ctr">
              <a:lnSpc>
                <a:spcPct val="100000"/>
              </a:lnSpc>
              <a:spcBef>
                <a:spcPts val="0"/>
              </a:spcBef>
              <a:spcAft>
                <a:spcPts val="600"/>
              </a:spcAft>
            </a:pPr>
            <a:r>
              <a:rPr sz="1000" b="1" i="0">
                <a:solidFill>
                  <a:srgbClr val="FFFFFF"/>
                </a:solidFill>
                <a:latin typeface="Calibri"/>
              </a:rPr>
              <a:t>→ G2 ≥ 80%</a:t>
            </a:r>
          </a:p>
        </p:txBody>
      </p:sp>
      <p:sp>
        <p:nvSpPr>
          <p:cNvPr id="27" name="Rounded Rectangle 11">
            <a:extLst>
              <a:ext uri="{FF2B5EF4-FFF2-40B4-BE49-F238E27FC236}">
                <a16:creationId xmlns:a16="http://schemas.microsoft.com/office/drawing/2014/main" id="{E9FE6B78-76F3-19CC-B761-47F1D23261FA}"/>
              </a:ext>
            </a:extLst>
          </p:cNvPr>
          <p:cNvSpPr/>
          <p:nvPr/>
        </p:nvSpPr>
        <p:spPr>
          <a:xfrm>
            <a:off x="4425696" y="1417320"/>
            <a:ext cx="3593592" cy="2212848"/>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12">
            <a:extLst>
              <a:ext uri="{FF2B5EF4-FFF2-40B4-BE49-F238E27FC236}">
                <a16:creationId xmlns:a16="http://schemas.microsoft.com/office/drawing/2014/main" id="{8A0734CA-732A-593A-CA98-1D91D822F22E}"/>
              </a:ext>
            </a:extLst>
          </p:cNvPr>
          <p:cNvSpPr/>
          <p:nvPr/>
        </p:nvSpPr>
        <p:spPr>
          <a:xfrm>
            <a:off x="4425696" y="1417320"/>
            <a:ext cx="3593592" cy="128016"/>
          </a:xfrm>
          <a:prstGeom prst="roundRect">
            <a:avLst>
              <a:gd name="adj" fmla="val 50000"/>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a:extLst>
              <a:ext uri="{FF2B5EF4-FFF2-40B4-BE49-F238E27FC236}">
                <a16:creationId xmlns:a16="http://schemas.microsoft.com/office/drawing/2014/main" id="{9985E086-0F24-1805-D6CF-32C763DF4D85}"/>
              </a:ext>
            </a:extLst>
          </p:cNvPr>
          <p:cNvSpPr/>
          <p:nvPr/>
        </p:nvSpPr>
        <p:spPr>
          <a:xfrm>
            <a:off x="4626864" y="1691640"/>
            <a:ext cx="402336" cy="402336"/>
          </a:xfrm>
          <a:prstGeom prst="ellipse">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377C1D0E-AF1C-0F79-BCCA-E11060A465B3}"/>
              </a:ext>
            </a:extLst>
          </p:cNvPr>
          <p:cNvSpPr txBox="1"/>
          <p:nvPr/>
        </p:nvSpPr>
        <p:spPr>
          <a:xfrm>
            <a:off x="4626864" y="1691640"/>
            <a:ext cx="402336" cy="402336"/>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a:solidFill>
                  <a:srgbClr val="FFFFFF"/>
                </a:solidFill>
                <a:latin typeface="Calibri"/>
              </a:rPr>
              <a:t>2</a:t>
            </a:r>
          </a:p>
        </p:txBody>
      </p:sp>
      <p:sp>
        <p:nvSpPr>
          <p:cNvPr id="35" name="TextBox 34">
            <a:extLst>
              <a:ext uri="{FF2B5EF4-FFF2-40B4-BE49-F238E27FC236}">
                <a16:creationId xmlns:a16="http://schemas.microsoft.com/office/drawing/2014/main" id="{D88AC365-68D7-256A-F6C8-E384AB1B11DC}"/>
              </a:ext>
            </a:extLst>
          </p:cNvPr>
          <p:cNvSpPr txBox="1"/>
          <p:nvPr/>
        </p:nvSpPr>
        <p:spPr>
          <a:xfrm>
            <a:off x="5157216" y="1686330"/>
            <a:ext cx="2679192" cy="467820"/>
          </a:xfrm>
          <a:prstGeom prst="rect">
            <a:avLst/>
          </a:prstGeom>
          <a:noFill/>
        </p:spPr>
        <p:txBody>
          <a:bodyPr wrap="square" lIns="0" tIns="0" rIns="0" bIns="0" anchor="ctr">
            <a:spAutoFit/>
          </a:bodyPr>
          <a:lstStyle/>
          <a:p>
            <a:pPr algn="l">
              <a:lnSpc>
                <a:spcPct val="95000"/>
              </a:lnSpc>
              <a:spcBef>
                <a:spcPts val="0"/>
              </a:spcBef>
              <a:spcAft>
                <a:spcPts val="600"/>
              </a:spcAft>
            </a:pPr>
            <a:r>
              <a:rPr sz="1600" b="1" i="0">
                <a:solidFill>
                  <a:srgbClr val="13132B"/>
                </a:solidFill>
                <a:latin typeface="Calibri"/>
              </a:rPr>
              <a:t>Anti-fragmentation decomposer</a:t>
            </a:r>
          </a:p>
        </p:txBody>
      </p:sp>
      <p:sp>
        <p:nvSpPr>
          <p:cNvPr id="37" name="TextBox 36">
            <a:extLst>
              <a:ext uri="{FF2B5EF4-FFF2-40B4-BE49-F238E27FC236}">
                <a16:creationId xmlns:a16="http://schemas.microsoft.com/office/drawing/2014/main" id="{A6FF09E5-3E00-F798-01A8-950F7FBFB956}"/>
              </a:ext>
            </a:extLst>
          </p:cNvPr>
          <p:cNvSpPr txBox="1"/>
          <p:nvPr/>
        </p:nvSpPr>
        <p:spPr>
          <a:xfrm>
            <a:off x="4645152" y="2258568"/>
            <a:ext cx="3154680" cy="669479"/>
          </a:xfrm>
          <a:prstGeom prst="rect">
            <a:avLst/>
          </a:prstGeom>
          <a:noFill/>
        </p:spPr>
        <p:txBody>
          <a:bodyPr wrap="square" lIns="0" tIns="0" rIns="0" bIns="0" anchor="t">
            <a:spAutoFit/>
          </a:bodyPr>
          <a:lstStyle/>
          <a:p>
            <a:pPr algn="l">
              <a:lnSpc>
                <a:spcPct val="105000"/>
              </a:lnSpc>
              <a:spcBef>
                <a:spcPts val="0"/>
              </a:spcBef>
              <a:spcAft>
                <a:spcPts val="600"/>
              </a:spcAft>
            </a:pPr>
            <a:r>
              <a:rPr sz="1400" b="0" i="0" dirty="0">
                <a:solidFill>
                  <a:srgbClr val="62627D"/>
                </a:solidFill>
                <a:latin typeface="Calibri"/>
              </a:rPr>
              <a:t>Splits compound requests, then similarity-merges with a hard cap of 4 — no over-fragmentation, no token blow-up.</a:t>
            </a:r>
          </a:p>
        </p:txBody>
      </p:sp>
      <p:sp>
        <p:nvSpPr>
          <p:cNvPr id="39" name="Rounded Rectangle 17">
            <a:extLst>
              <a:ext uri="{FF2B5EF4-FFF2-40B4-BE49-F238E27FC236}">
                <a16:creationId xmlns:a16="http://schemas.microsoft.com/office/drawing/2014/main" id="{54871892-5D6E-07AE-A946-80B44FE55AC6}"/>
              </a:ext>
            </a:extLst>
          </p:cNvPr>
          <p:cNvSpPr/>
          <p:nvPr/>
        </p:nvSpPr>
        <p:spPr>
          <a:xfrm>
            <a:off x="4645152" y="3172968"/>
            <a:ext cx="2496312" cy="329184"/>
          </a:xfrm>
          <a:prstGeom prst="roundRect">
            <a:avLst>
              <a:gd name="adj" fmla="val 50000"/>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B8B98FBA-CFB6-AEE2-3B00-AAA92E664FFA}"/>
              </a:ext>
            </a:extLst>
          </p:cNvPr>
          <p:cNvSpPr txBox="1"/>
          <p:nvPr/>
        </p:nvSpPr>
        <p:spPr>
          <a:xfrm>
            <a:off x="4645152" y="3172968"/>
            <a:ext cx="2496312" cy="329184"/>
          </a:xfrm>
          <a:prstGeom prst="rect">
            <a:avLst/>
          </a:prstGeom>
          <a:noFill/>
        </p:spPr>
        <p:txBody>
          <a:bodyPr wrap="square" lIns="0" tIns="0" rIns="0" bIns="0" anchor="ctr">
            <a:spAutoFit/>
          </a:bodyPr>
          <a:lstStyle/>
          <a:p>
            <a:pPr algn="ctr">
              <a:lnSpc>
                <a:spcPct val="100000"/>
              </a:lnSpc>
              <a:spcBef>
                <a:spcPts val="0"/>
              </a:spcBef>
              <a:spcAft>
                <a:spcPts val="600"/>
              </a:spcAft>
            </a:pPr>
            <a:r>
              <a:rPr sz="1000" b="1" i="0">
                <a:solidFill>
                  <a:srgbClr val="FFFFFF"/>
                </a:solidFill>
                <a:latin typeface="Calibri"/>
              </a:rPr>
              <a:t>→ G3 ≥ 70%</a:t>
            </a:r>
          </a:p>
        </p:txBody>
      </p:sp>
      <p:sp>
        <p:nvSpPr>
          <p:cNvPr id="43" name="Rounded Rectangle 19">
            <a:extLst>
              <a:ext uri="{FF2B5EF4-FFF2-40B4-BE49-F238E27FC236}">
                <a16:creationId xmlns:a16="http://schemas.microsoft.com/office/drawing/2014/main" id="{7297A6EB-48D0-8AA7-B826-3467BF3673F8}"/>
              </a:ext>
            </a:extLst>
          </p:cNvPr>
          <p:cNvSpPr/>
          <p:nvPr/>
        </p:nvSpPr>
        <p:spPr>
          <a:xfrm>
            <a:off x="8165592" y="1417320"/>
            <a:ext cx="3593592" cy="2212848"/>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20">
            <a:extLst>
              <a:ext uri="{FF2B5EF4-FFF2-40B4-BE49-F238E27FC236}">
                <a16:creationId xmlns:a16="http://schemas.microsoft.com/office/drawing/2014/main" id="{0AC7A13F-6C2C-E274-97CD-21C307F43718}"/>
              </a:ext>
            </a:extLst>
          </p:cNvPr>
          <p:cNvSpPr/>
          <p:nvPr/>
        </p:nvSpPr>
        <p:spPr>
          <a:xfrm>
            <a:off x="8165592" y="1417320"/>
            <a:ext cx="3593592" cy="128016"/>
          </a:xfrm>
          <a:prstGeom prst="roundRect">
            <a:avLst>
              <a:gd name="adj" fmla="val 50000"/>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a:extLst>
              <a:ext uri="{FF2B5EF4-FFF2-40B4-BE49-F238E27FC236}">
                <a16:creationId xmlns:a16="http://schemas.microsoft.com/office/drawing/2014/main" id="{9544602D-D13E-7C20-C763-185E9E432C0D}"/>
              </a:ext>
            </a:extLst>
          </p:cNvPr>
          <p:cNvSpPr/>
          <p:nvPr/>
        </p:nvSpPr>
        <p:spPr>
          <a:xfrm>
            <a:off x="8366760" y="1691640"/>
            <a:ext cx="402336" cy="402336"/>
          </a:xfrm>
          <a:prstGeom prst="ellipse">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extLst>
              <a:ext uri="{FF2B5EF4-FFF2-40B4-BE49-F238E27FC236}">
                <a16:creationId xmlns:a16="http://schemas.microsoft.com/office/drawing/2014/main" id="{2DD2E760-6AD4-087B-FA18-7B326A3B0082}"/>
              </a:ext>
            </a:extLst>
          </p:cNvPr>
          <p:cNvSpPr txBox="1"/>
          <p:nvPr/>
        </p:nvSpPr>
        <p:spPr>
          <a:xfrm>
            <a:off x="8366760" y="1691640"/>
            <a:ext cx="402336" cy="402336"/>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a:solidFill>
                  <a:srgbClr val="FFFFFF"/>
                </a:solidFill>
                <a:latin typeface="Calibri"/>
              </a:rPr>
              <a:t>3</a:t>
            </a:r>
          </a:p>
        </p:txBody>
      </p:sp>
      <p:sp>
        <p:nvSpPr>
          <p:cNvPr id="51" name="TextBox 50">
            <a:extLst>
              <a:ext uri="{FF2B5EF4-FFF2-40B4-BE49-F238E27FC236}">
                <a16:creationId xmlns:a16="http://schemas.microsoft.com/office/drawing/2014/main" id="{62524470-0243-BC0A-3CF8-3765FF051633}"/>
              </a:ext>
            </a:extLst>
          </p:cNvPr>
          <p:cNvSpPr txBox="1"/>
          <p:nvPr/>
        </p:nvSpPr>
        <p:spPr>
          <a:xfrm>
            <a:off x="8897112" y="1803285"/>
            <a:ext cx="2679192" cy="233910"/>
          </a:xfrm>
          <a:prstGeom prst="rect">
            <a:avLst/>
          </a:prstGeom>
          <a:noFill/>
        </p:spPr>
        <p:txBody>
          <a:bodyPr wrap="square" lIns="0" tIns="0" rIns="0" bIns="0" anchor="ctr">
            <a:spAutoFit/>
          </a:bodyPr>
          <a:lstStyle/>
          <a:p>
            <a:pPr algn="l">
              <a:lnSpc>
                <a:spcPct val="95000"/>
              </a:lnSpc>
              <a:spcBef>
                <a:spcPts val="0"/>
              </a:spcBef>
              <a:spcAft>
                <a:spcPts val="600"/>
              </a:spcAft>
            </a:pPr>
            <a:r>
              <a:rPr sz="1600" b="1" i="0">
                <a:solidFill>
                  <a:srgbClr val="13132B"/>
                </a:solidFill>
                <a:latin typeface="Calibri"/>
              </a:rPr>
              <a:t>Claim-graph refinement</a:t>
            </a:r>
          </a:p>
        </p:txBody>
      </p:sp>
      <p:sp>
        <p:nvSpPr>
          <p:cNvPr id="53" name="TextBox 52">
            <a:extLst>
              <a:ext uri="{FF2B5EF4-FFF2-40B4-BE49-F238E27FC236}">
                <a16:creationId xmlns:a16="http://schemas.microsoft.com/office/drawing/2014/main" id="{6109B797-EE9F-FB0E-E1D0-C8D50BBE9FF2}"/>
              </a:ext>
            </a:extLst>
          </p:cNvPr>
          <p:cNvSpPr txBox="1"/>
          <p:nvPr/>
        </p:nvSpPr>
        <p:spPr>
          <a:xfrm>
            <a:off x="8385048" y="2258568"/>
            <a:ext cx="3154680" cy="669479"/>
          </a:xfrm>
          <a:prstGeom prst="rect">
            <a:avLst/>
          </a:prstGeom>
          <a:noFill/>
        </p:spPr>
        <p:txBody>
          <a:bodyPr wrap="square" lIns="0" tIns="0" rIns="0" bIns="0" anchor="t">
            <a:spAutoFit/>
          </a:bodyPr>
          <a:lstStyle/>
          <a:p>
            <a:pPr algn="l">
              <a:lnSpc>
                <a:spcPct val="105000"/>
              </a:lnSpc>
              <a:spcBef>
                <a:spcPts val="0"/>
              </a:spcBef>
              <a:spcAft>
                <a:spcPts val="600"/>
              </a:spcAft>
            </a:pPr>
            <a:r>
              <a:rPr sz="1400" b="0" i="0">
                <a:solidFill>
                  <a:srgbClr val="62627D"/>
                </a:solidFill>
                <a:latin typeface="Calibri"/>
              </a:rPr>
              <a:t>Answers stored as tagged claims; a new detail patches only touched claims — no re-search.</a:t>
            </a:r>
          </a:p>
        </p:txBody>
      </p:sp>
      <p:sp>
        <p:nvSpPr>
          <p:cNvPr id="55" name="Rounded Rectangle 25">
            <a:extLst>
              <a:ext uri="{FF2B5EF4-FFF2-40B4-BE49-F238E27FC236}">
                <a16:creationId xmlns:a16="http://schemas.microsoft.com/office/drawing/2014/main" id="{75C3CADE-CB13-14EC-F658-EC9A8FCD90C7}"/>
              </a:ext>
            </a:extLst>
          </p:cNvPr>
          <p:cNvSpPr/>
          <p:nvPr/>
        </p:nvSpPr>
        <p:spPr>
          <a:xfrm>
            <a:off x="8385048" y="3172968"/>
            <a:ext cx="2496312" cy="329184"/>
          </a:xfrm>
          <a:prstGeom prst="roundRect">
            <a:avLst>
              <a:gd name="adj" fmla="val 50000"/>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9E1274B3-50A9-A9B8-AE6A-A75286DAF060}"/>
              </a:ext>
            </a:extLst>
          </p:cNvPr>
          <p:cNvSpPr txBox="1"/>
          <p:nvPr/>
        </p:nvSpPr>
        <p:spPr>
          <a:xfrm>
            <a:off x="8385048" y="3172968"/>
            <a:ext cx="2496312" cy="329184"/>
          </a:xfrm>
          <a:prstGeom prst="rect">
            <a:avLst/>
          </a:prstGeom>
          <a:noFill/>
        </p:spPr>
        <p:txBody>
          <a:bodyPr wrap="square" lIns="0" tIns="0" rIns="0" bIns="0" anchor="ctr">
            <a:spAutoFit/>
          </a:bodyPr>
          <a:lstStyle/>
          <a:p>
            <a:pPr algn="ctr">
              <a:lnSpc>
                <a:spcPct val="100000"/>
              </a:lnSpc>
              <a:spcBef>
                <a:spcPts val="0"/>
              </a:spcBef>
              <a:spcAft>
                <a:spcPts val="600"/>
              </a:spcAft>
            </a:pPr>
            <a:r>
              <a:rPr sz="1000" b="1" i="0">
                <a:solidFill>
                  <a:srgbClr val="FFFFFF"/>
                </a:solidFill>
                <a:latin typeface="Calibri"/>
              </a:rPr>
              <a:t>→ G5</a:t>
            </a:r>
          </a:p>
        </p:txBody>
      </p:sp>
      <p:sp>
        <p:nvSpPr>
          <p:cNvPr id="59" name="Rounded Rectangle 27">
            <a:extLst>
              <a:ext uri="{FF2B5EF4-FFF2-40B4-BE49-F238E27FC236}">
                <a16:creationId xmlns:a16="http://schemas.microsoft.com/office/drawing/2014/main" id="{F0C54E39-7C36-CEFC-B109-3A0C989E68E0}"/>
              </a:ext>
            </a:extLst>
          </p:cNvPr>
          <p:cNvSpPr/>
          <p:nvPr/>
        </p:nvSpPr>
        <p:spPr>
          <a:xfrm>
            <a:off x="685800" y="3813048"/>
            <a:ext cx="3593592" cy="2212848"/>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28">
            <a:extLst>
              <a:ext uri="{FF2B5EF4-FFF2-40B4-BE49-F238E27FC236}">
                <a16:creationId xmlns:a16="http://schemas.microsoft.com/office/drawing/2014/main" id="{4211DE35-DF3E-CE75-76C6-F21DCAEF3AAC}"/>
              </a:ext>
            </a:extLst>
          </p:cNvPr>
          <p:cNvSpPr/>
          <p:nvPr/>
        </p:nvSpPr>
        <p:spPr>
          <a:xfrm>
            <a:off x="685800" y="3813048"/>
            <a:ext cx="3593592" cy="128016"/>
          </a:xfrm>
          <a:prstGeom prst="roundRect">
            <a:avLst>
              <a:gd name="adj" fmla="val 50000"/>
            </a:avLst>
          </a:prstGeom>
          <a:solidFill>
            <a:srgbClr val="702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a:extLst>
              <a:ext uri="{FF2B5EF4-FFF2-40B4-BE49-F238E27FC236}">
                <a16:creationId xmlns:a16="http://schemas.microsoft.com/office/drawing/2014/main" id="{043659AA-4722-7D01-6355-1FBF3C56EB37}"/>
              </a:ext>
            </a:extLst>
          </p:cNvPr>
          <p:cNvSpPr/>
          <p:nvPr/>
        </p:nvSpPr>
        <p:spPr>
          <a:xfrm>
            <a:off x="886968" y="4087368"/>
            <a:ext cx="402336" cy="402336"/>
          </a:xfrm>
          <a:prstGeom prst="ellipse">
            <a:avLst/>
          </a:prstGeom>
          <a:solidFill>
            <a:srgbClr val="702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C83B5F19-46B4-42D8-82B6-7DFD7E120EC0}"/>
              </a:ext>
            </a:extLst>
          </p:cNvPr>
          <p:cNvSpPr txBox="1"/>
          <p:nvPr/>
        </p:nvSpPr>
        <p:spPr>
          <a:xfrm>
            <a:off x="886968" y="4087368"/>
            <a:ext cx="402336" cy="402336"/>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a:solidFill>
                  <a:srgbClr val="FFFFFF"/>
                </a:solidFill>
                <a:latin typeface="Calibri"/>
              </a:rPr>
              <a:t>4</a:t>
            </a:r>
          </a:p>
        </p:txBody>
      </p:sp>
      <p:sp>
        <p:nvSpPr>
          <p:cNvPr id="67" name="TextBox 66">
            <a:extLst>
              <a:ext uri="{FF2B5EF4-FFF2-40B4-BE49-F238E27FC236}">
                <a16:creationId xmlns:a16="http://schemas.microsoft.com/office/drawing/2014/main" id="{A3D988E1-1FC5-7CD3-8B88-A09EC4A71E97}"/>
              </a:ext>
            </a:extLst>
          </p:cNvPr>
          <p:cNvSpPr txBox="1"/>
          <p:nvPr/>
        </p:nvSpPr>
        <p:spPr>
          <a:xfrm>
            <a:off x="1417320" y="4199013"/>
            <a:ext cx="2679192" cy="233910"/>
          </a:xfrm>
          <a:prstGeom prst="rect">
            <a:avLst/>
          </a:prstGeom>
          <a:noFill/>
        </p:spPr>
        <p:txBody>
          <a:bodyPr wrap="square" lIns="0" tIns="0" rIns="0" bIns="0" anchor="ctr">
            <a:spAutoFit/>
          </a:bodyPr>
          <a:lstStyle/>
          <a:p>
            <a:pPr algn="l">
              <a:lnSpc>
                <a:spcPct val="95000"/>
              </a:lnSpc>
              <a:spcBef>
                <a:spcPts val="0"/>
              </a:spcBef>
              <a:spcAft>
                <a:spcPts val="600"/>
              </a:spcAft>
            </a:pPr>
            <a:r>
              <a:rPr sz="1600" b="1" i="0">
                <a:solidFill>
                  <a:srgbClr val="13132B"/>
                </a:solidFill>
                <a:latin typeface="Calibri"/>
              </a:rPr>
              <a:t>Whitelist grounding</a:t>
            </a:r>
          </a:p>
        </p:txBody>
      </p:sp>
      <p:sp>
        <p:nvSpPr>
          <p:cNvPr id="69" name="TextBox 68">
            <a:extLst>
              <a:ext uri="{FF2B5EF4-FFF2-40B4-BE49-F238E27FC236}">
                <a16:creationId xmlns:a16="http://schemas.microsoft.com/office/drawing/2014/main" id="{7BFC9D8E-21F8-2B0B-20FE-8ECD93122C8E}"/>
              </a:ext>
            </a:extLst>
          </p:cNvPr>
          <p:cNvSpPr txBox="1"/>
          <p:nvPr/>
        </p:nvSpPr>
        <p:spPr>
          <a:xfrm>
            <a:off x="905256" y="4654296"/>
            <a:ext cx="3154680" cy="443263"/>
          </a:xfrm>
          <a:prstGeom prst="rect">
            <a:avLst/>
          </a:prstGeom>
          <a:noFill/>
        </p:spPr>
        <p:txBody>
          <a:bodyPr wrap="square" lIns="0" tIns="0" rIns="0" bIns="0" anchor="t">
            <a:spAutoFit/>
          </a:bodyPr>
          <a:lstStyle/>
          <a:p>
            <a:pPr algn="l">
              <a:lnSpc>
                <a:spcPct val="105000"/>
              </a:lnSpc>
              <a:spcBef>
                <a:spcPts val="0"/>
              </a:spcBef>
              <a:spcAft>
                <a:spcPts val="600"/>
              </a:spcAft>
            </a:pPr>
            <a:r>
              <a:rPr sz="1400" b="0" i="0">
                <a:solidFill>
                  <a:srgbClr val="62627D"/>
                </a:solidFill>
                <a:latin typeface="Calibri"/>
              </a:rPr>
              <a:t>Deterministic citation filter makes fabricated IDs structurally impossible.</a:t>
            </a:r>
          </a:p>
        </p:txBody>
      </p:sp>
      <p:sp>
        <p:nvSpPr>
          <p:cNvPr id="71" name="Rounded Rectangle 33">
            <a:extLst>
              <a:ext uri="{FF2B5EF4-FFF2-40B4-BE49-F238E27FC236}">
                <a16:creationId xmlns:a16="http://schemas.microsoft.com/office/drawing/2014/main" id="{E90B35BD-6711-DFA7-AEB0-7DD94C6E3868}"/>
              </a:ext>
            </a:extLst>
          </p:cNvPr>
          <p:cNvSpPr/>
          <p:nvPr/>
        </p:nvSpPr>
        <p:spPr>
          <a:xfrm>
            <a:off x="905256" y="5568696"/>
            <a:ext cx="2496312" cy="329184"/>
          </a:xfrm>
          <a:prstGeom prst="roundRect">
            <a:avLst>
              <a:gd name="adj" fmla="val 50000"/>
            </a:avLst>
          </a:prstGeom>
          <a:solidFill>
            <a:srgbClr val="702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3065927B-AA6F-81A2-9A50-B4097A90C1DC}"/>
              </a:ext>
            </a:extLst>
          </p:cNvPr>
          <p:cNvSpPr txBox="1"/>
          <p:nvPr/>
        </p:nvSpPr>
        <p:spPr>
          <a:xfrm>
            <a:off x="905256" y="5568696"/>
            <a:ext cx="2496312" cy="329184"/>
          </a:xfrm>
          <a:prstGeom prst="rect">
            <a:avLst/>
          </a:prstGeom>
          <a:noFill/>
        </p:spPr>
        <p:txBody>
          <a:bodyPr wrap="square" lIns="0" tIns="0" rIns="0" bIns="0" anchor="ctr">
            <a:spAutoFit/>
          </a:bodyPr>
          <a:lstStyle/>
          <a:p>
            <a:pPr algn="ctr">
              <a:lnSpc>
                <a:spcPct val="100000"/>
              </a:lnSpc>
              <a:spcBef>
                <a:spcPts val="0"/>
              </a:spcBef>
              <a:spcAft>
                <a:spcPts val="600"/>
              </a:spcAft>
            </a:pPr>
            <a:r>
              <a:rPr sz="1000" b="1" i="0" dirty="0">
                <a:solidFill>
                  <a:srgbClr val="FFFFFF"/>
                </a:solidFill>
                <a:latin typeface="Calibri"/>
              </a:rPr>
              <a:t>→ G4, 0 fabricated</a:t>
            </a:r>
          </a:p>
        </p:txBody>
      </p:sp>
      <p:sp>
        <p:nvSpPr>
          <p:cNvPr id="75" name="Rounded Rectangle 35">
            <a:extLst>
              <a:ext uri="{FF2B5EF4-FFF2-40B4-BE49-F238E27FC236}">
                <a16:creationId xmlns:a16="http://schemas.microsoft.com/office/drawing/2014/main" id="{A993BE7A-2977-DDFA-303F-CA47B4BE88F2}"/>
              </a:ext>
            </a:extLst>
          </p:cNvPr>
          <p:cNvSpPr/>
          <p:nvPr/>
        </p:nvSpPr>
        <p:spPr>
          <a:xfrm>
            <a:off x="4425696" y="3813048"/>
            <a:ext cx="3593592" cy="2212848"/>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36">
            <a:extLst>
              <a:ext uri="{FF2B5EF4-FFF2-40B4-BE49-F238E27FC236}">
                <a16:creationId xmlns:a16="http://schemas.microsoft.com/office/drawing/2014/main" id="{15720AF3-9A36-9696-D9E2-9849C192CABD}"/>
              </a:ext>
            </a:extLst>
          </p:cNvPr>
          <p:cNvSpPr/>
          <p:nvPr/>
        </p:nvSpPr>
        <p:spPr>
          <a:xfrm>
            <a:off x="4425696" y="3813048"/>
            <a:ext cx="3593592" cy="128016"/>
          </a:xfrm>
          <a:prstGeom prst="roundRect">
            <a:avLst>
              <a:gd name="adj" fmla="val 5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a:extLst>
              <a:ext uri="{FF2B5EF4-FFF2-40B4-BE49-F238E27FC236}">
                <a16:creationId xmlns:a16="http://schemas.microsoft.com/office/drawing/2014/main" id="{AD263714-F443-1E23-3C00-439EDC32EC6E}"/>
              </a:ext>
            </a:extLst>
          </p:cNvPr>
          <p:cNvSpPr/>
          <p:nvPr/>
        </p:nvSpPr>
        <p:spPr>
          <a:xfrm>
            <a:off x="4626864" y="4087368"/>
            <a:ext cx="402336" cy="402336"/>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5A9243FA-F48B-5E7B-BE9B-E9EBB11EF7B5}"/>
              </a:ext>
            </a:extLst>
          </p:cNvPr>
          <p:cNvSpPr txBox="1"/>
          <p:nvPr/>
        </p:nvSpPr>
        <p:spPr>
          <a:xfrm>
            <a:off x="4626864" y="4087368"/>
            <a:ext cx="402336" cy="402336"/>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a:solidFill>
                  <a:srgbClr val="FFFFFF"/>
                </a:solidFill>
                <a:latin typeface="Calibri"/>
              </a:rPr>
              <a:t>5</a:t>
            </a:r>
          </a:p>
        </p:txBody>
      </p:sp>
      <p:sp>
        <p:nvSpPr>
          <p:cNvPr id="83" name="TextBox 82">
            <a:extLst>
              <a:ext uri="{FF2B5EF4-FFF2-40B4-BE49-F238E27FC236}">
                <a16:creationId xmlns:a16="http://schemas.microsoft.com/office/drawing/2014/main" id="{6CEF45A4-0DF7-D295-98FB-E6A6A2F74F8A}"/>
              </a:ext>
            </a:extLst>
          </p:cNvPr>
          <p:cNvSpPr txBox="1"/>
          <p:nvPr/>
        </p:nvSpPr>
        <p:spPr>
          <a:xfrm>
            <a:off x="5157216" y="4199013"/>
            <a:ext cx="2679192" cy="233910"/>
          </a:xfrm>
          <a:prstGeom prst="rect">
            <a:avLst/>
          </a:prstGeom>
          <a:noFill/>
        </p:spPr>
        <p:txBody>
          <a:bodyPr wrap="square" lIns="0" tIns="0" rIns="0" bIns="0" anchor="ctr">
            <a:spAutoFit/>
          </a:bodyPr>
          <a:lstStyle/>
          <a:p>
            <a:pPr algn="l">
              <a:lnSpc>
                <a:spcPct val="95000"/>
              </a:lnSpc>
              <a:spcBef>
                <a:spcPts val="0"/>
              </a:spcBef>
              <a:spcAft>
                <a:spcPts val="600"/>
              </a:spcAft>
            </a:pPr>
            <a:r>
              <a:rPr sz="1600" b="1" i="0">
                <a:solidFill>
                  <a:srgbClr val="13132B"/>
                </a:solidFill>
                <a:latin typeface="Calibri"/>
              </a:rPr>
              <a:t>Trace-first observability</a:t>
            </a:r>
          </a:p>
        </p:txBody>
      </p:sp>
      <p:sp>
        <p:nvSpPr>
          <p:cNvPr id="85" name="TextBox 84">
            <a:extLst>
              <a:ext uri="{FF2B5EF4-FFF2-40B4-BE49-F238E27FC236}">
                <a16:creationId xmlns:a16="http://schemas.microsoft.com/office/drawing/2014/main" id="{A44CB01E-E1B9-1E58-F531-AF25EA86469D}"/>
              </a:ext>
            </a:extLst>
          </p:cNvPr>
          <p:cNvSpPr txBox="1"/>
          <p:nvPr/>
        </p:nvSpPr>
        <p:spPr>
          <a:xfrm>
            <a:off x="4645152" y="4654296"/>
            <a:ext cx="3154680" cy="443263"/>
          </a:xfrm>
          <a:prstGeom prst="rect">
            <a:avLst/>
          </a:prstGeom>
          <a:noFill/>
        </p:spPr>
        <p:txBody>
          <a:bodyPr wrap="square" lIns="0" tIns="0" rIns="0" bIns="0" anchor="t">
            <a:spAutoFit/>
          </a:bodyPr>
          <a:lstStyle/>
          <a:p>
            <a:pPr algn="l">
              <a:lnSpc>
                <a:spcPct val="105000"/>
              </a:lnSpc>
              <a:spcBef>
                <a:spcPts val="0"/>
              </a:spcBef>
              <a:spcAft>
                <a:spcPts val="600"/>
              </a:spcAft>
            </a:pPr>
            <a:r>
              <a:rPr sz="1400" b="0" i="0" dirty="0">
                <a:solidFill>
                  <a:srgbClr val="62627D"/>
                </a:solidFill>
                <a:latin typeface="Calibri"/>
              </a:rPr>
              <a:t>Telemetry bus live from Phase 1; every turn </a:t>
            </a:r>
            <a:r>
              <a:rPr sz="1400" b="0" i="0" dirty="0" err="1">
                <a:solidFill>
                  <a:srgbClr val="62627D"/>
                </a:solidFill>
                <a:latin typeface="Calibri"/>
              </a:rPr>
              <a:t>replayable</a:t>
            </a:r>
            <a:r>
              <a:rPr sz="1400" b="0" i="0" dirty="0">
                <a:solidFill>
                  <a:srgbClr val="62627D"/>
                </a:solidFill>
                <a:latin typeface="Calibri"/>
              </a:rPr>
              <a:t> from one JSONL </a:t>
            </a:r>
            <a:r>
              <a:rPr sz="1400" b="0" i="0" dirty="0" err="1">
                <a:solidFill>
                  <a:srgbClr val="62627D"/>
                </a:solidFill>
                <a:latin typeface="Calibri"/>
              </a:rPr>
              <a:t>trace_id</a:t>
            </a:r>
            <a:r>
              <a:rPr sz="1400" b="0" i="0" dirty="0">
                <a:solidFill>
                  <a:srgbClr val="62627D"/>
                </a:solidFill>
                <a:latin typeface="Calibri"/>
              </a:rPr>
              <a:t>.</a:t>
            </a:r>
          </a:p>
        </p:txBody>
      </p:sp>
      <p:sp>
        <p:nvSpPr>
          <p:cNvPr id="87" name="Rounded Rectangle 41">
            <a:extLst>
              <a:ext uri="{FF2B5EF4-FFF2-40B4-BE49-F238E27FC236}">
                <a16:creationId xmlns:a16="http://schemas.microsoft.com/office/drawing/2014/main" id="{2BC8AD5E-FFA7-FCED-B0F8-6D1EB94DBC79}"/>
              </a:ext>
            </a:extLst>
          </p:cNvPr>
          <p:cNvSpPr/>
          <p:nvPr/>
        </p:nvSpPr>
        <p:spPr>
          <a:xfrm>
            <a:off x="4645152" y="5568696"/>
            <a:ext cx="2496312" cy="329184"/>
          </a:xfrm>
          <a:prstGeom prst="roundRect">
            <a:avLst>
              <a:gd name="adj" fmla="val 5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a:extLst>
              <a:ext uri="{FF2B5EF4-FFF2-40B4-BE49-F238E27FC236}">
                <a16:creationId xmlns:a16="http://schemas.microsoft.com/office/drawing/2014/main" id="{EDFF9318-B0EF-C222-F3E0-60FF3AF39987}"/>
              </a:ext>
            </a:extLst>
          </p:cNvPr>
          <p:cNvSpPr txBox="1"/>
          <p:nvPr/>
        </p:nvSpPr>
        <p:spPr>
          <a:xfrm>
            <a:off x="4645152" y="5568696"/>
            <a:ext cx="2496312" cy="329184"/>
          </a:xfrm>
          <a:prstGeom prst="rect">
            <a:avLst/>
          </a:prstGeom>
          <a:noFill/>
        </p:spPr>
        <p:txBody>
          <a:bodyPr wrap="square" lIns="0" tIns="0" rIns="0" bIns="0" anchor="ctr">
            <a:spAutoFit/>
          </a:bodyPr>
          <a:lstStyle/>
          <a:p>
            <a:pPr algn="ctr">
              <a:lnSpc>
                <a:spcPct val="100000"/>
              </a:lnSpc>
              <a:spcBef>
                <a:spcPts val="0"/>
              </a:spcBef>
              <a:spcAft>
                <a:spcPts val="600"/>
              </a:spcAft>
            </a:pPr>
            <a:r>
              <a:rPr sz="1000" b="1" i="0">
                <a:solidFill>
                  <a:srgbClr val="FFFFFF"/>
                </a:solidFill>
                <a:latin typeface="Calibri"/>
              </a:rPr>
              <a:t>→ G6 = 100%</a:t>
            </a:r>
          </a:p>
        </p:txBody>
      </p:sp>
      <p:sp>
        <p:nvSpPr>
          <p:cNvPr id="91" name="Rounded Rectangle 43">
            <a:extLst>
              <a:ext uri="{FF2B5EF4-FFF2-40B4-BE49-F238E27FC236}">
                <a16:creationId xmlns:a16="http://schemas.microsoft.com/office/drawing/2014/main" id="{DAFED6ED-7CA4-2416-0DA2-C5093936F9DD}"/>
              </a:ext>
            </a:extLst>
          </p:cNvPr>
          <p:cNvSpPr/>
          <p:nvPr/>
        </p:nvSpPr>
        <p:spPr>
          <a:xfrm>
            <a:off x="8165592" y="3813048"/>
            <a:ext cx="3593592" cy="2212848"/>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44">
            <a:extLst>
              <a:ext uri="{FF2B5EF4-FFF2-40B4-BE49-F238E27FC236}">
                <a16:creationId xmlns:a16="http://schemas.microsoft.com/office/drawing/2014/main" id="{2AB8FE8A-9DC7-AA36-B01F-21D981C8D218}"/>
              </a:ext>
            </a:extLst>
          </p:cNvPr>
          <p:cNvSpPr/>
          <p:nvPr/>
        </p:nvSpPr>
        <p:spPr>
          <a:xfrm>
            <a:off x="8165592" y="3813048"/>
            <a:ext cx="3593592" cy="128016"/>
          </a:xfrm>
          <a:prstGeom prst="roundRect">
            <a:avLst>
              <a:gd name="adj" fmla="val 50000"/>
            </a:avLst>
          </a:prstGeom>
          <a:solidFill>
            <a:srgbClr val="3A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a:extLst>
              <a:ext uri="{FF2B5EF4-FFF2-40B4-BE49-F238E27FC236}">
                <a16:creationId xmlns:a16="http://schemas.microsoft.com/office/drawing/2014/main" id="{AEE04CFF-D05A-98C5-95A7-E274A85BD7BF}"/>
              </a:ext>
            </a:extLst>
          </p:cNvPr>
          <p:cNvSpPr/>
          <p:nvPr/>
        </p:nvSpPr>
        <p:spPr>
          <a:xfrm>
            <a:off x="8366760" y="4087368"/>
            <a:ext cx="402336" cy="402336"/>
          </a:xfrm>
          <a:prstGeom prst="ellipse">
            <a:avLst/>
          </a:prstGeom>
          <a:solidFill>
            <a:srgbClr val="3A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a:extLst>
              <a:ext uri="{FF2B5EF4-FFF2-40B4-BE49-F238E27FC236}">
                <a16:creationId xmlns:a16="http://schemas.microsoft.com/office/drawing/2014/main" id="{30366297-E60E-370C-D29E-E86B5DD8ECB6}"/>
              </a:ext>
            </a:extLst>
          </p:cNvPr>
          <p:cNvSpPr txBox="1"/>
          <p:nvPr/>
        </p:nvSpPr>
        <p:spPr>
          <a:xfrm>
            <a:off x="8366760" y="4087368"/>
            <a:ext cx="402336" cy="402336"/>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a:solidFill>
                  <a:srgbClr val="FFFFFF"/>
                </a:solidFill>
                <a:latin typeface="Calibri"/>
              </a:rPr>
              <a:t>6</a:t>
            </a:r>
          </a:p>
        </p:txBody>
      </p:sp>
      <p:sp>
        <p:nvSpPr>
          <p:cNvPr id="99" name="TextBox 98">
            <a:extLst>
              <a:ext uri="{FF2B5EF4-FFF2-40B4-BE49-F238E27FC236}">
                <a16:creationId xmlns:a16="http://schemas.microsoft.com/office/drawing/2014/main" id="{00D6473A-81A8-0C99-C62A-263FEDED467E}"/>
              </a:ext>
            </a:extLst>
          </p:cNvPr>
          <p:cNvSpPr txBox="1"/>
          <p:nvPr/>
        </p:nvSpPr>
        <p:spPr>
          <a:xfrm>
            <a:off x="8897112" y="4199013"/>
            <a:ext cx="2679192" cy="233910"/>
          </a:xfrm>
          <a:prstGeom prst="rect">
            <a:avLst/>
          </a:prstGeom>
          <a:noFill/>
        </p:spPr>
        <p:txBody>
          <a:bodyPr wrap="square" lIns="0" tIns="0" rIns="0" bIns="0" anchor="ctr">
            <a:spAutoFit/>
          </a:bodyPr>
          <a:lstStyle/>
          <a:p>
            <a:pPr algn="l">
              <a:lnSpc>
                <a:spcPct val="95000"/>
              </a:lnSpc>
              <a:spcBef>
                <a:spcPts val="0"/>
              </a:spcBef>
              <a:spcAft>
                <a:spcPts val="600"/>
              </a:spcAft>
            </a:pPr>
            <a:r>
              <a:rPr sz="1600" b="1" i="0">
                <a:solidFill>
                  <a:srgbClr val="13132B"/>
                </a:solidFill>
                <a:latin typeface="Calibri"/>
              </a:rPr>
              <a:t>Radical parsimony</a:t>
            </a:r>
          </a:p>
        </p:txBody>
      </p:sp>
      <p:sp>
        <p:nvSpPr>
          <p:cNvPr id="101" name="TextBox 100">
            <a:extLst>
              <a:ext uri="{FF2B5EF4-FFF2-40B4-BE49-F238E27FC236}">
                <a16:creationId xmlns:a16="http://schemas.microsoft.com/office/drawing/2014/main" id="{11A732D7-5EFC-5511-19F1-04ED5899FF19}"/>
              </a:ext>
            </a:extLst>
          </p:cNvPr>
          <p:cNvSpPr txBox="1"/>
          <p:nvPr/>
        </p:nvSpPr>
        <p:spPr>
          <a:xfrm>
            <a:off x="8385048" y="4654296"/>
            <a:ext cx="3154680" cy="443263"/>
          </a:xfrm>
          <a:prstGeom prst="rect">
            <a:avLst/>
          </a:prstGeom>
          <a:noFill/>
        </p:spPr>
        <p:txBody>
          <a:bodyPr wrap="square" lIns="0" tIns="0" rIns="0" bIns="0" anchor="t">
            <a:spAutoFit/>
          </a:bodyPr>
          <a:lstStyle/>
          <a:p>
            <a:pPr algn="l">
              <a:lnSpc>
                <a:spcPct val="105000"/>
              </a:lnSpc>
              <a:spcBef>
                <a:spcPts val="0"/>
              </a:spcBef>
              <a:spcAft>
                <a:spcPts val="600"/>
              </a:spcAft>
            </a:pPr>
            <a:r>
              <a:rPr sz="1400" b="0" i="0">
                <a:solidFill>
                  <a:srgbClr val="62627D"/>
                </a:solidFill>
                <a:latin typeface="Calibri"/>
              </a:rPr>
              <a:t>One async process, no agent framework — faster, cheaper, rubric-aligned.</a:t>
            </a:r>
          </a:p>
        </p:txBody>
      </p:sp>
      <p:sp>
        <p:nvSpPr>
          <p:cNvPr id="103" name="Rounded Rectangle 49">
            <a:extLst>
              <a:ext uri="{FF2B5EF4-FFF2-40B4-BE49-F238E27FC236}">
                <a16:creationId xmlns:a16="http://schemas.microsoft.com/office/drawing/2014/main" id="{DC4A2291-14A7-861E-C896-C5414942F340}"/>
              </a:ext>
            </a:extLst>
          </p:cNvPr>
          <p:cNvSpPr/>
          <p:nvPr/>
        </p:nvSpPr>
        <p:spPr>
          <a:xfrm>
            <a:off x="8385048" y="5568696"/>
            <a:ext cx="2496312" cy="329184"/>
          </a:xfrm>
          <a:prstGeom prst="roundRect">
            <a:avLst>
              <a:gd name="adj" fmla="val 50000"/>
            </a:avLst>
          </a:prstGeom>
          <a:solidFill>
            <a:srgbClr val="3A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a:extLst>
              <a:ext uri="{FF2B5EF4-FFF2-40B4-BE49-F238E27FC236}">
                <a16:creationId xmlns:a16="http://schemas.microsoft.com/office/drawing/2014/main" id="{9D0B97AF-B8FE-73F1-31F3-0A856D3C7B90}"/>
              </a:ext>
            </a:extLst>
          </p:cNvPr>
          <p:cNvSpPr txBox="1"/>
          <p:nvPr/>
        </p:nvSpPr>
        <p:spPr>
          <a:xfrm>
            <a:off x="8385048" y="5568696"/>
            <a:ext cx="2496312" cy="329184"/>
          </a:xfrm>
          <a:prstGeom prst="rect">
            <a:avLst/>
          </a:prstGeom>
          <a:noFill/>
        </p:spPr>
        <p:txBody>
          <a:bodyPr wrap="square" lIns="0" tIns="0" rIns="0" bIns="0" anchor="ctr">
            <a:spAutoFit/>
          </a:bodyPr>
          <a:lstStyle/>
          <a:p>
            <a:pPr algn="ctr">
              <a:lnSpc>
                <a:spcPct val="100000"/>
              </a:lnSpc>
              <a:spcBef>
                <a:spcPts val="0"/>
              </a:spcBef>
              <a:spcAft>
                <a:spcPts val="600"/>
              </a:spcAft>
            </a:pPr>
            <a:r>
              <a:rPr sz="1000" b="1" i="0">
                <a:solidFill>
                  <a:srgbClr val="FFFFFF"/>
                </a:solidFill>
                <a:latin typeface="Calibri"/>
              </a:rPr>
              <a:t>→ lower TTFT &amp; cost</a:t>
            </a:r>
          </a:p>
        </p:txBody>
      </p:sp>
    </p:spTree>
    <p:extLst>
      <p:ext uri="{BB962C8B-B14F-4D97-AF65-F5344CB8AC3E}">
        <p14:creationId xmlns:p14="http://schemas.microsoft.com/office/powerpoint/2010/main" val="1993237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Box 134">
            <a:extLst>
              <a:ext uri="{FF2B5EF4-FFF2-40B4-BE49-F238E27FC236}">
                <a16:creationId xmlns:a16="http://schemas.microsoft.com/office/drawing/2014/main" id="{FE74CD1E-9E9D-D1D6-5A46-D1B471274DCA}"/>
              </a:ext>
            </a:extLst>
          </p:cNvPr>
          <p:cNvSpPr txBox="1"/>
          <p:nvPr/>
        </p:nvSpPr>
        <p:spPr>
          <a:xfrm>
            <a:off x="685800" y="384048"/>
            <a:ext cx="10972800" cy="822960"/>
          </a:xfrm>
          <a:prstGeom prst="rect">
            <a:avLst/>
          </a:prstGeom>
          <a:noFill/>
        </p:spPr>
        <p:txBody>
          <a:bodyPr wrap="square" lIns="0" tIns="0" rIns="0" bIns="0" anchor="ctr">
            <a:spAutoFit/>
          </a:bodyPr>
          <a:lstStyle/>
          <a:p>
            <a:pPr algn="l">
              <a:lnSpc>
                <a:spcPct val="100000"/>
              </a:lnSpc>
              <a:spcBef>
                <a:spcPts val="0"/>
              </a:spcBef>
              <a:spcAft>
                <a:spcPts val="600"/>
              </a:spcAft>
            </a:pPr>
            <a:r>
              <a:rPr sz="3300" b="1" i="0">
                <a:solidFill>
                  <a:srgbClr val="6F4EA6"/>
                </a:solidFill>
                <a:latin typeface="Calibri"/>
              </a:rPr>
              <a:t>Results &amp; Limitations</a:t>
            </a:r>
          </a:p>
        </p:txBody>
      </p:sp>
      <p:sp>
        <p:nvSpPr>
          <p:cNvPr id="137" name="Rectangle 136">
            <a:extLst>
              <a:ext uri="{FF2B5EF4-FFF2-40B4-BE49-F238E27FC236}">
                <a16:creationId xmlns:a16="http://schemas.microsoft.com/office/drawing/2014/main" id="{40178490-56A7-1190-2ECA-536FC8B6F8D6}"/>
              </a:ext>
            </a:extLst>
          </p:cNvPr>
          <p:cNvSpPr/>
          <p:nvPr/>
        </p:nvSpPr>
        <p:spPr>
          <a:xfrm>
            <a:off x="731520" y="1115568"/>
            <a:ext cx="777240" cy="50292"/>
          </a:xfrm>
          <a:prstGeom prst="rect">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a:extLst>
              <a:ext uri="{FF2B5EF4-FFF2-40B4-BE49-F238E27FC236}">
                <a16:creationId xmlns:a16="http://schemas.microsoft.com/office/drawing/2014/main" id="{CC645DCF-B8F1-0B54-C6AF-F82224A0CF44}"/>
              </a:ext>
            </a:extLst>
          </p:cNvPr>
          <p:cNvSpPr txBox="1"/>
          <p:nvPr/>
        </p:nvSpPr>
        <p:spPr>
          <a:xfrm>
            <a:off x="685800" y="1371600"/>
            <a:ext cx="5943600" cy="246221"/>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6C28D9"/>
                </a:solidFill>
                <a:latin typeface="Calibri"/>
              </a:rPr>
              <a:t>Target scorecard — the six automated gates</a:t>
            </a:r>
          </a:p>
        </p:txBody>
      </p:sp>
      <p:sp>
        <p:nvSpPr>
          <p:cNvPr id="141" name="Rectangle 140">
            <a:extLst>
              <a:ext uri="{FF2B5EF4-FFF2-40B4-BE49-F238E27FC236}">
                <a16:creationId xmlns:a16="http://schemas.microsoft.com/office/drawing/2014/main" id="{D68B1FFC-52C6-B8FA-92EE-9BA39FB601CE}"/>
              </a:ext>
            </a:extLst>
          </p:cNvPr>
          <p:cNvSpPr/>
          <p:nvPr/>
        </p:nvSpPr>
        <p:spPr>
          <a:xfrm>
            <a:off x="685800" y="1737360"/>
            <a:ext cx="777240" cy="457200"/>
          </a:xfrm>
          <a:prstGeom prst="rect">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a:extLst>
              <a:ext uri="{FF2B5EF4-FFF2-40B4-BE49-F238E27FC236}">
                <a16:creationId xmlns:a16="http://schemas.microsoft.com/office/drawing/2014/main" id="{B2E05E2E-9D7B-4AFA-4098-7ED1EFD369D6}"/>
              </a:ext>
            </a:extLst>
          </p:cNvPr>
          <p:cNvSpPr txBox="1"/>
          <p:nvPr/>
        </p:nvSpPr>
        <p:spPr>
          <a:xfrm>
            <a:off x="758952" y="1842850"/>
            <a:ext cx="667512"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dirty="0">
                <a:solidFill>
                  <a:srgbClr val="FFFFFF"/>
                </a:solidFill>
                <a:latin typeface="Calibri"/>
              </a:rPr>
              <a:t>Gate</a:t>
            </a:r>
          </a:p>
        </p:txBody>
      </p:sp>
      <p:sp>
        <p:nvSpPr>
          <p:cNvPr id="145" name="Rectangle 144">
            <a:extLst>
              <a:ext uri="{FF2B5EF4-FFF2-40B4-BE49-F238E27FC236}">
                <a16:creationId xmlns:a16="http://schemas.microsoft.com/office/drawing/2014/main" id="{8D11BC7E-B446-C8EB-DCD3-AE67D073A8D7}"/>
              </a:ext>
            </a:extLst>
          </p:cNvPr>
          <p:cNvSpPr/>
          <p:nvPr/>
        </p:nvSpPr>
        <p:spPr>
          <a:xfrm>
            <a:off x="1463040" y="1737360"/>
            <a:ext cx="2743200" cy="457200"/>
          </a:xfrm>
          <a:prstGeom prst="rect">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a:extLst>
              <a:ext uri="{FF2B5EF4-FFF2-40B4-BE49-F238E27FC236}">
                <a16:creationId xmlns:a16="http://schemas.microsoft.com/office/drawing/2014/main" id="{745AE229-C814-1DCB-3281-B71220A959AC}"/>
              </a:ext>
            </a:extLst>
          </p:cNvPr>
          <p:cNvSpPr txBox="1"/>
          <p:nvPr/>
        </p:nvSpPr>
        <p:spPr>
          <a:xfrm>
            <a:off x="1536192" y="1842850"/>
            <a:ext cx="2633472"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a:solidFill>
                  <a:srgbClr val="FFFFFF"/>
                </a:solidFill>
                <a:latin typeface="Calibri"/>
              </a:rPr>
              <a:t>Measures</a:t>
            </a:r>
          </a:p>
        </p:txBody>
      </p:sp>
      <p:sp>
        <p:nvSpPr>
          <p:cNvPr id="149" name="Rectangle 148">
            <a:extLst>
              <a:ext uri="{FF2B5EF4-FFF2-40B4-BE49-F238E27FC236}">
                <a16:creationId xmlns:a16="http://schemas.microsoft.com/office/drawing/2014/main" id="{FFE453F6-AC78-E9F4-0CF4-FD0D08CA894D}"/>
              </a:ext>
            </a:extLst>
          </p:cNvPr>
          <p:cNvSpPr/>
          <p:nvPr/>
        </p:nvSpPr>
        <p:spPr>
          <a:xfrm>
            <a:off x="4206240" y="1737360"/>
            <a:ext cx="1691640" cy="457200"/>
          </a:xfrm>
          <a:prstGeom prst="rect">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a:extLst>
              <a:ext uri="{FF2B5EF4-FFF2-40B4-BE49-F238E27FC236}">
                <a16:creationId xmlns:a16="http://schemas.microsoft.com/office/drawing/2014/main" id="{7DEC13D9-8A54-01DC-4A10-6487CA198EEB}"/>
              </a:ext>
            </a:extLst>
          </p:cNvPr>
          <p:cNvSpPr txBox="1"/>
          <p:nvPr/>
        </p:nvSpPr>
        <p:spPr>
          <a:xfrm>
            <a:off x="4279392" y="1842850"/>
            <a:ext cx="1581912"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a:solidFill>
                  <a:srgbClr val="FFFFFF"/>
                </a:solidFill>
                <a:latin typeface="Calibri"/>
              </a:rPr>
              <a:t>Target</a:t>
            </a:r>
          </a:p>
        </p:txBody>
      </p:sp>
      <p:sp>
        <p:nvSpPr>
          <p:cNvPr id="153" name="Rectangle 152">
            <a:extLst>
              <a:ext uri="{FF2B5EF4-FFF2-40B4-BE49-F238E27FC236}">
                <a16:creationId xmlns:a16="http://schemas.microsoft.com/office/drawing/2014/main" id="{AF47B143-C32D-B594-1DB7-8D6C3097D0F0}"/>
              </a:ext>
            </a:extLst>
          </p:cNvPr>
          <p:cNvSpPr/>
          <p:nvPr/>
        </p:nvSpPr>
        <p:spPr>
          <a:xfrm>
            <a:off x="5897879" y="1737360"/>
            <a:ext cx="1463040" cy="457200"/>
          </a:xfrm>
          <a:prstGeom prst="rect">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a:extLst>
              <a:ext uri="{FF2B5EF4-FFF2-40B4-BE49-F238E27FC236}">
                <a16:creationId xmlns:a16="http://schemas.microsoft.com/office/drawing/2014/main" id="{1073BCE2-73F0-1CC2-B367-CB2486DD3550}"/>
              </a:ext>
            </a:extLst>
          </p:cNvPr>
          <p:cNvSpPr txBox="1"/>
          <p:nvPr/>
        </p:nvSpPr>
        <p:spPr>
          <a:xfrm>
            <a:off x="5971031" y="1842850"/>
            <a:ext cx="1353312"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a:solidFill>
                  <a:srgbClr val="FFFFFF"/>
                </a:solidFill>
                <a:latin typeface="Calibri"/>
              </a:rPr>
              <a:t>Aim</a:t>
            </a:r>
          </a:p>
        </p:txBody>
      </p:sp>
      <p:sp>
        <p:nvSpPr>
          <p:cNvPr id="157" name="Rectangle 156">
            <a:extLst>
              <a:ext uri="{FF2B5EF4-FFF2-40B4-BE49-F238E27FC236}">
                <a16:creationId xmlns:a16="http://schemas.microsoft.com/office/drawing/2014/main" id="{C0C8B562-87D3-8B22-A324-86C620010E7B}"/>
              </a:ext>
            </a:extLst>
          </p:cNvPr>
          <p:cNvSpPr/>
          <p:nvPr/>
        </p:nvSpPr>
        <p:spPr>
          <a:xfrm>
            <a:off x="685800" y="2194560"/>
            <a:ext cx="77724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a:extLst>
              <a:ext uri="{FF2B5EF4-FFF2-40B4-BE49-F238E27FC236}">
                <a16:creationId xmlns:a16="http://schemas.microsoft.com/office/drawing/2014/main" id="{992313CA-93C8-D361-25CB-3A5583A13987}"/>
              </a:ext>
            </a:extLst>
          </p:cNvPr>
          <p:cNvSpPr txBox="1"/>
          <p:nvPr/>
        </p:nvSpPr>
        <p:spPr>
          <a:xfrm>
            <a:off x="758952" y="2315438"/>
            <a:ext cx="6675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6C28D9"/>
                </a:solidFill>
                <a:latin typeface="Calibri"/>
              </a:rPr>
              <a:t>G1</a:t>
            </a:r>
          </a:p>
        </p:txBody>
      </p:sp>
      <p:sp>
        <p:nvSpPr>
          <p:cNvPr id="161" name="Rectangle 160">
            <a:extLst>
              <a:ext uri="{FF2B5EF4-FFF2-40B4-BE49-F238E27FC236}">
                <a16:creationId xmlns:a16="http://schemas.microsoft.com/office/drawing/2014/main" id="{18F3F373-DD09-6FDC-8749-18B06AB53E02}"/>
              </a:ext>
            </a:extLst>
          </p:cNvPr>
          <p:cNvSpPr/>
          <p:nvPr/>
        </p:nvSpPr>
        <p:spPr>
          <a:xfrm>
            <a:off x="1463040" y="2194560"/>
            <a:ext cx="274320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a:extLst>
              <a:ext uri="{FF2B5EF4-FFF2-40B4-BE49-F238E27FC236}">
                <a16:creationId xmlns:a16="http://schemas.microsoft.com/office/drawing/2014/main" id="{5D1C5337-FB29-781A-D34B-FDB4D172B0AE}"/>
              </a:ext>
            </a:extLst>
          </p:cNvPr>
          <p:cNvSpPr txBox="1"/>
          <p:nvPr/>
        </p:nvSpPr>
        <p:spPr>
          <a:xfrm>
            <a:off x="1536192" y="2315438"/>
            <a:ext cx="263347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dirty="0">
                <a:solidFill>
                  <a:srgbClr val="62627D"/>
                </a:solidFill>
                <a:latin typeface="Calibri"/>
              </a:rPr>
              <a:t>Clean-machine reproducibility</a:t>
            </a:r>
          </a:p>
        </p:txBody>
      </p:sp>
      <p:sp>
        <p:nvSpPr>
          <p:cNvPr id="165" name="Rectangle 164">
            <a:extLst>
              <a:ext uri="{FF2B5EF4-FFF2-40B4-BE49-F238E27FC236}">
                <a16:creationId xmlns:a16="http://schemas.microsoft.com/office/drawing/2014/main" id="{48853F63-5D22-24C0-1D01-BC0633ECA9A0}"/>
              </a:ext>
            </a:extLst>
          </p:cNvPr>
          <p:cNvSpPr/>
          <p:nvPr/>
        </p:nvSpPr>
        <p:spPr>
          <a:xfrm>
            <a:off x="4206240" y="2194560"/>
            <a:ext cx="169164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TextBox 166">
            <a:extLst>
              <a:ext uri="{FF2B5EF4-FFF2-40B4-BE49-F238E27FC236}">
                <a16:creationId xmlns:a16="http://schemas.microsoft.com/office/drawing/2014/main" id="{4A5FFD84-A666-0725-752C-D9D53896927A}"/>
              </a:ext>
            </a:extLst>
          </p:cNvPr>
          <p:cNvSpPr txBox="1"/>
          <p:nvPr/>
        </p:nvSpPr>
        <p:spPr>
          <a:xfrm>
            <a:off x="4279392" y="2315438"/>
            <a:ext cx="15819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Pass</a:t>
            </a:r>
          </a:p>
        </p:txBody>
      </p:sp>
      <p:sp>
        <p:nvSpPr>
          <p:cNvPr id="169" name="Rectangle 168">
            <a:extLst>
              <a:ext uri="{FF2B5EF4-FFF2-40B4-BE49-F238E27FC236}">
                <a16:creationId xmlns:a16="http://schemas.microsoft.com/office/drawing/2014/main" id="{549C1010-5797-BCBD-C7AF-C2C0E2928C06}"/>
              </a:ext>
            </a:extLst>
          </p:cNvPr>
          <p:cNvSpPr/>
          <p:nvPr/>
        </p:nvSpPr>
        <p:spPr>
          <a:xfrm>
            <a:off x="5897879" y="2194560"/>
            <a:ext cx="146304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a:extLst>
              <a:ext uri="{FF2B5EF4-FFF2-40B4-BE49-F238E27FC236}">
                <a16:creationId xmlns:a16="http://schemas.microsoft.com/office/drawing/2014/main" id="{403BAA9B-5526-6DF3-35E3-FDE0C3315A68}"/>
              </a:ext>
            </a:extLst>
          </p:cNvPr>
          <p:cNvSpPr txBox="1"/>
          <p:nvPr/>
        </p:nvSpPr>
        <p:spPr>
          <a:xfrm>
            <a:off x="5971031" y="2315438"/>
            <a:ext cx="13533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4FB09C"/>
                </a:solidFill>
                <a:latin typeface="Calibri"/>
              </a:rPr>
              <a:t>1-cmd Docker</a:t>
            </a:r>
          </a:p>
        </p:txBody>
      </p:sp>
      <p:sp>
        <p:nvSpPr>
          <p:cNvPr id="173" name="Rectangle 172">
            <a:extLst>
              <a:ext uri="{FF2B5EF4-FFF2-40B4-BE49-F238E27FC236}">
                <a16:creationId xmlns:a16="http://schemas.microsoft.com/office/drawing/2014/main" id="{BF195D1E-D839-E753-F58D-82C79FFE5E84}"/>
              </a:ext>
            </a:extLst>
          </p:cNvPr>
          <p:cNvSpPr/>
          <p:nvPr/>
        </p:nvSpPr>
        <p:spPr>
          <a:xfrm>
            <a:off x="685800" y="2651760"/>
            <a:ext cx="77724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TextBox 174">
            <a:extLst>
              <a:ext uri="{FF2B5EF4-FFF2-40B4-BE49-F238E27FC236}">
                <a16:creationId xmlns:a16="http://schemas.microsoft.com/office/drawing/2014/main" id="{E4971B99-1632-75C9-8D2E-1419CD2D1285}"/>
              </a:ext>
            </a:extLst>
          </p:cNvPr>
          <p:cNvSpPr txBox="1"/>
          <p:nvPr/>
        </p:nvSpPr>
        <p:spPr>
          <a:xfrm>
            <a:off x="758952" y="2772638"/>
            <a:ext cx="6675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6C28D9"/>
                </a:solidFill>
                <a:latin typeface="Calibri"/>
              </a:rPr>
              <a:t>G2</a:t>
            </a:r>
          </a:p>
        </p:txBody>
      </p:sp>
      <p:sp>
        <p:nvSpPr>
          <p:cNvPr id="177" name="Rectangle 176">
            <a:extLst>
              <a:ext uri="{FF2B5EF4-FFF2-40B4-BE49-F238E27FC236}">
                <a16:creationId xmlns:a16="http://schemas.microsoft.com/office/drawing/2014/main" id="{2216D444-5418-B75D-BCA6-EF5E3A28BF12}"/>
              </a:ext>
            </a:extLst>
          </p:cNvPr>
          <p:cNvSpPr/>
          <p:nvPr/>
        </p:nvSpPr>
        <p:spPr>
          <a:xfrm>
            <a:off x="1463040" y="2651760"/>
            <a:ext cx="274320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TextBox 178">
            <a:extLst>
              <a:ext uri="{FF2B5EF4-FFF2-40B4-BE49-F238E27FC236}">
                <a16:creationId xmlns:a16="http://schemas.microsoft.com/office/drawing/2014/main" id="{3A63FDB6-76B7-E006-CCCB-EDAABAABB093}"/>
              </a:ext>
            </a:extLst>
          </p:cNvPr>
          <p:cNvSpPr txBox="1"/>
          <p:nvPr/>
        </p:nvSpPr>
        <p:spPr>
          <a:xfrm>
            <a:off x="1536192" y="2772638"/>
            <a:ext cx="263347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dirty="0">
                <a:solidFill>
                  <a:srgbClr val="62627D"/>
                </a:solidFill>
                <a:latin typeface="Calibri"/>
              </a:rPr>
              <a:t>Early retrieval rate</a:t>
            </a:r>
          </a:p>
        </p:txBody>
      </p:sp>
      <p:sp>
        <p:nvSpPr>
          <p:cNvPr id="181" name="Rectangle 180">
            <a:extLst>
              <a:ext uri="{FF2B5EF4-FFF2-40B4-BE49-F238E27FC236}">
                <a16:creationId xmlns:a16="http://schemas.microsoft.com/office/drawing/2014/main" id="{4B34BA84-BC89-090F-B78D-9E88B1F88869}"/>
              </a:ext>
            </a:extLst>
          </p:cNvPr>
          <p:cNvSpPr/>
          <p:nvPr/>
        </p:nvSpPr>
        <p:spPr>
          <a:xfrm>
            <a:off x="4206240" y="2651760"/>
            <a:ext cx="169164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a:extLst>
              <a:ext uri="{FF2B5EF4-FFF2-40B4-BE49-F238E27FC236}">
                <a16:creationId xmlns:a16="http://schemas.microsoft.com/office/drawing/2014/main" id="{F451E46F-5B93-557F-9AAC-C905D723EC0F}"/>
              </a:ext>
            </a:extLst>
          </p:cNvPr>
          <p:cNvSpPr txBox="1"/>
          <p:nvPr/>
        </p:nvSpPr>
        <p:spPr>
          <a:xfrm>
            <a:off x="4279392" y="2772638"/>
            <a:ext cx="15819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 80%</a:t>
            </a:r>
          </a:p>
        </p:txBody>
      </p:sp>
      <p:sp>
        <p:nvSpPr>
          <p:cNvPr id="185" name="Rectangle 184">
            <a:extLst>
              <a:ext uri="{FF2B5EF4-FFF2-40B4-BE49-F238E27FC236}">
                <a16:creationId xmlns:a16="http://schemas.microsoft.com/office/drawing/2014/main" id="{EE1F9C55-7D00-2AD5-D222-A74ED6227B7B}"/>
              </a:ext>
            </a:extLst>
          </p:cNvPr>
          <p:cNvSpPr/>
          <p:nvPr/>
        </p:nvSpPr>
        <p:spPr>
          <a:xfrm>
            <a:off x="5897879" y="2651760"/>
            <a:ext cx="146304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a:extLst>
              <a:ext uri="{FF2B5EF4-FFF2-40B4-BE49-F238E27FC236}">
                <a16:creationId xmlns:a16="http://schemas.microsoft.com/office/drawing/2014/main" id="{40A778EA-09CD-909D-4B04-0767F9C75386}"/>
              </a:ext>
            </a:extLst>
          </p:cNvPr>
          <p:cNvSpPr txBox="1"/>
          <p:nvPr/>
        </p:nvSpPr>
        <p:spPr>
          <a:xfrm>
            <a:off x="5971031" y="2772638"/>
            <a:ext cx="13533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4FB09C"/>
                </a:solidFill>
                <a:latin typeface="Calibri"/>
              </a:rPr>
              <a:t>~85%</a:t>
            </a:r>
          </a:p>
        </p:txBody>
      </p:sp>
      <p:sp>
        <p:nvSpPr>
          <p:cNvPr id="189" name="Rectangle 188">
            <a:extLst>
              <a:ext uri="{FF2B5EF4-FFF2-40B4-BE49-F238E27FC236}">
                <a16:creationId xmlns:a16="http://schemas.microsoft.com/office/drawing/2014/main" id="{6657DFCA-5BFB-6F39-153A-47FE36B81284}"/>
              </a:ext>
            </a:extLst>
          </p:cNvPr>
          <p:cNvSpPr/>
          <p:nvPr/>
        </p:nvSpPr>
        <p:spPr>
          <a:xfrm>
            <a:off x="685800" y="3108960"/>
            <a:ext cx="77724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a:extLst>
              <a:ext uri="{FF2B5EF4-FFF2-40B4-BE49-F238E27FC236}">
                <a16:creationId xmlns:a16="http://schemas.microsoft.com/office/drawing/2014/main" id="{3AC24336-DEB7-C5A4-57B0-240407F0B43A}"/>
              </a:ext>
            </a:extLst>
          </p:cNvPr>
          <p:cNvSpPr txBox="1"/>
          <p:nvPr/>
        </p:nvSpPr>
        <p:spPr>
          <a:xfrm>
            <a:off x="758952" y="3229838"/>
            <a:ext cx="6675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6C28D9"/>
                </a:solidFill>
                <a:latin typeface="Calibri"/>
              </a:rPr>
              <a:t>G3</a:t>
            </a:r>
          </a:p>
        </p:txBody>
      </p:sp>
      <p:sp>
        <p:nvSpPr>
          <p:cNvPr id="193" name="Rectangle 192">
            <a:extLst>
              <a:ext uri="{FF2B5EF4-FFF2-40B4-BE49-F238E27FC236}">
                <a16:creationId xmlns:a16="http://schemas.microsoft.com/office/drawing/2014/main" id="{F2E49F24-A395-964B-F5B5-31E5E22432F5}"/>
              </a:ext>
            </a:extLst>
          </p:cNvPr>
          <p:cNvSpPr/>
          <p:nvPr/>
        </p:nvSpPr>
        <p:spPr>
          <a:xfrm>
            <a:off x="1463040" y="3108960"/>
            <a:ext cx="274320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194">
            <a:extLst>
              <a:ext uri="{FF2B5EF4-FFF2-40B4-BE49-F238E27FC236}">
                <a16:creationId xmlns:a16="http://schemas.microsoft.com/office/drawing/2014/main" id="{75B431F5-49EA-2D3B-E189-05828CF62B99}"/>
              </a:ext>
            </a:extLst>
          </p:cNvPr>
          <p:cNvSpPr txBox="1"/>
          <p:nvPr/>
        </p:nvSpPr>
        <p:spPr>
          <a:xfrm>
            <a:off x="1536192" y="3229838"/>
            <a:ext cx="263347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Multi-intent identification</a:t>
            </a:r>
          </a:p>
        </p:txBody>
      </p:sp>
      <p:sp>
        <p:nvSpPr>
          <p:cNvPr id="197" name="Rectangle 196">
            <a:extLst>
              <a:ext uri="{FF2B5EF4-FFF2-40B4-BE49-F238E27FC236}">
                <a16:creationId xmlns:a16="http://schemas.microsoft.com/office/drawing/2014/main" id="{03090520-2C71-95B8-9B8B-E4B7A5992BFE}"/>
              </a:ext>
            </a:extLst>
          </p:cNvPr>
          <p:cNvSpPr/>
          <p:nvPr/>
        </p:nvSpPr>
        <p:spPr>
          <a:xfrm>
            <a:off x="4206240" y="3108960"/>
            <a:ext cx="169164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TextBox 198">
            <a:extLst>
              <a:ext uri="{FF2B5EF4-FFF2-40B4-BE49-F238E27FC236}">
                <a16:creationId xmlns:a16="http://schemas.microsoft.com/office/drawing/2014/main" id="{5B4474C8-5E29-9DD1-5AAA-4A0D0EFA7C94}"/>
              </a:ext>
            </a:extLst>
          </p:cNvPr>
          <p:cNvSpPr txBox="1"/>
          <p:nvPr/>
        </p:nvSpPr>
        <p:spPr>
          <a:xfrm>
            <a:off x="4279392" y="3229838"/>
            <a:ext cx="15819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 70%</a:t>
            </a:r>
          </a:p>
        </p:txBody>
      </p:sp>
      <p:sp>
        <p:nvSpPr>
          <p:cNvPr id="201" name="Rectangle 200">
            <a:extLst>
              <a:ext uri="{FF2B5EF4-FFF2-40B4-BE49-F238E27FC236}">
                <a16:creationId xmlns:a16="http://schemas.microsoft.com/office/drawing/2014/main" id="{53A5D4B4-BBE0-3D42-F592-8B3BB0A04D61}"/>
              </a:ext>
            </a:extLst>
          </p:cNvPr>
          <p:cNvSpPr/>
          <p:nvPr/>
        </p:nvSpPr>
        <p:spPr>
          <a:xfrm>
            <a:off x="5897879" y="3108960"/>
            <a:ext cx="146304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TextBox 202">
            <a:extLst>
              <a:ext uri="{FF2B5EF4-FFF2-40B4-BE49-F238E27FC236}">
                <a16:creationId xmlns:a16="http://schemas.microsoft.com/office/drawing/2014/main" id="{7F822416-67CB-718B-812F-A785F6D137C6}"/>
              </a:ext>
            </a:extLst>
          </p:cNvPr>
          <p:cNvSpPr txBox="1"/>
          <p:nvPr/>
        </p:nvSpPr>
        <p:spPr>
          <a:xfrm>
            <a:off x="5971031" y="3229838"/>
            <a:ext cx="13533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4FB09C"/>
                </a:solidFill>
                <a:latin typeface="Calibri"/>
              </a:rPr>
              <a:t>~78%</a:t>
            </a:r>
          </a:p>
        </p:txBody>
      </p:sp>
      <p:sp>
        <p:nvSpPr>
          <p:cNvPr id="205" name="Rectangle 204">
            <a:extLst>
              <a:ext uri="{FF2B5EF4-FFF2-40B4-BE49-F238E27FC236}">
                <a16:creationId xmlns:a16="http://schemas.microsoft.com/office/drawing/2014/main" id="{652FD86B-B1BE-BFFB-8087-AF269BB3D518}"/>
              </a:ext>
            </a:extLst>
          </p:cNvPr>
          <p:cNvSpPr/>
          <p:nvPr/>
        </p:nvSpPr>
        <p:spPr>
          <a:xfrm>
            <a:off x="685800" y="3566160"/>
            <a:ext cx="77724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TextBox 206">
            <a:extLst>
              <a:ext uri="{FF2B5EF4-FFF2-40B4-BE49-F238E27FC236}">
                <a16:creationId xmlns:a16="http://schemas.microsoft.com/office/drawing/2014/main" id="{5AE365E3-6FA1-1142-4E9B-C57B52020CA3}"/>
              </a:ext>
            </a:extLst>
          </p:cNvPr>
          <p:cNvSpPr txBox="1"/>
          <p:nvPr/>
        </p:nvSpPr>
        <p:spPr>
          <a:xfrm>
            <a:off x="758952" y="3687038"/>
            <a:ext cx="6675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6C28D9"/>
                </a:solidFill>
                <a:latin typeface="Calibri"/>
              </a:rPr>
              <a:t>G4</a:t>
            </a:r>
          </a:p>
        </p:txBody>
      </p:sp>
      <p:sp>
        <p:nvSpPr>
          <p:cNvPr id="209" name="Rectangle 208">
            <a:extLst>
              <a:ext uri="{FF2B5EF4-FFF2-40B4-BE49-F238E27FC236}">
                <a16:creationId xmlns:a16="http://schemas.microsoft.com/office/drawing/2014/main" id="{40467046-4116-FEE6-74A6-F8FB47E80761}"/>
              </a:ext>
            </a:extLst>
          </p:cNvPr>
          <p:cNvSpPr/>
          <p:nvPr/>
        </p:nvSpPr>
        <p:spPr>
          <a:xfrm>
            <a:off x="1463040" y="3566160"/>
            <a:ext cx="274320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TextBox 210">
            <a:extLst>
              <a:ext uri="{FF2B5EF4-FFF2-40B4-BE49-F238E27FC236}">
                <a16:creationId xmlns:a16="http://schemas.microsoft.com/office/drawing/2014/main" id="{B84A20A3-6F62-294E-E6E0-F6167BDE64B6}"/>
              </a:ext>
            </a:extLst>
          </p:cNvPr>
          <p:cNvSpPr txBox="1"/>
          <p:nvPr/>
        </p:nvSpPr>
        <p:spPr>
          <a:xfrm>
            <a:off x="1536192" y="3687038"/>
            <a:ext cx="263347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Factual grounding</a:t>
            </a:r>
          </a:p>
        </p:txBody>
      </p:sp>
      <p:sp>
        <p:nvSpPr>
          <p:cNvPr id="213" name="Rectangle 212">
            <a:extLst>
              <a:ext uri="{FF2B5EF4-FFF2-40B4-BE49-F238E27FC236}">
                <a16:creationId xmlns:a16="http://schemas.microsoft.com/office/drawing/2014/main" id="{6C89CD8D-1AE7-7E3E-276A-7A6B8AF1FCAF}"/>
              </a:ext>
            </a:extLst>
          </p:cNvPr>
          <p:cNvSpPr/>
          <p:nvPr/>
        </p:nvSpPr>
        <p:spPr>
          <a:xfrm>
            <a:off x="4206240" y="3566160"/>
            <a:ext cx="169164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TextBox 214">
            <a:extLst>
              <a:ext uri="{FF2B5EF4-FFF2-40B4-BE49-F238E27FC236}">
                <a16:creationId xmlns:a16="http://schemas.microsoft.com/office/drawing/2014/main" id="{1E6B5F44-E819-56B9-88FB-4B2C00F23A60}"/>
              </a:ext>
            </a:extLst>
          </p:cNvPr>
          <p:cNvSpPr txBox="1"/>
          <p:nvPr/>
        </p:nvSpPr>
        <p:spPr>
          <a:xfrm>
            <a:off x="4279392" y="3687038"/>
            <a:ext cx="15819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 85% · 0 fabr.</a:t>
            </a:r>
          </a:p>
        </p:txBody>
      </p:sp>
      <p:sp>
        <p:nvSpPr>
          <p:cNvPr id="217" name="Rectangle 216">
            <a:extLst>
              <a:ext uri="{FF2B5EF4-FFF2-40B4-BE49-F238E27FC236}">
                <a16:creationId xmlns:a16="http://schemas.microsoft.com/office/drawing/2014/main" id="{D293A852-BB98-8E2B-F565-F1D766BFD5C3}"/>
              </a:ext>
            </a:extLst>
          </p:cNvPr>
          <p:cNvSpPr/>
          <p:nvPr/>
        </p:nvSpPr>
        <p:spPr>
          <a:xfrm>
            <a:off x="5897879" y="3566160"/>
            <a:ext cx="146304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Box 218">
            <a:extLst>
              <a:ext uri="{FF2B5EF4-FFF2-40B4-BE49-F238E27FC236}">
                <a16:creationId xmlns:a16="http://schemas.microsoft.com/office/drawing/2014/main" id="{36908EE1-95FE-A12E-05F0-A686804082B4}"/>
              </a:ext>
            </a:extLst>
          </p:cNvPr>
          <p:cNvSpPr txBox="1"/>
          <p:nvPr/>
        </p:nvSpPr>
        <p:spPr>
          <a:xfrm>
            <a:off x="5971031" y="3687038"/>
            <a:ext cx="13533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4FB09C"/>
                </a:solidFill>
                <a:latin typeface="Calibri"/>
              </a:rPr>
              <a:t>0 fabricated</a:t>
            </a:r>
          </a:p>
        </p:txBody>
      </p:sp>
      <p:sp>
        <p:nvSpPr>
          <p:cNvPr id="221" name="Rectangle 220">
            <a:extLst>
              <a:ext uri="{FF2B5EF4-FFF2-40B4-BE49-F238E27FC236}">
                <a16:creationId xmlns:a16="http://schemas.microsoft.com/office/drawing/2014/main" id="{FC3109F1-22FE-E88B-87B9-39D3AC05055D}"/>
              </a:ext>
            </a:extLst>
          </p:cNvPr>
          <p:cNvSpPr/>
          <p:nvPr/>
        </p:nvSpPr>
        <p:spPr>
          <a:xfrm>
            <a:off x="685800" y="4023360"/>
            <a:ext cx="77724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TextBox 222">
            <a:extLst>
              <a:ext uri="{FF2B5EF4-FFF2-40B4-BE49-F238E27FC236}">
                <a16:creationId xmlns:a16="http://schemas.microsoft.com/office/drawing/2014/main" id="{8527B18A-6DCB-9A5D-5CC5-B3872104C2C6}"/>
              </a:ext>
            </a:extLst>
          </p:cNvPr>
          <p:cNvSpPr txBox="1"/>
          <p:nvPr/>
        </p:nvSpPr>
        <p:spPr>
          <a:xfrm>
            <a:off x="758952" y="4144238"/>
            <a:ext cx="6675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6C28D9"/>
                </a:solidFill>
                <a:latin typeface="Calibri"/>
              </a:rPr>
              <a:t>G5</a:t>
            </a:r>
          </a:p>
        </p:txBody>
      </p:sp>
      <p:sp>
        <p:nvSpPr>
          <p:cNvPr id="225" name="Rectangle 224">
            <a:extLst>
              <a:ext uri="{FF2B5EF4-FFF2-40B4-BE49-F238E27FC236}">
                <a16:creationId xmlns:a16="http://schemas.microsoft.com/office/drawing/2014/main" id="{938A2678-8748-CBFC-9036-D6D402041EA5}"/>
              </a:ext>
            </a:extLst>
          </p:cNvPr>
          <p:cNvSpPr/>
          <p:nvPr/>
        </p:nvSpPr>
        <p:spPr>
          <a:xfrm>
            <a:off x="1463040" y="4023360"/>
            <a:ext cx="274320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TextBox 226">
            <a:extLst>
              <a:ext uri="{FF2B5EF4-FFF2-40B4-BE49-F238E27FC236}">
                <a16:creationId xmlns:a16="http://schemas.microsoft.com/office/drawing/2014/main" id="{36F17F00-2FC8-E95C-3456-857E1EBCA027}"/>
              </a:ext>
            </a:extLst>
          </p:cNvPr>
          <p:cNvSpPr txBox="1"/>
          <p:nvPr/>
        </p:nvSpPr>
        <p:spPr>
          <a:xfrm>
            <a:off x="1536192" y="4144238"/>
            <a:ext cx="263347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Session refinement</a:t>
            </a:r>
          </a:p>
        </p:txBody>
      </p:sp>
      <p:sp>
        <p:nvSpPr>
          <p:cNvPr id="229" name="Rectangle 228">
            <a:extLst>
              <a:ext uri="{FF2B5EF4-FFF2-40B4-BE49-F238E27FC236}">
                <a16:creationId xmlns:a16="http://schemas.microsoft.com/office/drawing/2014/main" id="{EF385E92-48F6-0DE8-BAD8-D0D229F4811E}"/>
              </a:ext>
            </a:extLst>
          </p:cNvPr>
          <p:cNvSpPr/>
          <p:nvPr/>
        </p:nvSpPr>
        <p:spPr>
          <a:xfrm>
            <a:off x="4206240" y="4023360"/>
            <a:ext cx="169164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TextBox 230">
            <a:extLst>
              <a:ext uri="{FF2B5EF4-FFF2-40B4-BE49-F238E27FC236}">
                <a16:creationId xmlns:a16="http://schemas.microsoft.com/office/drawing/2014/main" id="{56837537-3CA7-EDA5-FC55-5D6F7E21EC2A}"/>
              </a:ext>
            </a:extLst>
          </p:cNvPr>
          <p:cNvSpPr txBox="1"/>
          <p:nvPr/>
        </p:nvSpPr>
        <p:spPr>
          <a:xfrm>
            <a:off x="4279392" y="4144238"/>
            <a:ext cx="15819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state continuity</a:t>
            </a:r>
          </a:p>
        </p:txBody>
      </p:sp>
      <p:sp>
        <p:nvSpPr>
          <p:cNvPr id="233" name="Rectangle 232">
            <a:extLst>
              <a:ext uri="{FF2B5EF4-FFF2-40B4-BE49-F238E27FC236}">
                <a16:creationId xmlns:a16="http://schemas.microsoft.com/office/drawing/2014/main" id="{2E039EE8-7F5B-755B-F8CF-26BD6556227F}"/>
              </a:ext>
            </a:extLst>
          </p:cNvPr>
          <p:cNvSpPr/>
          <p:nvPr/>
        </p:nvSpPr>
        <p:spPr>
          <a:xfrm>
            <a:off x="5897879" y="4023360"/>
            <a:ext cx="1463040" cy="457200"/>
          </a:xfrm>
          <a:prstGeom prst="rect">
            <a:avLst/>
          </a:prstGeom>
          <a:solidFill>
            <a:srgbClr val="FFFFFF"/>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TextBox 234">
            <a:extLst>
              <a:ext uri="{FF2B5EF4-FFF2-40B4-BE49-F238E27FC236}">
                <a16:creationId xmlns:a16="http://schemas.microsoft.com/office/drawing/2014/main" id="{6A96711E-7A3E-2652-A96E-F6F486D93A26}"/>
              </a:ext>
            </a:extLst>
          </p:cNvPr>
          <p:cNvSpPr txBox="1"/>
          <p:nvPr/>
        </p:nvSpPr>
        <p:spPr>
          <a:xfrm>
            <a:off x="5971031" y="4144238"/>
            <a:ext cx="13533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4FB09C"/>
                </a:solidFill>
                <a:latin typeface="Calibri"/>
              </a:rPr>
              <a:t>verified</a:t>
            </a:r>
          </a:p>
        </p:txBody>
      </p:sp>
      <p:sp>
        <p:nvSpPr>
          <p:cNvPr id="237" name="Rectangle 236">
            <a:extLst>
              <a:ext uri="{FF2B5EF4-FFF2-40B4-BE49-F238E27FC236}">
                <a16:creationId xmlns:a16="http://schemas.microsoft.com/office/drawing/2014/main" id="{A1AB4B32-A0A1-246B-FF10-76E739E76110}"/>
              </a:ext>
            </a:extLst>
          </p:cNvPr>
          <p:cNvSpPr/>
          <p:nvPr/>
        </p:nvSpPr>
        <p:spPr>
          <a:xfrm>
            <a:off x="685800" y="4480560"/>
            <a:ext cx="77724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TextBox 238">
            <a:extLst>
              <a:ext uri="{FF2B5EF4-FFF2-40B4-BE49-F238E27FC236}">
                <a16:creationId xmlns:a16="http://schemas.microsoft.com/office/drawing/2014/main" id="{BA3CC19F-F262-4C35-145A-8B3965C3436C}"/>
              </a:ext>
            </a:extLst>
          </p:cNvPr>
          <p:cNvSpPr txBox="1"/>
          <p:nvPr/>
        </p:nvSpPr>
        <p:spPr>
          <a:xfrm>
            <a:off x="758952" y="4601438"/>
            <a:ext cx="6675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6C28D9"/>
                </a:solidFill>
                <a:latin typeface="Calibri"/>
              </a:rPr>
              <a:t>G6</a:t>
            </a:r>
          </a:p>
        </p:txBody>
      </p:sp>
      <p:sp>
        <p:nvSpPr>
          <p:cNvPr id="241" name="Rectangle 240">
            <a:extLst>
              <a:ext uri="{FF2B5EF4-FFF2-40B4-BE49-F238E27FC236}">
                <a16:creationId xmlns:a16="http://schemas.microsoft.com/office/drawing/2014/main" id="{F38B4C79-4F01-E3F6-F35D-4C968C94F12E}"/>
              </a:ext>
            </a:extLst>
          </p:cNvPr>
          <p:cNvSpPr/>
          <p:nvPr/>
        </p:nvSpPr>
        <p:spPr>
          <a:xfrm>
            <a:off x="1463040" y="4480560"/>
            <a:ext cx="274320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TextBox 242">
            <a:extLst>
              <a:ext uri="{FF2B5EF4-FFF2-40B4-BE49-F238E27FC236}">
                <a16:creationId xmlns:a16="http://schemas.microsoft.com/office/drawing/2014/main" id="{4C047BE4-2A6E-FED1-6135-681FF19796ED}"/>
              </a:ext>
            </a:extLst>
          </p:cNvPr>
          <p:cNvSpPr txBox="1"/>
          <p:nvPr/>
        </p:nvSpPr>
        <p:spPr>
          <a:xfrm>
            <a:off x="1536192" y="4601438"/>
            <a:ext cx="263347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Trace coverage</a:t>
            </a:r>
          </a:p>
        </p:txBody>
      </p:sp>
      <p:sp>
        <p:nvSpPr>
          <p:cNvPr id="245" name="Rectangle 244">
            <a:extLst>
              <a:ext uri="{FF2B5EF4-FFF2-40B4-BE49-F238E27FC236}">
                <a16:creationId xmlns:a16="http://schemas.microsoft.com/office/drawing/2014/main" id="{01A151AB-381F-7B51-F492-B6C998BCEE03}"/>
              </a:ext>
            </a:extLst>
          </p:cNvPr>
          <p:cNvSpPr/>
          <p:nvPr/>
        </p:nvSpPr>
        <p:spPr>
          <a:xfrm>
            <a:off x="4206240" y="4480560"/>
            <a:ext cx="169164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TextBox 246">
            <a:extLst>
              <a:ext uri="{FF2B5EF4-FFF2-40B4-BE49-F238E27FC236}">
                <a16:creationId xmlns:a16="http://schemas.microsoft.com/office/drawing/2014/main" id="{393EFD50-717F-C748-8A7D-87F8A24C244A}"/>
              </a:ext>
            </a:extLst>
          </p:cNvPr>
          <p:cNvSpPr txBox="1"/>
          <p:nvPr/>
        </p:nvSpPr>
        <p:spPr>
          <a:xfrm>
            <a:off x="4279392" y="4601438"/>
            <a:ext cx="15819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0" i="0">
                <a:solidFill>
                  <a:srgbClr val="62627D"/>
                </a:solidFill>
                <a:latin typeface="Calibri"/>
              </a:rPr>
              <a:t>100%</a:t>
            </a:r>
          </a:p>
        </p:txBody>
      </p:sp>
      <p:sp>
        <p:nvSpPr>
          <p:cNvPr id="249" name="Rectangle 248">
            <a:extLst>
              <a:ext uri="{FF2B5EF4-FFF2-40B4-BE49-F238E27FC236}">
                <a16:creationId xmlns:a16="http://schemas.microsoft.com/office/drawing/2014/main" id="{E30CC6A0-B3B9-7D4D-E989-D0F9F9E06C5A}"/>
              </a:ext>
            </a:extLst>
          </p:cNvPr>
          <p:cNvSpPr/>
          <p:nvPr/>
        </p:nvSpPr>
        <p:spPr>
          <a:xfrm>
            <a:off x="5897879" y="4480560"/>
            <a:ext cx="1463040" cy="457200"/>
          </a:xfrm>
          <a:prstGeom prst="rect">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TextBox 250">
            <a:extLst>
              <a:ext uri="{FF2B5EF4-FFF2-40B4-BE49-F238E27FC236}">
                <a16:creationId xmlns:a16="http://schemas.microsoft.com/office/drawing/2014/main" id="{E516941F-C641-ABC4-A64C-4BD653EB053C}"/>
              </a:ext>
            </a:extLst>
          </p:cNvPr>
          <p:cNvSpPr txBox="1"/>
          <p:nvPr/>
        </p:nvSpPr>
        <p:spPr>
          <a:xfrm>
            <a:off x="5971031" y="4601438"/>
            <a:ext cx="1353312" cy="215444"/>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4FB09C"/>
                </a:solidFill>
                <a:latin typeface="Calibri"/>
              </a:rPr>
              <a:t>100%</a:t>
            </a:r>
          </a:p>
        </p:txBody>
      </p:sp>
      <p:sp>
        <p:nvSpPr>
          <p:cNvPr id="253" name="Rounded Rectangle 60">
            <a:extLst>
              <a:ext uri="{FF2B5EF4-FFF2-40B4-BE49-F238E27FC236}">
                <a16:creationId xmlns:a16="http://schemas.microsoft.com/office/drawing/2014/main" id="{272F57E7-159D-B8E2-2427-1AA3DC0F2C3A}"/>
              </a:ext>
            </a:extLst>
          </p:cNvPr>
          <p:cNvSpPr/>
          <p:nvPr/>
        </p:nvSpPr>
        <p:spPr>
          <a:xfrm>
            <a:off x="685800" y="5074920"/>
            <a:ext cx="6675120" cy="777240"/>
          </a:xfrm>
          <a:prstGeom prst="roundRect">
            <a:avLst>
              <a:gd name="adj" fmla="val 6000"/>
            </a:avLst>
          </a:prstGeom>
          <a:solidFill>
            <a:srgbClr val="ECE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TextBox 254">
            <a:extLst>
              <a:ext uri="{FF2B5EF4-FFF2-40B4-BE49-F238E27FC236}">
                <a16:creationId xmlns:a16="http://schemas.microsoft.com/office/drawing/2014/main" id="{BF37712A-603B-DBB8-295A-233E9729F19D}"/>
              </a:ext>
            </a:extLst>
          </p:cNvPr>
          <p:cNvSpPr txBox="1"/>
          <p:nvPr/>
        </p:nvSpPr>
        <p:spPr>
          <a:xfrm>
            <a:off x="868680" y="5175504"/>
            <a:ext cx="6400800" cy="443263"/>
          </a:xfrm>
          <a:prstGeom prst="rect">
            <a:avLst/>
          </a:prstGeom>
          <a:noFill/>
        </p:spPr>
        <p:txBody>
          <a:bodyPr wrap="square" lIns="0" tIns="0" rIns="0" bIns="0" anchor="t">
            <a:spAutoFit/>
          </a:bodyPr>
          <a:lstStyle/>
          <a:p>
            <a:pPr algn="l">
              <a:lnSpc>
                <a:spcPct val="105000"/>
              </a:lnSpc>
              <a:spcBef>
                <a:spcPts val="0"/>
              </a:spcBef>
              <a:spcAft>
                <a:spcPts val="600"/>
              </a:spcAft>
            </a:pPr>
            <a:r>
              <a:rPr sz="1400" b="1" i="0">
                <a:solidFill>
                  <a:srgbClr val="6C28D9"/>
                </a:solidFill>
                <a:latin typeface="Calibri"/>
              </a:rPr>
              <a:t>Plus: </a:t>
            </a:r>
            <a:r>
              <a:rPr sz="1400" b="0" i="0">
                <a:solidFill>
                  <a:srgbClr val="13132B"/>
                </a:solidFill>
                <a:latin typeface="Calibri"/>
              </a:rPr>
              <a:t>time-to-first-token (speculative vs batch baseline) and cost/turn are logged per run; both improve because we start early and skip agent orchestration.</a:t>
            </a:r>
          </a:p>
        </p:txBody>
      </p:sp>
      <p:sp>
        <p:nvSpPr>
          <p:cNvPr id="257" name="Rounded Rectangle 62">
            <a:extLst>
              <a:ext uri="{FF2B5EF4-FFF2-40B4-BE49-F238E27FC236}">
                <a16:creationId xmlns:a16="http://schemas.microsoft.com/office/drawing/2014/main" id="{DF666DD2-3747-1402-3B5C-3285267751CA}"/>
              </a:ext>
            </a:extLst>
          </p:cNvPr>
          <p:cNvSpPr/>
          <p:nvPr/>
        </p:nvSpPr>
        <p:spPr>
          <a:xfrm>
            <a:off x="685800" y="5961888"/>
            <a:ext cx="6675120" cy="640080"/>
          </a:xfrm>
          <a:prstGeom prst="roundRect">
            <a:avLst>
              <a:gd name="adj" fmla="val 6000"/>
            </a:avLst>
          </a:prstGeom>
          <a:solidFill>
            <a:srgbClr val="131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TextBox 258">
            <a:extLst>
              <a:ext uri="{FF2B5EF4-FFF2-40B4-BE49-F238E27FC236}">
                <a16:creationId xmlns:a16="http://schemas.microsoft.com/office/drawing/2014/main" id="{D0BB9DC4-07CC-AA25-77FB-9DBE651DFD56}"/>
              </a:ext>
            </a:extLst>
          </p:cNvPr>
          <p:cNvSpPr txBox="1"/>
          <p:nvPr/>
        </p:nvSpPr>
        <p:spPr>
          <a:xfrm>
            <a:off x="868680" y="6070511"/>
            <a:ext cx="6400800" cy="431978"/>
          </a:xfrm>
          <a:prstGeom prst="rect">
            <a:avLst/>
          </a:prstGeom>
          <a:noFill/>
        </p:spPr>
        <p:txBody>
          <a:bodyPr wrap="square" lIns="0" tIns="0" rIns="0" bIns="0" anchor="ctr">
            <a:spAutoFit/>
          </a:bodyPr>
          <a:lstStyle/>
          <a:p>
            <a:pPr algn="l">
              <a:lnSpc>
                <a:spcPct val="102000"/>
              </a:lnSpc>
              <a:spcBef>
                <a:spcPts val="0"/>
              </a:spcBef>
              <a:spcAft>
                <a:spcPts val="600"/>
              </a:spcAft>
            </a:pPr>
            <a:r>
              <a:rPr sz="1400" b="1" i="0" dirty="0">
                <a:solidFill>
                  <a:srgbClr val="B9A6F0"/>
                </a:solidFill>
                <a:latin typeface="Calibri"/>
              </a:rPr>
              <a:t>Note: </a:t>
            </a:r>
            <a:r>
              <a:rPr sz="1400" b="0" i="0" dirty="0">
                <a:solidFill>
                  <a:srgbClr val="FFFFFF"/>
                </a:solidFill>
                <a:latin typeface="Calibri"/>
              </a:rPr>
              <a:t>figures are projected against our own held-out set; the graded benchmark is private, so we aim comfortably above each threshold.</a:t>
            </a:r>
          </a:p>
        </p:txBody>
      </p:sp>
      <p:sp>
        <p:nvSpPr>
          <p:cNvPr id="261" name="TextBox 260">
            <a:extLst>
              <a:ext uri="{FF2B5EF4-FFF2-40B4-BE49-F238E27FC236}">
                <a16:creationId xmlns:a16="http://schemas.microsoft.com/office/drawing/2014/main" id="{27097026-1E56-10A4-8BE2-6F5987C40E7C}"/>
              </a:ext>
            </a:extLst>
          </p:cNvPr>
          <p:cNvSpPr txBox="1"/>
          <p:nvPr/>
        </p:nvSpPr>
        <p:spPr>
          <a:xfrm>
            <a:off x="7543800" y="1371600"/>
            <a:ext cx="4572000" cy="246221"/>
          </a:xfrm>
          <a:prstGeom prst="rect">
            <a:avLst/>
          </a:prstGeom>
          <a:noFill/>
        </p:spPr>
        <p:txBody>
          <a:bodyPr wrap="square" lIns="0" tIns="0" rIns="0" bIns="0" anchor="t">
            <a:spAutoFit/>
          </a:bodyPr>
          <a:lstStyle/>
          <a:p>
            <a:pPr>
              <a:spcAft>
                <a:spcPts val="600"/>
              </a:spcAft>
            </a:pPr>
            <a:r>
              <a:rPr lang="en-IN" sz="1600" dirty="0"/>
              <a:t>Current Boundaries &amp; Design Invariants [Limitation}:</a:t>
            </a:r>
            <a:endParaRPr sz="1600" b="1" i="0" dirty="0">
              <a:solidFill>
                <a:srgbClr val="B02A4A"/>
              </a:solidFill>
              <a:latin typeface="Calibri"/>
            </a:endParaRPr>
          </a:p>
        </p:txBody>
      </p:sp>
      <p:sp>
        <p:nvSpPr>
          <p:cNvPr id="263" name="TextBox 262">
            <a:extLst>
              <a:ext uri="{FF2B5EF4-FFF2-40B4-BE49-F238E27FC236}">
                <a16:creationId xmlns:a16="http://schemas.microsoft.com/office/drawing/2014/main" id="{B74592ED-6B08-F50A-E8DB-75DC66B7D0D3}"/>
              </a:ext>
            </a:extLst>
          </p:cNvPr>
          <p:cNvSpPr txBox="1"/>
          <p:nvPr/>
        </p:nvSpPr>
        <p:spPr>
          <a:xfrm>
            <a:off x="7543800" y="1783080"/>
            <a:ext cx="4206240" cy="3143874"/>
          </a:xfrm>
          <a:prstGeom prst="rect">
            <a:avLst/>
          </a:prstGeom>
          <a:noFill/>
        </p:spPr>
        <p:txBody>
          <a:bodyPr wrap="square" lIns="0" tIns="0" rIns="0" bIns="0">
            <a:spAutoFit/>
          </a:bodyPr>
          <a:lstStyle/>
          <a:p>
            <a:pPr>
              <a:lnSpc>
                <a:spcPct val="106000"/>
              </a:lnSpc>
              <a:spcBef>
                <a:spcPts val="0"/>
              </a:spcBef>
              <a:spcAft>
                <a:spcPts val="1000"/>
              </a:spcAft>
            </a:pPr>
            <a:r>
              <a:rPr sz="1400" b="1" i="0" dirty="0">
                <a:solidFill>
                  <a:srgbClr val="B02A4A"/>
                </a:solidFill>
                <a:latin typeface="Calibri"/>
              </a:rPr>
              <a:t>–  </a:t>
            </a:r>
            <a:r>
              <a:rPr sz="1400" b="0" i="0" dirty="0">
                <a:solidFill>
                  <a:srgbClr val="62627D"/>
                </a:solidFill>
                <a:latin typeface="Calibri"/>
              </a:rPr>
              <a:t>Fixed corpus only — no live data sync (explicitly out of scope for this theme).</a:t>
            </a:r>
          </a:p>
          <a:p>
            <a:pPr>
              <a:lnSpc>
                <a:spcPct val="106000"/>
              </a:lnSpc>
              <a:spcBef>
                <a:spcPts val="0"/>
              </a:spcBef>
              <a:spcAft>
                <a:spcPts val="1000"/>
              </a:spcAft>
            </a:pPr>
            <a:r>
              <a:rPr sz="1400" b="1" i="0" dirty="0">
                <a:solidFill>
                  <a:srgbClr val="B02A4A"/>
                </a:solidFill>
                <a:latin typeface="Calibri"/>
              </a:rPr>
              <a:t>–  </a:t>
            </a:r>
            <a:r>
              <a:rPr sz="1400" b="0" i="0" dirty="0">
                <a:solidFill>
                  <a:srgbClr val="62627D"/>
                </a:solidFill>
                <a:latin typeface="Calibri"/>
              </a:rPr>
              <a:t>Session-scoped memory — no cross-session user profile.</a:t>
            </a:r>
          </a:p>
          <a:p>
            <a:pPr>
              <a:lnSpc>
                <a:spcPct val="106000"/>
              </a:lnSpc>
              <a:spcBef>
                <a:spcPts val="0"/>
              </a:spcBef>
              <a:spcAft>
                <a:spcPts val="1000"/>
              </a:spcAft>
            </a:pPr>
            <a:r>
              <a:rPr sz="1400" b="1" i="0" dirty="0">
                <a:solidFill>
                  <a:srgbClr val="B02A4A"/>
                </a:solidFill>
                <a:latin typeface="Calibri"/>
              </a:rPr>
              <a:t>–  </a:t>
            </a:r>
            <a:r>
              <a:rPr sz="1400" b="0" i="0" dirty="0">
                <a:solidFill>
                  <a:srgbClr val="62627D"/>
                </a:solidFill>
                <a:latin typeface="Calibri"/>
              </a:rPr>
              <a:t>Live mic is a stretch goal; transcript simulator is the primary input.</a:t>
            </a:r>
          </a:p>
          <a:p>
            <a:pPr>
              <a:lnSpc>
                <a:spcPct val="106000"/>
              </a:lnSpc>
              <a:spcBef>
                <a:spcPts val="0"/>
              </a:spcBef>
              <a:spcAft>
                <a:spcPts val="1000"/>
              </a:spcAft>
            </a:pPr>
            <a:r>
              <a:rPr sz="1400" b="1" i="0" dirty="0">
                <a:solidFill>
                  <a:srgbClr val="B02A4A"/>
                </a:solidFill>
                <a:latin typeface="Calibri"/>
              </a:rPr>
              <a:t>–  </a:t>
            </a:r>
            <a:r>
              <a:rPr sz="1400" b="0" i="0" dirty="0">
                <a:solidFill>
                  <a:srgbClr val="62627D"/>
                </a:solidFill>
                <a:latin typeface="Calibri"/>
              </a:rPr>
              <a:t>Speculative retrieval wastes some searches when wrong — bounded by the cap.</a:t>
            </a:r>
          </a:p>
          <a:p>
            <a:pPr>
              <a:lnSpc>
                <a:spcPct val="106000"/>
              </a:lnSpc>
              <a:spcBef>
                <a:spcPts val="0"/>
              </a:spcBef>
              <a:spcAft>
                <a:spcPts val="1000"/>
              </a:spcAft>
            </a:pPr>
            <a:r>
              <a:rPr sz="1400" b="1" i="0" dirty="0">
                <a:solidFill>
                  <a:srgbClr val="B02A4A"/>
                </a:solidFill>
                <a:latin typeface="Calibri"/>
              </a:rPr>
              <a:t>–  </a:t>
            </a:r>
            <a:r>
              <a:rPr sz="1400" b="0" i="0" dirty="0" err="1">
                <a:solidFill>
                  <a:srgbClr val="62627D"/>
                </a:solidFill>
                <a:latin typeface="Calibri"/>
              </a:rPr>
              <a:t>Reranker</a:t>
            </a:r>
            <a:r>
              <a:rPr sz="1400" b="0" i="0" dirty="0">
                <a:solidFill>
                  <a:srgbClr val="62627D"/>
                </a:solidFill>
                <a:latin typeface="Calibri"/>
              </a:rPr>
              <a:t> adds latency vs TTFT — we </a:t>
            </a:r>
            <a:r>
              <a:rPr sz="1400" b="0" i="0" dirty="0" err="1">
                <a:solidFill>
                  <a:srgbClr val="62627D"/>
                </a:solidFill>
                <a:latin typeface="Calibri"/>
              </a:rPr>
              <a:t>rerank</a:t>
            </a:r>
            <a:r>
              <a:rPr sz="1400" b="0" i="0" dirty="0">
                <a:solidFill>
                  <a:srgbClr val="62627D"/>
                </a:solidFill>
                <a:latin typeface="Calibri"/>
              </a:rPr>
              <a:t> only the fused top-30.</a:t>
            </a:r>
          </a:p>
          <a:p>
            <a:pPr>
              <a:lnSpc>
                <a:spcPct val="106000"/>
              </a:lnSpc>
              <a:spcBef>
                <a:spcPts val="0"/>
              </a:spcBef>
              <a:spcAft>
                <a:spcPts val="1000"/>
              </a:spcAft>
            </a:pPr>
            <a:r>
              <a:rPr sz="1400" b="1" i="0" dirty="0">
                <a:solidFill>
                  <a:srgbClr val="B02A4A"/>
                </a:solidFill>
                <a:latin typeface="Calibri"/>
              </a:rPr>
              <a:t>–  </a:t>
            </a:r>
            <a:r>
              <a:rPr sz="1400" b="0" i="0" dirty="0">
                <a:solidFill>
                  <a:srgbClr val="62627D"/>
                </a:solidFill>
                <a:latin typeface="Calibri"/>
              </a:rPr>
              <a:t>Corpus assumed English; multilingual is future work.</a:t>
            </a:r>
          </a:p>
        </p:txBody>
      </p:sp>
    </p:spTree>
    <p:extLst>
      <p:ext uri="{BB962C8B-B14F-4D97-AF65-F5344CB8AC3E}">
        <p14:creationId xmlns:p14="http://schemas.microsoft.com/office/powerpoint/2010/main" val="1209838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38200" y="132905"/>
            <a:ext cx="10515600" cy="1325563"/>
          </a:xfrm>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6" name="Rectangle 5">
            <a:extLst>
              <a:ext uri="{FF2B5EF4-FFF2-40B4-BE49-F238E27FC236}">
                <a16:creationId xmlns:a16="http://schemas.microsoft.com/office/drawing/2014/main" id="{1601B673-A51C-E2F0-2E73-DCED7F6612AD}"/>
              </a:ext>
            </a:extLst>
          </p:cNvPr>
          <p:cNvSpPr/>
          <p:nvPr/>
        </p:nvSpPr>
        <p:spPr>
          <a:xfrm>
            <a:off x="1021080" y="3756167"/>
            <a:ext cx="10332720" cy="45720"/>
          </a:xfrm>
          <a:prstGeom prst="rect">
            <a:avLst/>
          </a:prstGeom>
          <a:solidFill>
            <a:srgbClr val="DD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4">
            <a:extLst>
              <a:ext uri="{FF2B5EF4-FFF2-40B4-BE49-F238E27FC236}">
                <a16:creationId xmlns:a16="http://schemas.microsoft.com/office/drawing/2014/main" id="{244AE9E0-A69B-BA5C-8AD2-DC2BC652B8B9}"/>
              </a:ext>
            </a:extLst>
          </p:cNvPr>
          <p:cNvSpPr/>
          <p:nvPr/>
        </p:nvSpPr>
        <p:spPr>
          <a:xfrm>
            <a:off x="457200" y="1737360"/>
            <a:ext cx="1980000" cy="1764000"/>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3142FFC9-2D94-7E64-1910-6E95F296C66D}"/>
              </a:ext>
            </a:extLst>
          </p:cNvPr>
          <p:cNvSpPr/>
          <p:nvPr/>
        </p:nvSpPr>
        <p:spPr>
          <a:xfrm>
            <a:off x="457200" y="1737360"/>
            <a:ext cx="1965960" cy="108936"/>
          </a:xfrm>
          <a:prstGeom prst="roundRect">
            <a:avLst>
              <a:gd name="adj" fmla="val 50000"/>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6">
            <a:extLst>
              <a:ext uri="{FF2B5EF4-FFF2-40B4-BE49-F238E27FC236}">
                <a16:creationId xmlns:a16="http://schemas.microsoft.com/office/drawing/2014/main" id="{7DB35F81-1624-230C-A432-BC5E3BE0D60D}"/>
              </a:ext>
            </a:extLst>
          </p:cNvPr>
          <p:cNvSpPr/>
          <p:nvPr/>
        </p:nvSpPr>
        <p:spPr>
          <a:xfrm>
            <a:off x="594360" y="1883664"/>
            <a:ext cx="822960" cy="292608"/>
          </a:xfrm>
          <a:prstGeom prst="roundRect">
            <a:avLst>
              <a:gd name="adj" fmla="val 50000"/>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FE24FB12-0A79-7597-6259-0EA3503BBB0C}"/>
              </a:ext>
            </a:extLst>
          </p:cNvPr>
          <p:cNvSpPr txBox="1"/>
          <p:nvPr/>
        </p:nvSpPr>
        <p:spPr>
          <a:xfrm>
            <a:off x="594360" y="1932178"/>
            <a:ext cx="1044000" cy="246221"/>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dirty="0">
                <a:solidFill>
                  <a:srgbClr val="FFFFFF"/>
                </a:solidFill>
                <a:latin typeface="Calibri"/>
              </a:rPr>
              <a:t>NOW</a:t>
            </a:r>
          </a:p>
        </p:txBody>
      </p:sp>
      <p:sp>
        <p:nvSpPr>
          <p:cNvPr id="11" name="TextBox 10">
            <a:extLst>
              <a:ext uri="{FF2B5EF4-FFF2-40B4-BE49-F238E27FC236}">
                <a16:creationId xmlns:a16="http://schemas.microsoft.com/office/drawing/2014/main" id="{7E4D1748-BB4F-7452-E928-EF93F0E14342}"/>
              </a:ext>
            </a:extLst>
          </p:cNvPr>
          <p:cNvSpPr txBox="1"/>
          <p:nvPr/>
        </p:nvSpPr>
        <p:spPr>
          <a:xfrm>
            <a:off x="576072" y="2240280"/>
            <a:ext cx="1463040" cy="411480"/>
          </a:xfrm>
          <a:prstGeom prst="rect">
            <a:avLst/>
          </a:prstGeom>
          <a:noFill/>
        </p:spPr>
        <p:txBody>
          <a:bodyPr wrap="square" lIns="0" tIns="0" rIns="0" bIns="0" anchor="t">
            <a:spAutoFit/>
          </a:bodyPr>
          <a:lstStyle/>
          <a:p>
            <a:pPr algn="l">
              <a:lnSpc>
                <a:spcPct val="95000"/>
              </a:lnSpc>
              <a:spcBef>
                <a:spcPts val="0"/>
              </a:spcBef>
              <a:spcAft>
                <a:spcPts val="600"/>
              </a:spcAft>
            </a:pPr>
            <a:r>
              <a:rPr sz="1150" b="1" i="0">
                <a:solidFill>
                  <a:srgbClr val="13132B"/>
                </a:solidFill>
                <a:latin typeface="Calibri"/>
              </a:rPr>
              <a:t>Live mic + real streaming ASR</a:t>
            </a:r>
          </a:p>
        </p:txBody>
      </p:sp>
      <p:sp>
        <p:nvSpPr>
          <p:cNvPr id="12" name="TextBox 11">
            <a:extLst>
              <a:ext uri="{FF2B5EF4-FFF2-40B4-BE49-F238E27FC236}">
                <a16:creationId xmlns:a16="http://schemas.microsoft.com/office/drawing/2014/main" id="{B89B097F-E492-7842-A0FF-B7C10416D75B}"/>
              </a:ext>
            </a:extLst>
          </p:cNvPr>
          <p:cNvSpPr txBox="1"/>
          <p:nvPr/>
        </p:nvSpPr>
        <p:spPr>
          <a:xfrm>
            <a:off x="576072" y="2651760"/>
            <a:ext cx="1463040" cy="457200"/>
          </a:xfrm>
          <a:prstGeom prst="rect">
            <a:avLst/>
          </a:prstGeom>
          <a:noFill/>
        </p:spPr>
        <p:txBody>
          <a:bodyPr wrap="square" lIns="0" tIns="0" rIns="0" bIns="0" anchor="t">
            <a:spAutoFit/>
          </a:bodyPr>
          <a:lstStyle/>
          <a:p>
            <a:pPr algn="l">
              <a:lnSpc>
                <a:spcPct val="95000"/>
              </a:lnSpc>
              <a:spcBef>
                <a:spcPts val="0"/>
              </a:spcBef>
              <a:spcAft>
                <a:spcPts val="600"/>
              </a:spcAft>
            </a:pPr>
            <a:r>
              <a:rPr sz="900" b="0" i="0" dirty="0">
                <a:solidFill>
                  <a:srgbClr val="62627D"/>
                </a:solidFill>
                <a:latin typeface="Calibri"/>
              </a:rPr>
              <a:t>Replace the transcript simulator with a real full-duplex audio front-end.</a:t>
            </a:r>
          </a:p>
        </p:txBody>
      </p:sp>
      <p:cxnSp>
        <p:nvCxnSpPr>
          <p:cNvPr id="13" name="Connector 10">
            <a:extLst>
              <a:ext uri="{FF2B5EF4-FFF2-40B4-BE49-F238E27FC236}">
                <a16:creationId xmlns:a16="http://schemas.microsoft.com/office/drawing/2014/main" id="{5BE71537-92ED-0060-C9C0-4506F6BDA72F}"/>
              </a:ext>
            </a:extLst>
          </p:cNvPr>
          <p:cNvCxnSpPr>
            <a:cxnSpLocks/>
          </p:cNvCxnSpPr>
          <p:nvPr/>
        </p:nvCxnSpPr>
        <p:spPr>
          <a:xfrm flipV="1">
            <a:off x="1275383" y="3429000"/>
            <a:ext cx="0" cy="209520"/>
          </a:xfrm>
          <a:prstGeom prst="line">
            <a:avLst/>
          </a:prstGeom>
          <a:ln w="15240">
            <a:solidFill>
              <a:srgbClr val="6C28D9"/>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20A2B369-E8B6-C632-08E9-F3735D5EE555}"/>
              </a:ext>
            </a:extLst>
          </p:cNvPr>
          <p:cNvSpPr/>
          <p:nvPr/>
        </p:nvSpPr>
        <p:spPr>
          <a:xfrm>
            <a:off x="1103376" y="3619007"/>
            <a:ext cx="310896" cy="310896"/>
          </a:xfrm>
          <a:prstGeom prst="ellipse">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2">
            <a:extLst>
              <a:ext uri="{FF2B5EF4-FFF2-40B4-BE49-F238E27FC236}">
                <a16:creationId xmlns:a16="http://schemas.microsoft.com/office/drawing/2014/main" id="{AA5FF6AF-4E8B-A186-DF28-8D994F2E4B2D}"/>
              </a:ext>
            </a:extLst>
          </p:cNvPr>
          <p:cNvSpPr/>
          <p:nvPr/>
        </p:nvSpPr>
        <p:spPr>
          <a:xfrm>
            <a:off x="2148840" y="4187952"/>
            <a:ext cx="1980000" cy="1764000"/>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3">
            <a:extLst>
              <a:ext uri="{FF2B5EF4-FFF2-40B4-BE49-F238E27FC236}">
                <a16:creationId xmlns:a16="http://schemas.microsoft.com/office/drawing/2014/main" id="{4B17B6CA-CB11-7F4F-45E6-8168C719D3AC}"/>
              </a:ext>
            </a:extLst>
          </p:cNvPr>
          <p:cNvSpPr/>
          <p:nvPr/>
        </p:nvSpPr>
        <p:spPr>
          <a:xfrm>
            <a:off x="2148839" y="4143025"/>
            <a:ext cx="1979997" cy="71567"/>
          </a:xfrm>
          <a:prstGeom prst="roundRect">
            <a:avLst>
              <a:gd name="adj" fmla="val 50000"/>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4">
            <a:extLst>
              <a:ext uri="{FF2B5EF4-FFF2-40B4-BE49-F238E27FC236}">
                <a16:creationId xmlns:a16="http://schemas.microsoft.com/office/drawing/2014/main" id="{8E1090E0-37FB-CB9D-415E-2940E4D3C347}"/>
              </a:ext>
            </a:extLst>
          </p:cNvPr>
          <p:cNvSpPr/>
          <p:nvPr/>
        </p:nvSpPr>
        <p:spPr>
          <a:xfrm>
            <a:off x="2505456" y="4199382"/>
            <a:ext cx="822960" cy="292608"/>
          </a:xfrm>
          <a:prstGeom prst="roundRect">
            <a:avLst>
              <a:gd name="adj" fmla="val 50000"/>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6109C82A-F108-6C1F-C71D-ED1FC189D494}"/>
              </a:ext>
            </a:extLst>
          </p:cNvPr>
          <p:cNvSpPr txBox="1"/>
          <p:nvPr/>
        </p:nvSpPr>
        <p:spPr>
          <a:xfrm>
            <a:off x="2423160" y="4217382"/>
            <a:ext cx="1044000" cy="246221"/>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a:solidFill>
                  <a:srgbClr val="FFFFFF"/>
                </a:solidFill>
                <a:latin typeface="Calibri"/>
              </a:rPr>
              <a:t>NEXT</a:t>
            </a:r>
          </a:p>
        </p:txBody>
      </p:sp>
      <p:sp>
        <p:nvSpPr>
          <p:cNvPr id="19" name="TextBox 18">
            <a:extLst>
              <a:ext uri="{FF2B5EF4-FFF2-40B4-BE49-F238E27FC236}">
                <a16:creationId xmlns:a16="http://schemas.microsoft.com/office/drawing/2014/main" id="{95350AC2-F5C8-938D-4CA1-61D05A22CF31}"/>
              </a:ext>
            </a:extLst>
          </p:cNvPr>
          <p:cNvSpPr txBox="1"/>
          <p:nvPr/>
        </p:nvSpPr>
        <p:spPr>
          <a:xfrm>
            <a:off x="2325579" y="4633723"/>
            <a:ext cx="1463040" cy="411480"/>
          </a:xfrm>
          <a:prstGeom prst="rect">
            <a:avLst/>
          </a:prstGeom>
          <a:noFill/>
        </p:spPr>
        <p:txBody>
          <a:bodyPr wrap="square" lIns="0" tIns="0" rIns="0" bIns="0" anchor="t">
            <a:spAutoFit/>
          </a:bodyPr>
          <a:lstStyle/>
          <a:p>
            <a:pPr algn="l">
              <a:lnSpc>
                <a:spcPct val="95000"/>
              </a:lnSpc>
              <a:spcBef>
                <a:spcPts val="0"/>
              </a:spcBef>
              <a:spcAft>
                <a:spcPts val="600"/>
              </a:spcAft>
            </a:pPr>
            <a:r>
              <a:rPr sz="1150" b="1" i="0" dirty="0">
                <a:solidFill>
                  <a:srgbClr val="13132B"/>
                </a:solidFill>
                <a:latin typeface="Calibri"/>
              </a:rPr>
              <a:t>Learned controller</a:t>
            </a:r>
          </a:p>
        </p:txBody>
      </p:sp>
      <p:sp>
        <p:nvSpPr>
          <p:cNvPr id="20" name="TextBox 19">
            <a:extLst>
              <a:ext uri="{FF2B5EF4-FFF2-40B4-BE49-F238E27FC236}">
                <a16:creationId xmlns:a16="http://schemas.microsoft.com/office/drawing/2014/main" id="{D8CC5148-C96D-0D70-97F8-CF3E56A60BCE}"/>
              </a:ext>
            </a:extLst>
          </p:cNvPr>
          <p:cNvSpPr txBox="1"/>
          <p:nvPr/>
        </p:nvSpPr>
        <p:spPr>
          <a:xfrm>
            <a:off x="2340864" y="5101560"/>
            <a:ext cx="1463040" cy="457200"/>
          </a:xfrm>
          <a:prstGeom prst="rect">
            <a:avLst/>
          </a:prstGeom>
          <a:noFill/>
        </p:spPr>
        <p:txBody>
          <a:bodyPr wrap="square" lIns="0" tIns="0" rIns="0" bIns="0" anchor="t">
            <a:spAutoFit/>
          </a:bodyPr>
          <a:lstStyle/>
          <a:p>
            <a:pPr algn="l">
              <a:lnSpc>
                <a:spcPct val="95000"/>
              </a:lnSpc>
              <a:spcBef>
                <a:spcPts val="0"/>
              </a:spcBef>
              <a:spcAft>
                <a:spcPts val="600"/>
              </a:spcAft>
            </a:pPr>
            <a:r>
              <a:rPr sz="900" b="0" i="0" dirty="0">
                <a:solidFill>
                  <a:srgbClr val="62627D"/>
                </a:solidFill>
                <a:latin typeface="Calibri"/>
              </a:rPr>
              <a:t>Swap threshold heuristics for a small trained classifier → higher G2 precision/recall.</a:t>
            </a:r>
          </a:p>
        </p:txBody>
      </p:sp>
      <p:cxnSp>
        <p:nvCxnSpPr>
          <p:cNvPr id="21" name="Connector 18">
            <a:extLst>
              <a:ext uri="{FF2B5EF4-FFF2-40B4-BE49-F238E27FC236}">
                <a16:creationId xmlns:a16="http://schemas.microsoft.com/office/drawing/2014/main" id="{6D2950CE-DBBA-F285-857C-91E452107D30}"/>
              </a:ext>
            </a:extLst>
          </p:cNvPr>
          <p:cNvCxnSpPr/>
          <p:nvPr/>
        </p:nvCxnSpPr>
        <p:spPr>
          <a:xfrm>
            <a:off x="3076888" y="3849377"/>
            <a:ext cx="0" cy="301751"/>
          </a:xfrm>
          <a:prstGeom prst="line">
            <a:avLst/>
          </a:prstGeom>
          <a:ln w="15240">
            <a:solidFill>
              <a:srgbClr val="3865E6"/>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Oval 21">
            <a:extLst>
              <a:ext uri="{FF2B5EF4-FFF2-40B4-BE49-F238E27FC236}">
                <a16:creationId xmlns:a16="http://schemas.microsoft.com/office/drawing/2014/main" id="{50BDF308-4032-2FF2-F8F1-741E93DD98DA}"/>
              </a:ext>
            </a:extLst>
          </p:cNvPr>
          <p:cNvSpPr/>
          <p:nvPr/>
        </p:nvSpPr>
        <p:spPr>
          <a:xfrm>
            <a:off x="2932176" y="3619007"/>
            <a:ext cx="310896" cy="310896"/>
          </a:xfrm>
          <a:prstGeom prst="ellipse">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0">
            <a:extLst>
              <a:ext uri="{FF2B5EF4-FFF2-40B4-BE49-F238E27FC236}">
                <a16:creationId xmlns:a16="http://schemas.microsoft.com/office/drawing/2014/main" id="{E2EB6AEB-A896-3324-FE95-1AE07A7D23E5}"/>
              </a:ext>
            </a:extLst>
          </p:cNvPr>
          <p:cNvSpPr/>
          <p:nvPr/>
        </p:nvSpPr>
        <p:spPr>
          <a:xfrm>
            <a:off x="4114800" y="1737360"/>
            <a:ext cx="1980000" cy="1764000"/>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1">
            <a:extLst>
              <a:ext uri="{FF2B5EF4-FFF2-40B4-BE49-F238E27FC236}">
                <a16:creationId xmlns:a16="http://schemas.microsoft.com/office/drawing/2014/main" id="{99075EAE-8A5D-1E6E-E167-BA88279E4ED6}"/>
              </a:ext>
            </a:extLst>
          </p:cNvPr>
          <p:cNvSpPr/>
          <p:nvPr/>
        </p:nvSpPr>
        <p:spPr>
          <a:xfrm>
            <a:off x="4114799" y="1737360"/>
            <a:ext cx="1965959" cy="108936"/>
          </a:xfrm>
          <a:prstGeom prst="roundRect">
            <a:avLst>
              <a:gd name="adj" fmla="val 50000"/>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2">
            <a:extLst>
              <a:ext uri="{FF2B5EF4-FFF2-40B4-BE49-F238E27FC236}">
                <a16:creationId xmlns:a16="http://schemas.microsoft.com/office/drawing/2014/main" id="{AB1C4570-877B-6DB7-2DB6-67B1E29C3473}"/>
              </a:ext>
            </a:extLst>
          </p:cNvPr>
          <p:cNvSpPr/>
          <p:nvPr/>
        </p:nvSpPr>
        <p:spPr>
          <a:xfrm>
            <a:off x="4251959" y="1883664"/>
            <a:ext cx="822960" cy="292608"/>
          </a:xfrm>
          <a:prstGeom prst="roundRect">
            <a:avLst>
              <a:gd name="adj" fmla="val 50000"/>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800860C8-529C-F2AA-5ABA-1221609BFBEB}"/>
              </a:ext>
            </a:extLst>
          </p:cNvPr>
          <p:cNvSpPr txBox="1"/>
          <p:nvPr/>
        </p:nvSpPr>
        <p:spPr>
          <a:xfrm>
            <a:off x="4251959" y="1932178"/>
            <a:ext cx="1044000" cy="246221"/>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a:solidFill>
                  <a:srgbClr val="FFFFFF"/>
                </a:solidFill>
                <a:latin typeface="Calibri"/>
              </a:rPr>
              <a:t>NEXT</a:t>
            </a:r>
          </a:p>
        </p:txBody>
      </p:sp>
      <p:sp>
        <p:nvSpPr>
          <p:cNvPr id="27" name="TextBox 26">
            <a:extLst>
              <a:ext uri="{FF2B5EF4-FFF2-40B4-BE49-F238E27FC236}">
                <a16:creationId xmlns:a16="http://schemas.microsoft.com/office/drawing/2014/main" id="{DD20EEF8-35BB-F15A-34F4-F4EA56B90D71}"/>
              </a:ext>
            </a:extLst>
          </p:cNvPr>
          <p:cNvSpPr txBox="1"/>
          <p:nvPr/>
        </p:nvSpPr>
        <p:spPr>
          <a:xfrm>
            <a:off x="4233672" y="2240280"/>
            <a:ext cx="1463040" cy="411480"/>
          </a:xfrm>
          <a:prstGeom prst="rect">
            <a:avLst/>
          </a:prstGeom>
          <a:noFill/>
        </p:spPr>
        <p:txBody>
          <a:bodyPr wrap="square" lIns="0" tIns="0" rIns="0" bIns="0" anchor="t">
            <a:spAutoFit/>
          </a:bodyPr>
          <a:lstStyle/>
          <a:p>
            <a:pPr algn="l">
              <a:lnSpc>
                <a:spcPct val="95000"/>
              </a:lnSpc>
              <a:spcBef>
                <a:spcPts val="0"/>
              </a:spcBef>
              <a:spcAft>
                <a:spcPts val="600"/>
              </a:spcAft>
            </a:pPr>
            <a:r>
              <a:rPr sz="1150" b="1" i="0">
                <a:solidFill>
                  <a:srgbClr val="13132B"/>
                </a:solidFill>
                <a:latin typeface="Calibri"/>
              </a:rPr>
              <a:t>Adaptive speculative budget</a:t>
            </a:r>
          </a:p>
        </p:txBody>
      </p:sp>
      <p:sp>
        <p:nvSpPr>
          <p:cNvPr id="28" name="TextBox 27">
            <a:extLst>
              <a:ext uri="{FF2B5EF4-FFF2-40B4-BE49-F238E27FC236}">
                <a16:creationId xmlns:a16="http://schemas.microsoft.com/office/drawing/2014/main" id="{8602DB07-772B-43B0-528B-01EF2F797D05}"/>
              </a:ext>
            </a:extLst>
          </p:cNvPr>
          <p:cNvSpPr txBox="1"/>
          <p:nvPr/>
        </p:nvSpPr>
        <p:spPr>
          <a:xfrm>
            <a:off x="4233672" y="2651760"/>
            <a:ext cx="1463040" cy="457200"/>
          </a:xfrm>
          <a:prstGeom prst="rect">
            <a:avLst/>
          </a:prstGeom>
          <a:noFill/>
        </p:spPr>
        <p:txBody>
          <a:bodyPr wrap="square" lIns="0" tIns="0" rIns="0" bIns="0" anchor="t">
            <a:spAutoFit/>
          </a:bodyPr>
          <a:lstStyle/>
          <a:p>
            <a:pPr algn="l">
              <a:lnSpc>
                <a:spcPct val="95000"/>
              </a:lnSpc>
              <a:spcBef>
                <a:spcPts val="0"/>
              </a:spcBef>
              <a:spcAft>
                <a:spcPts val="600"/>
              </a:spcAft>
            </a:pPr>
            <a:r>
              <a:rPr sz="900" b="0" i="0">
                <a:solidFill>
                  <a:srgbClr val="62627D"/>
                </a:solidFill>
                <a:latin typeface="Calibri"/>
              </a:rPr>
              <a:t>Tune retrievals-per-utterance from confidence + latency headroom.</a:t>
            </a:r>
          </a:p>
        </p:txBody>
      </p:sp>
      <p:cxnSp>
        <p:nvCxnSpPr>
          <p:cNvPr id="29" name="Connector 26">
            <a:extLst>
              <a:ext uri="{FF2B5EF4-FFF2-40B4-BE49-F238E27FC236}">
                <a16:creationId xmlns:a16="http://schemas.microsoft.com/office/drawing/2014/main" id="{49EBE632-431A-7E49-1C83-806803334E74}"/>
              </a:ext>
            </a:extLst>
          </p:cNvPr>
          <p:cNvCxnSpPr>
            <a:cxnSpLocks/>
          </p:cNvCxnSpPr>
          <p:nvPr/>
        </p:nvCxnSpPr>
        <p:spPr>
          <a:xfrm flipV="1">
            <a:off x="4932983" y="3429000"/>
            <a:ext cx="0" cy="292608"/>
          </a:xfrm>
          <a:prstGeom prst="line">
            <a:avLst/>
          </a:prstGeom>
          <a:ln w="15240">
            <a:solidFill>
              <a:srgbClr val="4FB09C"/>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E9EE1D4D-0B36-4520-4CDA-09CFFB442328}"/>
              </a:ext>
            </a:extLst>
          </p:cNvPr>
          <p:cNvSpPr/>
          <p:nvPr/>
        </p:nvSpPr>
        <p:spPr>
          <a:xfrm>
            <a:off x="4760976" y="3619007"/>
            <a:ext cx="310896" cy="310896"/>
          </a:xfrm>
          <a:prstGeom prst="ellipse">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28">
            <a:extLst>
              <a:ext uri="{FF2B5EF4-FFF2-40B4-BE49-F238E27FC236}">
                <a16:creationId xmlns:a16="http://schemas.microsoft.com/office/drawing/2014/main" id="{B2BB87D0-0D1F-B08F-0B96-E5D55FDB512C}"/>
              </a:ext>
            </a:extLst>
          </p:cNvPr>
          <p:cNvSpPr/>
          <p:nvPr/>
        </p:nvSpPr>
        <p:spPr>
          <a:xfrm>
            <a:off x="5806440" y="4187952"/>
            <a:ext cx="1980000" cy="1764000"/>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29">
            <a:extLst>
              <a:ext uri="{FF2B5EF4-FFF2-40B4-BE49-F238E27FC236}">
                <a16:creationId xmlns:a16="http://schemas.microsoft.com/office/drawing/2014/main" id="{030E3049-72C4-75ED-9409-329EC2B9F6A0}"/>
              </a:ext>
            </a:extLst>
          </p:cNvPr>
          <p:cNvSpPr/>
          <p:nvPr/>
        </p:nvSpPr>
        <p:spPr>
          <a:xfrm flipV="1">
            <a:off x="5806437" y="4151128"/>
            <a:ext cx="1965962" cy="45719"/>
          </a:xfrm>
          <a:prstGeom prst="roundRect">
            <a:avLst>
              <a:gd name="adj" fmla="val 50000"/>
            </a:avLst>
          </a:prstGeom>
          <a:solidFill>
            <a:srgbClr val="702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0">
            <a:extLst>
              <a:ext uri="{FF2B5EF4-FFF2-40B4-BE49-F238E27FC236}">
                <a16:creationId xmlns:a16="http://schemas.microsoft.com/office/drawing/2014/main" id="{27D12890-D525-E223-1B13-667482DFD035}"/>
              </a:ext>
            </a:extLst>
          </p:cNvPr>
          <p:cNvSpPr/>
          <p:nvPr/>
        </p:nvSpPr>
        <p:spPr>
          <a:xfrm>
            <a:off x="6163055" y="4199382"/>
            <a:ext cx="822960" cy="292608"/>
          </a:xfrm>
          <a:prstGeom prst="roundRect">
            <a:avLst>
              <a:gd name="adj" fmla="val 50000"/>
            </a:avLst>
          </a:prstGeom>
          <a:solidFill>
            <a:srgbClr val="702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1CD43690-836C-E64A-5DAC-1CDDED02BADE}"/>
              </a:ext>
            </a:extLst>
          </p:cNvPr>
          <p:cNvSpPr txBox="1"/>
          <p:nvPr/>
        </p:nvSpPr>
        <p:spPr>
          <a:xfrm>
            <a:off x="6080759" y="4217382"/>
            <a:ext cx="1044000" cy="246221"/>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a:solidFill>
                  <a:srgbClr val="FFFFFF"/>
                </a:solidFill>
                <a:latin typeface="Calibri"/>
              </a:rPr>
              <a:t>LATER</a:t>
            </a:r>
          </a:p>
        </p:txBody>
      </p:sp>
      <p:sp>
        <p:nvSpPr>
          <p:cNvPr id="35" name="TextBox 34">
            <a:extLst>
              <a:ext uri="{FF2B5EF4-FFF2-40B4-BE49-F238E27FC236}">
                <a16:creationId xmlns:a16="http://schemas.microsoft.com/office/drawing/2014/main" id="{CAE94220-6554-F6BC-86FD-7EDA28F9947C}"/>
              </a:ext>
            </a:extLst>
          </p:cNvPr>
          <p:cNvSpPr txBox="1"/>
          <p:nvPr/>
        </p:nvSpPr>
        <p:spPr>
          <a:xfrm>
            <a:off x="5998464" y="4606805"/>
            <a:ext cx="1463040" cy="411480"/>
          </a:xfrm>
          <a:prstGeom prst="rect">
            <a:avLst/>
          </a:prstGeom>
          <a:noFill/>
        </p:spPr>
        <p:txBody>
          <a:bodyPr wrap="square" lIns="0" tIns="0" rIns="0" bIns="0" anchor="t">
            <a:spAutoFit/>
          </a:bodyPr>
          <a:lstStyle/>
          <a:p>
            <a:pPr algn="l">
              <a:lnSpc>
                <a:spcPct val="95000"/>
              </a:lnSpc>
              <a:spcBef>
                <a:spcPts val="0"/>
              </a:spcBef>
              <a:spcAft>
                <a:spcPts val="600"/>
              </a:spcAft>
            </a:pPr>
            <a:r>
              <a:rPr sz="1150" b="1" i="0" dirty="0">
                <a:solidFill>
                  <a:srgbClr val="13132B"/>
                </a:solidFill>
                <a:latin typeface="Calibri"/>
              </a:rPr>
              <a:t>Multilingual + Indic</a:t>
            </a:r>
          </a:p>
        </p:txBody>
      </p:sp>
      <p:sp>
        <p:nvSpPr>
          <p:cNvPr id="36" name="TextBox 35">
            <a:extLst>
              <a:ext uri="{FF2B5EF4-FFF2-40B4-BE49-F238E27FC236}">
                <a16:creationId xmlns:a16="http://schemas.microsoft.com/office/drawing/2014/main" id="{F4874C1E-C019-70F0-9561-B54EF0E1BE62}"/>
              </a:ext>
            </a:extLst>
          </p:cNvPr>
          <p:cNvSpPr txBox="1"/>
          <p:nvPr/>
        </p:nvSpPr>
        <p:spPr>
          <a:xfrm>
            <a:off x="6035039" y="5072682"/>
            <a:ext cx="1463040" cy="457200"/>
          </a:xfrm>
          <a:prstGeom prst="rect">
            <a:avLst/>
          </a:prstGeom>
          <a:noFill/>
        </p:spPr>
        <p:txBody>
          <a:bodyPr wrap="square" lIns="0" tIns="0" rIns="0" bIns="0" anchor="t">
            <a:spAutoFit/>
          </a:bodyPr>
          <a:lstStyle/>
          <a:p>
            <a:pPr algn="l">
              <a:lnSpc>
                <a:spcPct val="95000"/>
              </a:lnSpc>
              <a:spcBef>
                <a:spcPts val="0"/>
              </a:spcBef>
              <a:spcAft>
                <a:spcPts val="600"/>
              </a:spcAft>
            </a:pPr>
            <a:r>
              <a:rPr sz="900" b="0" i="0" dirty="0">
                <a:solidFill>
                  <a:srgbClr val="62627D"/>
                </a:solidFill>
                <a:latin typeface="Calibri"/>
              </a:rPr>
              <a:t>Multilingual embeddings &amp; </a:t>
            </a:r>
            <a:r>
              <a:rPr sz="900" b="0" i="0" dirty="0" err="1">
                <a:solidFill>
                  <a:srgbClr val="62627D"/>
                </a:solidFill>
                <a:latin typeface="Calibri"/>
              </a:rPr>
              <a:t>reranker</a:t>
            </a:r>
            <a:r>
              <a:rPr sz="900" b="0" i="0" dirty="0">
                <a:solidFill>
                  <a:srgbClr val="62627D"/>
                </a:solidFill>
                <a:latin typeface="Calibri"/>
              </a:rPr>
              <a:t> for Indian-language corpora.</a:t>
            </a:r>
          </a:p>
        </p:txBody>
      </p:sp>
      <p:cxnSp>
        <p:nvCxnSpPr>
          <p:cNvPr id="37" name="Connector 34">
            <a:extLst>
              <a:ext uri="{FF2B5EF4-FFF2-40B4-BE49-F238E27FC236}">
                <a16:creationId xmlns:a16="http://schemas.microsoft.com/office/drawing/2014/main" id="{4E586F6F-3349-6774-FC2D-A8C52F2D2C30}"/>
              </a:ext>
            </a:extLst>
          </p:cNvPr>
          <p:cNvCxnSpPr/>
          <p:nvPr/>
        </p:nvCxnSpPr>
        <p:spPr>
          <a:xfrm>
            <a:off x="6759053" y="3849377"/>
            <a:ext cx="0" cy="301751"/>
          </a:xfrm>
          <a:prstGeom prst="line">
            <a:avLst/>
          </a:prstGeom>
          <a:ln w="15240">
            <a:solidFill>
              <a:srgbClr val="7027DC"/>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06042F04-45E1-1537-DCEB-29E2E4E3E4C0}"/>
              </a:ext>
            </a:extLst>
          </p:cNvPr>
          <p:cNvSpPr/>
          <p:nvPr/>
        </p:nvSpPr>
        <p:spPr>
          <a:xfrm>
            <a:off x="6589776" y="3619007"/>
            <a:ext cx="310896" cy="310896"/>
          </a:xfrm>
          <a:prstGeom prst="ellipse">
            <a:avLst/>
          </a:prstGeom>
          <a:solidFill>
            <a:srgbClr val="702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6">
            <a:extLst>
              <a:ext uri="{FF2B5EF4-FFF2-40B4-BE49-F238E27FC236}">
                <a16:creationId xmlns:a16="http://schemas.microsoft.com/office/drawing/2014/main" id="{903A2C64-D768-7B76-3914-799775BE71A8}"/>
              </a:ext>
            </a:extLst>
          </p:cNvPr>
          <p:cNvSpPr/>
          <p:nvPr/>
        </p:nvSpPr>
        <p:spPr>
          <a:xfrm>
            <a:off x="7772400" y="1737360"/>
            <a:ext cx="1980000" cy="1764000"/>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7">
            <a:extLst>
              <a:ext uri="{FF2B5EF4-FFF2-40B4-BE49-F238E27FC236}">
                <a16:creationId xmlns:a16="http://schemas.microsoft.com/office/drawing/2014/main" id="{97F775F2-CF81-2A06-6145-2DD0C442574D}"/>
              </a:ext>
            </a:extLst>
          </p:cNvPr>
          <p:cNvSpPr/>
          <p:nvPr/>
        </p:nvSpPr>
        <p:spPr>
          <a:xfrm>
            <a:off x="7772400" y="1737359"/>
            <a:ext cx="1965960" cy="117917"/>
          </a:xfrm>
          <a:prstGeom prst="roundRect">
            <a:avLst>
              <a:gd name="adj" fmla="val 5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38">
            <a:extLst>
              <a:ext uri="{FF2B5EF4-FFF2-40B4-BE49-F238E27FC236}">
                <a16:creationId xmlns:a16="http://schemas.microsoft.com/office/drawing/2014/main" id="{AA1CE8EE-029B-CB7A-B2F7-36739923DDEC}"/>
              </a:ext>
            </a:extLst>
          </p:cNvPr>
          <p:cNvSpPr/>
          <p:nvPr/>
        </p:nvSpPr>
        <p:spPr>
          <a:xfrm>
            <a:off x="7909560" y="1883664"/>
            <a:ext cx="822960" cy="292608"/>
          </a:xfrm>
          <a:prstGeom prst="roundRect">
            <a:avLst>
              <a:gd name="adj" fmla="val 5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FD8FEA1A-721C-157A-0842-93A38EF11815}"/>
              </a:ext>
            </a:extLst>
          </p:cNvPr>
          <p:cNvSpPr txBox="1"/>
          <p:nvPr/>
        </p:nvSpPr>
        <p:spPr>
          <a:xfrm>
            <a:off x="7909560" y="1932178"/>
            <a:ext cx="1044000" cy="246221"/>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a:solidFill>
                  <a:srgbClr val="FFFFFF"/>
                </a:solidFill>
                <a:latin typeface="Calibri"/>
              </a:rPr>
              <a:t>LATER</a:t>
            </a:r>
          </a:p>
        </p:txBody>
      </p:sp>
      <p:sp>
        <p:nvSpPr>
          <p:cNvPr id="43" name="TextBox 42">
            <a:extLst>
              <a:ext uri="{FF2B5EF4-FFF2-40B4-BE49-F238E27FC236}">
                <a16:creationId xmlns:a16="http://schemas.microsoft.com/office/drawing/2014/main" id="{E43DE8CA-B1D6-9E7B-4962-6C0DE40F3F5D}"/>
              </a:ext>
            </a:extLst>
          </p:cNvPr>
          <p:cNvSpPr txBox="1"/>
          <p:nvPr/>
        </p:nvSpPr>
        <p:spPr>
          <a:xfrm>
            <a:off x="7891271" y="2240280"/>
            <a:ext cx="1463040" cy="411480"/>
          </a:xfrm>
          <a:prstGeom prst="rect">
            <a:avLst/>
          </a:prstGeom>
          <a:noFill/>
        </p:spPr>
        <p:txBody>
          <a:bodyPr wrap="square" lIns="0" tIns="0" rIns="0" bIns="0" anchor="t">
            <a:spAutoFit/>
          </a:bodyPr>
          <a:lstStyle/>
          <a:p>
            <a:pPr algn="l">
              <a:lnSpc>
                <a:spcPct val="95000"/>
              </a:lnSpc>
              <a:spcBef>
                <a:spcPts val="0"/>
              </a:spcBef>
              <a:spcAft>
                <a:spcPts val="600"/>
              </a:spcAft>
            </a:pPr>
            <a:r>
              <a:rPr sz="1150" b="1" i="0">
                <a:solidFill>
                  <a:srgbClr val="13132B"/>
                </a:solidFill>
                <a:latin typeface="Calibri"/>
              </a:rPr>
              <a:t>On-device quantized deploy</a:t>
            </a:r>
          </a:p>
        </p:txBody>
      </p:sp>
      <p:sp>
        <p:nvSpPr>
          <p:cNvPr id="44" name="TextBox 43">
            <a:extLst>
              <a:ext uri="{FF2B5EF4-FFF2-40B4-BE49-F238E27FC236}">
                <a16:creationId xmlns:a16="http://schemas.microsoft.com/office/drawing/2014/main" id="{F9BD5E9F-96F7-0443-EFAC-9681A9ED2902}"/>
              </a:ext>
            </a:extLst>
          </p:cNvPr>
          <p:cNvSpPr txBox="1"/>
          <p:nvPr/>
        </p:nvSpPr>
        <p:spPr>
          <a:xfrm>
            <a:off x="7891271" y="2651760"/>
            <a:ext cx="1463040" cy="457200"/>
          </a:xfrm>
          <a:prstGeom prst="rect">
            <a:avLst/>
          </a:prstGeom>
          <a:noFill/>
        </p:spPr>
        <p:txBody>
          <a:bodyPr wrap="square" lIns="0" tIns="0" rIns="0" bIns="0" anchor="t">
            <a:spAutoFit/>
          </a:bodyPr>
          <a:lstStyle/>
          <a:p>
            <a:pPr algn="l">
              <a:lnSpc>
                <a:spcPct val="95000"/>
              </a:lnSpc>
              <a:spcBef>
                <a:spcPts val="0"/>
              </a:spcBef>
              <a:spcAft>
                <a:spcPts val="600"/>
              </a:spcAft>
            </a:pPr>
            <a:r>
              <a:rPr sz="900" b="0" i="0">
                <a:solidFill>
                  <a:srgbClr val="62627D"/>
                </a:solidFill>
                <a:latin typeface="Calibri"/>
              </a:rPr>
              <a:t>GGUF/Ollama build for a fully offline Bixby scenario on edge silicon.</a:t>
            </a:r>
          </a:p>
        </p:txBody>
      </p:sp>
      <p:cxnSp>
        <p:nvCxnSpPr>
          <p:cNvPr id="45" name="Connector 42">
            <a:extLst>
              <a:ext uri="{FF2B5EF4-FFF2-40B4-BE49-F238E27FC236}">
                <a16:creationId xmlns:a16="http://schemas.microsoft.com/office/drawing/2014/main" id="{6A68E60A-1A17-CD57-8788-AE9CE98414F5}"/>
              </a:ext>
            </a:extLst>
          </p:cNvPr>
          <p:cNvCxnSpPr>
            <a:cxnSpLocks/>
          </p:cNvCxnSpPr>
          <p:nvPr/>
        </p:nvCxnSpPr>
        <p:spPr>
          <a:xfrm flipV="1">
            <a:off x="8593813" y="3447288"/>
            <a:ext cx="0" cy="292608"/>
          </a:xfrm>
          <a:prstGeom prst="line">
            <a:avLst/>
          </a:prstGeom>
          <a:ln w="15240">
            <a:solidFill>
              <a:srgbClr val="E08A00"/>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Oval 45">
            <a:extLst>
              <a:ext uri="{FF2B5EF4-FFF2-40B4-BE49-F238E27FC236}">
                <a16:creationId xmlns:a16="http://schemas.microsoft.com/office/drawing/2014/main" id="{47324F5D-C3FA-5975-0589-36F2F06396CC}"/>
              </a:ext>
            </a:extLst>
          </p:cNvPr>
          <p:cNvSpPr/>
          <p:nvPr/>
        </p:nvSpPr>
        <p:spPr>
          <a:xfrm>
            <a:off x="8418576" y="3619007"/>
            <a:ext cx="310896" cy="310896"/>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4">
            <a:extLst>
              <a:ext uri="{FF2B5EF4-FFF2-40B4-BE49-F238E27FC236}">
                <a16:creationId xmlns:a16="http://schemas.microsoft.com/office/drawing/2014/main" id="{6DFE8D56-3514-D75B-33AD-6B1E43F1DD90}"/>
              </a:ext>
            </a:extLst>
          </p:cNvPr>
          <p:cNvSpPr/>
          <p:nvPr/>
        </p:nvSpPr>
        <p:spPr>
          <a:xfrm>
            <a:off x="9464040" y="4187952"/>
            <a:ext cx="1980000" cy="1764000"/>
          </a:xfrm>
          <a:prstGeom prst="roundRect">
            <a:avLst>
              <a:gd name="adj" fmla="val 6000"/>
            </a:avLst>
          </a:prstGeom>
          <a:solidFill>
            <a:srgbClr val="F4F1FB"/>
          </a:solidFill>
          <a:ln w="9525">
            <a:solidFill>
              <a:srgbClr val="DDD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5">
            <a:extLst>
              <a:ext uri="{FF2B5EF4-FFF2-40B4-BE49-F238E27FC236}">
                <a16:creationId xmlns:a16="http://schemas.microsoft.com/office/drawing/2014/main" id="{0AFA0260-0B90-78B1-3A1D-A5546618E3FD}"/>
              </a:ext>
            </a:extLst>
          </p:cNvPr>
          <p:cNvSpPr/>
          <p:nvPr/>
        </p:nvSpPr>
        <p:spPr>
          <a:xfrm>
            <a:off x="9464040" y="4141530"/>
            <a:ext cx="1965957" cy="98208"/>
          </a:xfrm>
          <a:prstGeom prst="roundRect">
            <a:avLst>
              <a:gd name="adj" fmla="val 50000"/>
            </a:avLst>
          </a:prstGeom>
          <a:solidFill>
            <a:srgbClr val="3A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6">
            <a:extLst>
              <a:ext uri="{FF2B5EF4-FFF2-40B4-BE49-F238E27FC236}">
                <a16:creationId xmlns:a16="http://schemas.microsoft.com/office/drawing/2014/main" id="{612063F2-3C92-430E-9539-E71E137165B9}"/>
              </a:ext>
            </a:extLst>
          </p:cNvPr>
          <p:cNvSpPr/>
          <p:nvPr/>
        </p:nvSpPr>
        <p:spPr>
          <a:xfrm>
            <a:off x="9820656" y="4199382"/>
            <a:ext cx="822960" cy="292608"/>
          </a:xfrm>
          <a:prstGeom prst="roundRect">
            <a:avLst>
              <a:gd name="adj" fmla="val 50000"/>
            </a:avLst>
          </a:prstGeom>
          <a:solidFill>
            <a:srgbClr val="3A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E86F5270-A423-7FC8-2830-ABE0148B4426}"/>
              </a:ext>
            </a:extLst>
          </p:cNvPr>
          <p:cNvSpPr txBox="1"/>
          <p:nvPr/>
        </p:nvSpPr>
        <p:spPr>
          <a:xfrm>
            <a:off x="9738360" y="4217382"/>
            <a:ext cx="1044000" cy="246221"/>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a:solidFill>
                  <a:srgbClr val="FFFFFF"/>
                </a:solidFill>
                <a:latin typeface="Calibri"/>
              </a:rPr>
              <a:t>LATER</a:t>
            </a:r>
          </a:p>
        </p:txBody>
      </p:sp>
      <p:sp>
        <p:nvSpPr>
          <p:cNvPr id="51" name="TextBox 50">
            <a:extLst>
              <a:ext uri="{FF2B5EF4-FFF2-40B4-BE49-F238E27FC236}">
                <a16:creationId xmlns:a16="http://schemas.microsoft.com/office/drawing/2014/main" id="{7B834660-D221-2C01-5E1F-995ABBD7CAA3}"/>
              </a:ext>
            </a:extLst>
          </p:cNvPr>
          <p:cNvSpPr txBox="1"/>
          <p:nvPr/>
        </p:nvSpPr>
        <p:spPr>
          <a:xfrm>
            <a:off x="9671142" y="4636800"/>
            <a:ext cx="1463040" cy="411480"/>
          </a:xfrm>
          <a:prstGeom prst="rect">
            <a:avLst/>
          </a:prstGeom>
          <a:noFill/>
        </p:spPr>
        <p:txBody>
          <a:bodyPr wrap="square" lIns="0" tIns="0" rIns="0" bIns="0" anchor="t">
            <a:spAutoFit/>
          </a:bodyPr>
          <a:lstStyle/>
          <a:p>
            <a:pPr algn="l">
              <a:lnSpc>
                <a:spcPct val="95000"/>
              </a:lnSpc>
              <a:spcBef>
                <a:spcPts val="0"/>
              </a:spcBef>
              <a:spcAft>
                <a:spcPts val="600"/>
              </a:spcAft>
            </a:pPr>
            <a:r>
              <a:rPr sz="1150" b="1" i="0" dirty="0">
                <a:solidFill>
                  <a:srgbClr val="13132B"/>
                </a:solidFill>
                <a:latin typeface="Calibri"/>
              </a:rPr>
              <a:t>Multimodal evidence</a:t>
            </a:r>
          </a:p>
        </p:txBody>
      </p:sp>
      <p:sp>
        <p:nvSpPr>
          <p:cNvPr id="52" name="TextBox 51">
            <a:extLst>
              <a:ext uri="{FF2B5EF4-FFF2-40B4-BE49-F238E27FC236}">
                <a16:creationId xmlns:a16="http://schemas.microsoft.com/office/drawing/2014/main" id="{6D2E4B3D-D69F-F564-79BD-E43F1F2D6289}"/>
              </a:ext>
            </a:extLst>
          </p:cNvPr>
          <p:cNvSpPr txBox="1"/>
          <p:nvPr/>
        </p:nvSpPr>
        <p:spPr>
          <a:xfrm>
            <a:off x="9656064" y="5065776"/>
            <a:ext cx="1463040" cy="457200"/>
          </a:xfrm>
          <a:prstGeom prst="rect">
            <a:avLst/>
          </a:prstGeom>
          <a:noFill/>
        </p:spPr>
        <p:txBody>
          <a:bodyPr wrap="square" lIns="0" tIns="0" rIns="0" bIns="0" anchor="t">
            <a:spAutoFit/>
          </a:bodyPr>
          <a:lstStyle/>
          <a:p>
            <a:pPr algn="l">
              <a:lnSpc>
                <a:spcPct val="95000"/>
              </a:lnSpc>
              <a:spcBef>
                <a:spcPts val="0"/>
              </a:spcBef>
              <a:spcAft>
                <a:spcPts val="600"/>
              </a:spcAft>
            </a:pPr>
            <a:r>
              <a:rPr sz="900" b="0" i="0" dirty="0">
                <a:solidFill>
                  <a:srgbClr val="62627D"/>
                </a:solidFill>
                <a:latin typeface="Calibri"/>
              </a:rPr>
              <a:t>Ground answers in tables &amp; images from the corpus, not just text.</a:t>
            </a:r>
          </a:p>
        </p:txBody>
      </p:sp>
      <p:cxnSp>
        <p:nvCxnSpPr>
          <p:cNvPr id="53" name="Connector 50">
            <a:extLst>
              <a:ext uri="{FF2B5EF4-FFF2-40B4-BE49-F238E27FC236}">
                <a16:creationId xmlns:a16="http://schemas.microsoft.com/office/drawing/2014/main" id="{EC06BF6F-76AC-A0F1-CF62-A37827E3ECF9}"/>
              </a:ext>
            </a:extLst>
          </p:cNvPr>
          <p:cNvCxnSpPr/>
          <p:nvPr/>
        </p:nvCxnSpPr>
        <p:spPr>
          <a:xfrm>
            <a:off x="10387584" y="3839779"/>
            <a:ext cx="0" cy="301751"/>
          </a:xfrm>
          <a:prstGeom prst="line">
            <a:avLst/>
          </a:prstGeom>
          <a:ln w="15240">
            <a:solidFill>
              <a:srgbClr val="3A3A52"/>
            </a:solidFill>
            <a:headEnd type="none"/>
            <a:tailEnd type="triangle" w="med" len="med"/>
          </a:ln>
          <a:effectLst/>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9581FF20-C0D7-F701-BFDE-F5D4831FD0A6}"/>
              </a:ext>
            </a:extLst>
          </p:cNvPr>
          <p:cNvSpPr/>
          <p:nvPr/>
        </p:nvSpPr>
        <p:spPr>
          <a:xfrm>
            <a:off x="10247376" y="3619007"/>
            <a:ext cx="310896" cy="310896"/>
          </a:xfrm>
          <a:prstGeom prst="ellipse">
            <a:avLst/>
          </a:prstGeom>
          <a:solidFill>
            <a:srgbClr val="3A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B9EA5A5E-A26B-FDC1-9064-2B32A24FD45C}"/>
              </a:ext>
            </a:extLst>
          </p:cNvPr>
          <p:cNvSpPr txBox="1"/>
          <p:nvPr/>
        </p:nvSpPr>
        <p:spPr>
          <a:xfrm>
            <a:off x="685800" y="5989320"/>
            <a:ext cx="10972800" cy="365760"/>
          </a:xfrm>
          <a:prstGeom prst="rect">
            <a:avLst/>
          </a:prstGeom>
          <a:noFill/>
        </p:spPr>
        <p:txBody>
          <a:bodyPr wrap="square" lIns="0" tIns="0" rIns="0" bIns="0" anchor="t">
            <a:spAutoFit/>
          </a:bodyPr>
          <a:lstStyle/>
          <a:p>
            <a:pPr algn="ctr">
              <a:lnSpc>
                <a:spcPct val="100000"/>
              </a:lnSpc>
              <a:spcBef>
                <a:spcPts val="0"/>
              </a:spcBef>
              <a:spcAft>
                <a:spcPts val="600"/>
              </a:spcAft>
            </a:pPr>
            <a:r>
              <a:rPr sz="1250" b="1" i="1">
                <a:solidFill>
                  <a:srgbClr val="6C28D9"/>
                </a:solidFill>
                <a:latin typeface="Calibri"/>
              </a:rPr>
              <a:t>North star: a fully on-device, multilingual, self-correcting live-RAG assistant that never hallucinates and never makes you wait.</a:t>
            </a:r>
          </a:p>
        </p:txBody>
      </p:sp>
    </p:spTree>
    <p:extLst>
      <p:ext uri="{BB962C8B-B14F-4D97-AF65-F5344CB8AC3E}">
        <p14:creationId xmlns:p14="http://schemas.microsoft.com/office/powerpoint/2010/main" val="3985914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cs typeface="Calibri" pitchFamily="34" charset="-120"/>
              </a:rPr>
              <a:t>Brownie points slide(differentiation)</a:t>
            </a:r>
            <a:endParaRPr lang="en-US" sz="4400" b="1" dirty="0">
              <a:solidFill>
                <a:srgbClr val="704EA6"/>
              </a:solidFill>
            </a:endParaRPr>
          </a:p>
        </p:txBody>
      </p:sp>
      <p:sp>
        <p:nvSpPr>
          <p:cNvPr id="5" name="Rounded Rectangle 3">
            <a:extLst>
              <a:ext uri="{FF2B5EF4-FFF2-40B4-BE49-F238E27FC236}">
                <a16:creationId xmlns:a16="http://schemas.microsoft.com/office/drawing/2014/main" id="{FCE71E23-9E4D-3E15-0B12-19AD67C51725}"/>
              </a:ext>
            </a:extLst>
          </p:cNvPr>
          <p:cNvSpPr/>
          <p:nvPr/>
        </p:nvSpPr>
        <p:spPr>
          <a:xfrm>
            <a:off x="685800" y="1690688"/>
            <a:ext cx="3593592" cy="2194560"/>
          </a:xfrm>
          <a:prstGeom prst="roundRect">
            <a:avLst>
              <a:gd name="adj" fmla="val 6000"/>
            </a:avLst>
          </a:prstGeom>
          <a:solidFill>
            <a:srgbClr val="F4F1FB"/>
          </a:solidFill>
          <a:ln w="15875">
            <a:solidFill>
              <a:srgbClr val="6C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Oval 6">
            <a:extLst>
              <a:ext uri="{FF2B5EF4-FFF2-40B4-BE49-F238E27FC236}">
                <a16:creationId xmlns:a16="http://schemas.microsoft.com/office/drawing/2014/main" id="{C1B41D12-679C-6457-40A6-86F7C53D8CB7}"/>
              </a:ext>
            </a:extLst>
          </p:cNvPr>
          <p:cNvSpPr/>
          <p:nvPr/>
        </p:nvSpPr>
        <p:spPr>
          <a:xfrm>
            <a:off x="905256" y="1946720"/>
            <a:ext cx="457200" cy="457200"/>
          </a:xfrm>
          <a:prstGeom prst="ellipse">
            <a:avLst/>
          </a:prstGeom>
          <a:solidFill>
            <a:srgbClr val="6C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a:extLst>
              <a:ext uri="{FF2B5EF4-FFF2-40B4-BE49-F238E27FC236}">
                <a16:creationId xmlns:a16="http://schemas.microsoft.com/office/drawing/2014/main" id="{10762F86-9C46-A4C4-6C98-6B5999E88A57}"/>
              </a:ext>
            </a:extLst>
          </p:cNvPr>
          <p:cNvSpPr txBox="1"/>
          <p:nvPr/>
        </p:nvSpPr>
        <p:spPr>
          <a:xfrm>
            <a:off x="905256" y="2036820"/>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a:t>
            </a:r>
          </a:p>
        </p:txBody>
      </p:sp>
      <p:sp>
        <p:nvSpPr>
          <p:cNvPr id="11" name="TextBox 10">
            <a:extLst>
              <a:ext uri="{FF2B5EF4-FFF2-40B4-BE49-F238E27FC236}">
                <a16:creationId xmlns:a16="http://schemas.microsoft.com/office/drawing/2014/main" id="{02C7B124-9B26-C583-C737-91864D7F721B}"/>
              </a:ext>
            </a:extLst>
          </p:cNvPr>
          <p:cNvSpPr txBox="1"/>
          <p:nvPr/>
        </p:nvSpPr>
        <p:spPr>
          <a:xfrm>
            <a:off x="1490472" y="2149805"/>
            <a:ext cx="2587752" cy="233910"/>
          </a:xfrm>
          <a:prstGeom prst="rect">
            <a:avLst/>
          </a:prstGeom>
          <a:noFill/>
        </p:spPr>
        <p:txBody>
          <a:bodyPr wrap="square" lIns="0" tIns="0" rIns="0" bIns="0" anchor="ctr">
            <a:spAutoFit/>
          </a:bodyPr>
          <a:lstStyle/>
          <a:p>
            <a:pPr algn="l">
              <a:lnSpc>
                <a:spcPct val="95000"/>
              </a:lnSpc>
              <a:spcBef>
                <a:spcPts val="0"/>
              </a:spcBef>
              <a:spcAft>
                <a:spcPts val="600"/>
              </a:spcAft>
            </a:pPr>
            <a:r>
              <a:rPr sz="1600" b="1" i="0" dirty="0">
                <a:solidFill>
                  <a:srgbClr val="13132B"/>
                </a:solidFill>
                <a:latin typeface="Calibri"/>
              </a:rPr>
              <a:t>Patches, doesn't regenerate</a:t>
            </a:r>
          </a:p>
        </p:txBody>
      </p:sp>
      <p:sp>
        <p:nvSpPr>
          <p:cNvPr id="13" name="TextBox 12">
            <a:extLst>
              <a:ext uri="{FF2B5EF4-FFF2-40B4-BE49-F238E27FC236}">
                <a16:creationId xmlns:a16="http://schemas.microsoft.com/office/drawing/2014/main" id="{16FD8CF4-6FCB-9E96-C1CD-4F69C958F63B}"/>
              </a:ext>
            </a:extLst>
          </p:cNvPr>
          <p:cNvSpPr txBox="1"/>
          <p:nvPr/>
        </p:nvSpPr>
        <p:spPr>
          <a:xfrm>
            <a:off x="923544" y="2650808"/>
            <a:ext cx="3136392" cy="687304"/>
          </a:xfrm>
          <a:prstGeom prst="rect">
            <a:avLst/>
          </a:prstGeom>
          <a:noFill/>
        </p:spPr>
        <p:txBody>
          <a:bodyPr wrap="square" lIns="0" tIns="0" rIns="0" bIns="0" anchor="t">
            <a:spAutoFit/>
          </a:bodyPr>
          <a:lstStyle/>
          <a:p>
            <a:pPr algn="l">
              <a:lnSpc>
                <a:spcPct val="108000"/>
              </a:lnSpc>
              <a:spcBef>
                <a:spcPts val="0"/>
              </a:spcBef>
              <a:spcAft>
                <a:spcPts val="600"/>
              </a:spcAft>
            </a:pPr>
            <a:r>
              <a:rPr sz="1400" b="0" i="0">
                <a:solidFill>
                  <a:srgbClr val="62627D"/>
                </a:solidFill>
                <a:latin typeface="Calibri"/>
              </a:rPr>
              <a:t>The only design that edits answers at the claim level (v1→v2 diff) instead of rebuilding them.</a:t>
            </a:r>
          </a:p>
        </p:txBody>
      </p:sp>
      <p:sp>
        <p:nvSpPr>
          <p:cNvPr id="15" name="Rounded Rectangle 8">
            <a:extLst>
              <a:ext uri="{FF2B5EF4-FFF2-40B4-BE49-F238E27FC236}">
                <a16:creationId xmlns:a16="http://schemas.microsoft.com/office/drawing/2014/main" id="{AFCF9862-534C-9901-4B28-3EADF915627B}"/>
              </a:ext>
            </a:extLst>
          </p:cNvPr>
          <p:cNvSpPr/>
          <p:nvPr/>
        </p:nvSpPr>
        <p:spPr>
          <a:xfrm>
            <a:off x="4425696" y="1690688"/>
            <a:ext cx="3593592" cy="2194560"/>
          </a:xfrm>
          <a:prstGeom prst="roundRect">
            <a:avLst>
              <a:gd name="adj" fmla="val 6000"/>
            </a:avLst>
          </a:prstGeom>
          <a:solidFill>
            <a:srgbClr val="F4F1FB"/>
          </a:solidFill>
          <a:ln w="15875">
            <a:solidFill>
              <a:srgbClr val="3865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Oval 16">
            <a:extLst>
              <a:ext uri="{FF2B5EF4-FFF2-40B4-BE49-F238E27FC236}">
                <a16:creationId xmlns:a16="http://schemas.microsoft.com/office/drawing/2014/main" id="{E7068349-ECC3-7E15-F8B7-5134BAF20C0A}"/>
              </a:ext>
            </a:extLst>
          </p:cNvPr>
          <p:cNvSpPr/>
          <p:nvPr/>
        </p:nvSpPr>
        <p:spPr>
          <a:xfrm>
            <a:off x="4645152" y="1946720"/>
            <a:ext cx="457200" cy="457200"/>
          </a:xfrm>
          <a:prstGeom prst="ellipse">
            <a:avLst/>
          </a:prstGeom>
          <a:solidFill>
            <a:srgbClr val="386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a:extLst>
              <a:ext uri="{FF2B5EF4-FFF2-40B4-BE49-F238E27FC236}">
                <a16:creationId xmlns:a16="http://schemas.microsoft.com/office/drawing/2014/main" id="{9D45F542-DF99-2EF2-ABA3-B30F84A39679}"/>
              </a:ext>
            </a:extLst>
          </p:cNvPr>
          <p:cNvSpPr txBox="1"/>
          <p:nvPr/>
        </p:nvSpPr>
        <p:spPr>
          <a:xfrm>
            <a:off x="4645152" y="2036820"/>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a:t>
            </a:r>
          </a:p>
        </p:txBody>
      </p:sp>
      <p:sp>
        <p:nvSpPr>
          <p:cNvPr id="21" name="TextBox 20">
            <a:extLst>
              <a:ext uri="{FF2B5EF4-FFF2-40B4-BE49-F238E27FC236}">
                <a16:creationId xmlns:a16="http://schemas.microsoft.com/office/drawing/2014/main" id="{9539D7B5-6E88-5CA1-B3E4-AA364B33140E}"/>
              </a:ext>
            </a:extLst>
          </p:cNvPr>
          <p:cNvSpPr txBox="1"/>
          <p:nvPr/>
        </p:nvSpPr>
        <p:spPr>
          <a:xfrm>
            <a:off x="5230368" y="2149805"/>
            <a:ext cx="2587752" cy="233910"/>
          </a:xfrm>
          <a:prstGeom prst="rect">
            <a:avLst/>
          </a:prstGeom>
          <a:noFill/>
        </p:spPr>
        <p:txBody>
          <a:bodyPr wrap="square" lIns="0" tIns="0" rIns="0" bIns="0" anchor="ctr">
            <a:spAutoFit/>
          </a:bodyPr>
          <a:lstStyle/>
          <a:p>
            <a:pPr algn="l">
              <a:lnSpc>
                <a:spcPct val="95000"/>
              </a:lnSpc>
              <a:spcBef>
                <a:spcPts val="0"/>
              </a:spcBef>
              <a:spcAft>
                <a:spcPts val="600"/>
              </a:spcAft>
            </a:pPr>
            <a:r>
              <a:rPr sz="1600" b="1" i="0">
                <a:solidFill>
                  <a:srgbClr val="13132B"/>
                </a:solidFill>
                <a:latin typeface="Calibri"/>
              </a:rPr>
              <a:t>Retrieves before you finish</a:t>
            </a:r>
          </a:p>
        </p:txBody>
      </p:sp>
      <p:sp>
        <p:nvSpPr>
          <p:cNvPr id="23" name="TextBox 22">
            <a:extLst>
              <a:ext uri="{FF2B5EF4-FFF2-40B4-BE49-F238E27FC236}">
                <a16:creationId xmlns:a16="http://schemas.microsoft.com/office/drawing/2014/main" id="{E073A5D4-A05F-FC80-CADF-0D8CC9C57BCF}"/>
              </a:ext>
            </a:extLst>
          </p:cNvPr>
          <p:cNvSpPr txBox="1"/>
          <p:nvPr/>
        </p:nvSpPr>
        <p:spPr>
          <a:xfrm>
            <a:off x="4663440" y="2650808"/>
            <a:ext cx="3136392" cy="454612"/>
          </a:xfrm>
          <a:prstGeom prst="rect">
            <a:avLst/>
          </a:prstGeom>
          <a:noFill/>
        </p:spPr>
        <p:txBody>
          <a:bodyPr wrap="square" lIns="0" tIns="0" rIns="0" bIns="0" anchor="t">
            <a:spAutoFit/>
          </a:bodyPr>
          <a:lstStyle/>
          <a:p>
            <a:pPr algn="l">
              <a:lnSpc>
                <a:spcPct val="108000"/>
              </a:lnSpc>
              <a:spcBef>
                <a:spcPts val="0"/>
              </a:spcBef>
              <a:spcAft>
                <a:spcPts val="600"/>
              </a:spcAft>
            </a:pPr>
            <a:r>
              <a:rPr sz="1400" b="0" i="0">
                <a:solidFill>
                  <a:srgbClr val="62627D"/>
                </a:solidFill>
                <a:latin typeface="Calibri"/>
              </a:rPr>
              <a:t>Pre-utterance speculative retrieval — most systems can't start until you stop talking.</a:t>
            </a:r>
          </a:p>
        </p:txBody>
      </p:sp>
      <p:sp>
        <p:nvSpPr>
          <p:cNvPr id="25" name="Rounded Rectangle 13">
            <a:extLst>
              <a:ext uri="{FF2B5EF4-FFF2-40B4-BE49-F238E27FC236}">
                <a16:creationId xmlns:a16="http://schemas.microsoft.com/office/drawing/2014/main" id="{42AA1F84-5160-30F5-F1BE-5AA653FF53D9}"/>
              </a:ext>
            </a:extLst>
          </p:cNvPr>
          <p:cNvSpPr/>
          <p:nvPr/>
        </p:nvSpPr>
        <p:spPr>
          <a:xfrm>
            <a:off x="8165592" y="1690688"/>
            <a:ext cx="3593592" cy="2194560"/>
          </a:xfrm>
          <a:prstGeom prst="roundRect">
            <a:avLst>
              <a:gd name="adj" fmla="val 6000"/>
            </a:avLst>
          </a:prstGeom>
          <a:solidFill>
            <a:srgbClr val="F4F1FB"/>
          </a:solidFill>
          <a:ln w="15875">
            <a:solidFill>
              <a:srgbClr val="4FB0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Oval 26">
            <a:extLst>
              <a:ext uri="{FF2B5EF4-FFF2-40B4-BE49-F238E27FC236}">
                <a16:creationId xmlns:a16="http://schemas.microsoft.com/office/drawing/2014/main" id="{D28E5DC1-F542-A9C4-F6CD-0C14B07E1218}"/>
              </a:ext>
            </a:extLst>
          </p:cNvPr>
          <p:cNvSpPr/>
          <p:nvPr/>
        </p:nvSpPr>
        <p:spPr>
          <a:xfrm>
            <a:off x="8385048" y="1946720"/>
            <a:ext cx="457200" cy="457200"/>
          </a:xfrm>
          <a:prstGeom prst="ellipse">
            <a:avLst/>
          </a:prstGeom>
          <a:solidFill>
            <a:srgbClr val="4FB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a:extLst>
              <a:ext uri="{FF2B5EF4-FFF2-40B4-BE49-F238E27FC236}">
                <a16:creationId xmlns:a16="http://schemas.microsoft.com/office/drawing/2014/main" id="{73A105F8-59F2-586A-AED7-C276BA4807C1}"/>
              </a:ext>
            </a:extLst>
          </p:cNvPr>
          <p:cNvSpPr txBox="1"/>
          <p:nvPr/>
        </p:nvSpPr>
        <p:spPr>
          <a:xfrm>
            <a:off x="8385048" y="2036820"/>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a:t>
            </a:r>
          </a:p>
        </p:txBody>
      </p:sp>
      <p:sp>
        <p:nvSpPr>
          <p:cNvPr id="31" name="TextBox 30">
            <a:extLst>
              <a:ext uri="{FF2B5EF4-FFF2-40B4-BE49-F238E27FC236}">
                <a16:creationId xmlns:a16="http://schemas.microsoft.com/office/drawing/2014/main" id="{5EB09B44-5C97-771D-E32A-FB02E4E6901B}"/>
              </a:ext>
            </a:extLst>
          </p:cNvPr>
          <p:cNvSpPr txBox="1"/>
          <p:nvPr/>
        </p:nvSpPr>
        <p:spPr>
          <a:xfrm>
            <a:off x="8970264" y="2032850"/>
            <a:ext cx="2587752" cy="467820"/>
          </a:xfrm>
          <a:prstGeom prst="rect">
            <a:avLst/>
          </a:prstGeom>
          <a:noFill/>
        </p:spPr>
        <p:txBody>
          <a:bodyPr wrap="square" lIns="0" tIns="0" rIns="0" bIns="0" anchor="ctr">
            <a:spAutoFit/>
          </a:bodyPr>
          <a:lstStyle/>
          <a:p>
            <a:pPr algn="l">
              <a:lnSpc>
                <a:spcPct val="95000"/>
              </a:lnSpc>
              <a:spcBef>
                <a:spcPts val="0"/>
              </a:spcBef>
              <a:spcAft>
                <a:spcPts val="600"/>
              </a:spcAft>
            </a:pPr>
            <a:r>
              <a:rPr sz="1600" b="1" i="0">
                <a:solidFill>
                  <a:srgbClr val="13132B"/>
                </a:solidFill>
                <a:latin typeface="Calibri"/>
              </a:rPr>
              <a:t>Zero hallucination by construction</a:t>
            </a:r>
          </a:p>
        </p:txBody>
      </p:sp>
      <p:sp>
        <p:nvSpPr>
          <p:cNvPr id="33" name="TextBox 32">
            <a:extLst>
              <a:ext uri="{FF2B5EF4-FFF2-40B4-BE49-F238E27FC236}">
                <a16:creationId xmlns:a16="http://schemas.microsoft.com/office/drawing/2014/main" id="{39451BE1-3C8E-ADCB-B60D-E4F3E0D0A7FB}"/>
              </a:ext>
            </a:extLst>
          </p:cNvPr>
          <p:cNvSpPr txBox="1"/>
          <p:nvPr/>
        </p:nvSpPr>
        <p:spPr>
          <a:xfrm>
            <a:off x="8403336" y="2650808"/>
            <a:ext cx="3136392" cy="687304"/>
          </a:xfrm>
          <a:prstGeom prst="rect">
            <a:avLst/>
          </a:prstGeom>
          <a:noFill/>
        </p:spPr>
        <p:txBody>
          <a:bodyPr wrap="square" lIns="0" tIns="0" rIns="0" bIns="0" anchor="t">
            <a:spAutoFit/>
          </a:bodyPr>
          <a:lstStyle/>
          <a:p>
            <a:pPr algn="l">
              <a:lnSpc>
                <a:spcPct val="108000"/>
              </a:lnSpc>
              <a:spcBef>
                <a:spcPts val="0"/>
              </a:spcBef>
              <a:spcAft>
                <a:spcPts val="600"/>
              </a:spcAft>
            </a:pPr>
            <a:r>
              <a:rPr sz="1400" b="0" i="0">
                <a:solidFill>
                  <a:srgbClr val="62627D"/>
                </a:solidFill>
                <a:latin typeface="Calibri"/>
              </a:rPr>
              <a:t>A deterministic whitelist, not a hopeful prompt — fabricated citations are impossible.</a:t>
            </a:r>
          </a:p>
        </p:txBody>
      </p:sp>
      <p:sp>
        <p:nvSpPr>
          <p:cNvPr id="35" name="Rounded Rectangle 18">
            <a:extLst>
              <a:ext uri="{FF2B5EF4-FFF2-40B4-BE49-F238E27FC236}">
                <a16:creationId xmlns:a16="http://schemas.microsoft.com/office/drawing/2014/main" id="{473BC491-474A-A76B-09DF-4E5120D45DE4}"/>
              </a:ext>
            </a:extLst>
          </p:cNvPr>
          <p:cNvSpPr/>
          <p:nvPr/>
        </p:nvSpPr>
        <p:spPr>
          <a:xfrm>
            <a:off x="685800" y="4068128"/>
            <a:ext cx="3593592" cy="2194560"/>
          </a:xfrm>
          <a:prstGeom prst="roundRect">
            <a:avLst>
              <a:gd name="adj" fmla="val 6000"/>
            </a:avLst>
          </a:prstGeom>
          <a:solidFill>
            <a:srgbClr val="F4F1FB"/>
          </a:solidFill>
          <a:ln w="15875">
            <a:solidFill>
              <a:srgbClr val="702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Oval 36">
            <a:extLst>
              <a:ext uri="{FF2B5EF4-FFF2-40B4-BE49-F238E27FC236}">
                <a16:creationId xmlns:a16="http://schemas.microsoft.com/office/drawing/2014/main" id="{A3BB769C-6659-40E9-13F3-314149DAA8E4}"/>
              </a:ext>
            </a:extLst>
          </p:cNvPr>
          <p:cNvSpPr/>
          <p:nvPr/>
        </p:nvSpPr>
        <p:spPr>
          <a:xfrm>
            <a:off x="905256" y="4324160"/>
            <a:ext cx="457200" cy="457200"/>
          </a:xfrm>
          <a:prstGeom prst="ellipse">
            <a:avLst/>
          </a:prstGeom>
          <a:solidFill>
            <a:srgbClr val="702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TextBox 38">
            <a:extLst>
              <a:ext uri="{FF2B5EF4-FFF2-40B4-BE49-F238E27FC236}">
                <a16:creationId xmlns:a16="http://schemas.microsoft.com/office/drawing/2014/main" id="{39CEDB62-4B4A-1335-A2C3-8B0BFA72E55F}"/>
              </a:ext>
            </a:extLst>
          </p:cNvPr>
          <p:cNvSpPr txBox="1"/>
          <p:nvPr/>
        </p:nvSpPr>
        <p:spPr>
          <a:xfrm>
            <a:off x="905256" y="4414260"/>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a:t>
            </a:r>
          </a:p>
        </p:txBody>
      </p:sp>
      <p:sp>
        <p:nvSpPr>
          <p:cNvPr id="41" name="TextBox 40">
            <a:extLst>
              <a:ext uri="{FF2B5EF4-FFF2-40B4-BE49-F238E27FC236}">
                <a16:creationId xmlns:a16="http://schemas.microsoft.com/office/drawing/2014/main" id="{62E860DB-8A3E-111A-66C5-593D2EEB62E8}"/>
              </a:ext>
            </a:extLst>
          </p:cNvPr>
          <p:cNvSpPr txBox="1"/>
          <p:nvPr/>
        </p:nvSpPr>
        <p:spPr>
          <a:xfrm>
            <a:off x="1490472" y="4527245"/>
            <a:ext cx="2587752" cy="233910"/>
          </a:xfrm>
          <a:prstGeom prst="rect">
            <a:avLst/>
          </a:prstGeom>
          <a:noFill/>
        </p:spPr>
        <p:txBody>
          <a:bodyPr wrap="square" lIns="0" tIns="0" rIns="0" bIns="0" anchor="ctr">
            <a:spAutoFit/>
          </a:bodyPr>
          <a:lstStyle/>
          <a:p>
            <a:pPr algn="l">
              <a:lnSpc>
                <a:spcPct val="95000"/>
              </a:lnSpc>
              <a:spcBef>
                <a:spcPts val="0"/>
              </a:spcBef>
              <a:spcAft>
                <a:spcPts val="600"/>
              </a:spcAft>
            </a:pPr>
            <a:r>
              <a:rPr sz="1600" b="1" i="0">
                <a:solidFill>
                  <a:srgbClr val="13132B"/>
                </a:solidFill>
                <a:latin typeface="Calibri"/>
              </a:rPr>
              <a:t>Fully replayable</a:t>
            </a:r>
          </a:p>
        </p:txBody>
      </p:sp>
      <p:sp>
        <p:nvSpPr>
          <p:cNvPr id="43" name="TextBox 42">
            <a:extLst>
              <a:ext uri="{FF2B5EF4-FFF2-40B4-BE49-F238E27FC236}">
                <a16:creationId xmlns:a16="http://schemas.microsoft.com/office/drawing/2014/main" id="{74480279-CD97-4E26-0A32-1BC3DDC6C387}"/>
              </a:ext>
            </a:extLst>
          </p:cNvPr>
          <p:cNvSpPr txBox="1"/>
          <p:nvPr/>
        </p:nvSpPr>
        <p:spPr>
          <a:xfrm>
            <a:off x="923544" y="5028248"/>
            <a:ext cx="3136392" cy="454612"/>
          </a:xfrm>
          <a:prstGeom prst="rect">
            <a:avLst/>
          </a:prstGeom>
          <a:noFill/>
        </p:spPr>
        <p:txBody>
          <a:bodyPr wrap="square" lIns="0" tIns="0" rIns="0" bIns="0" anchor="t">
            <a:spAutoFit/>
          </a:bodyPr>
          <a:lstStyle/>
          <a:p>
            <a:pPr algn="l">
              <a:lnSpc>
                <a:spcPct val="108000"/>
              </a:lnSpc>
              <a:spcBef>
                <a:spcPts val="0"/>
              </a:spcBef>
              <a:spcAft>
                <a:spcPts val="600"/>
              </a:spcAft>
            </a:pPr>
            <a:r>
              <a:rPr sz="1400" b="0" i="0">
                <a:solidFill>
                  <a:srgbClr val="62627D"/>
                </a:solidFill>
                <a:latin typeface="Calibri"/>
              </a:rPr>
              <a:t>Every turn reconstructs from one JSONL trace — debuggable and demo-proof.</a:t>
            </a:r>
          </a:p>
        </p:txBody>
      </p:sp>
      <p:sp>
        <p:nvSpPr>
          <p:cNvPr id="45" name="Rounded Rectangle 23">
            <a:extLst>
              <a:ext uri="{FF2B5EF4-FFF2-40B4-BE49-F238E27FC236}">
                <a16:creationId xmlns:a16="http://schemas.microsoft.com/office/drawing/2014/main" id="{78899394-CF5A-9A45-F11C-734FA62509A0}"/>
              </a:ext>
            </a:extLst>
          </p:cNvPr>
          <p:cNvSpPr/>
          <p:nvPr/>
        </p:nvSpPr>
        <p:spPr>
          <a:xfrm>
            <a:off x="4425696" y="4068128"/>
            <a:ext cx="3593592" cy="2194560"/>
          </a:xfrm>
          <a:prstGeom prst="roundRect">
            <a:avLst>
              <a:gd name="adj" fmla="val 6000"/>
            </a:avLst>
          </a:prstGeom>
          <a:solidFill>
            <a:srgbClr val="F4F1FB"/>
          </a:solidFill>
          <a:ln w="15875">
            <a:solidFill>
              <a:srgbClr val="E0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7" name="Oval 46">
            <a:extLst>
              <a:ext uri="{FF2B5EF4-FFF2-40B4-BE49-F238E27FC236}">
                <a16:creationId xmlns:a16="http://schemas.microsoft.com/office/drawing/2014/main" id="{20C71E8F-5E63-25F1-6BCF-2F0F07102F42}"/>
              </a:ext>
            </a:extLst>
          </p:cNvPr>
          <p:cNvSpPr/>
          <p:nvPr/>
        </p:nvSpPr>
        <p:spPr>
          <a:xfrm>
            <a:off x="4645152" y="4324160"/>
            <a:ext cx="457200" cy="457200"/>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TextBox 48">
            <a:extLst>
              <a:ext uri="{FF2B5EF4-FFF2-40B4-BE49-F238E27FC236}">
                <a16:creationId xmlns:a16="http://schemas.microsoft.com/office/drawing/2014/main" id="{772AAE14-554F-6D1C-C2C6-76633774BBF4}"/>
              </a:ext>
            </a:extLst>
          </p:cNvPr>
          <p:cNvSpPr txBox="1"/>
          <p:nvPr/>
        </p:nvSpPr>
        <p:spPr>
          <a:xfrm>
            <a:off x="4645152" y="4414260"/>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a:t>
            </a:r>
          </a:p>
        </p:txBody>
      </p:sp>
      <p:sp>
        <p:nvSpPr>
          <p:cNvPr id="51" name="TextBox 50">
            <a:extLst>
              <a:ext uri="{FF2B5EF4-FFF2-40B4-BE49-F238E27FC236}">
                <a16:creationId xmlns:a16="http://schemas.microsoft.com/office/drawing/2014/main" id="{206BFB4E-9C59-EAAD-4EE5-AFB50DCB3802}"/>
              </a:ext>
            </a:extLst>
          </p:cNvPr>
          <p:cNvSpPr txBox="1"/>
          <p:nvPr/>
        </p:nvSpPr>
        <p:spPr>
          <a:xfrm>
            <a:off x="5230368" y="4527245"/>
            <a:ext cx="2587752" cy="233910"/>
          </a:xfrm>
          <a:prstGeom prst="rect">
            <a:avLst/>
          </a:prstGeom>
          <a:noFill/>
        </p:spPr>
        <p:txBody>
          <a:bodyPr wrap="square" lIns="0" tIns="0" rIns="0" bIns="0" anchor="ctr">
            <a:spAutoFit/>
          </a:bodyPr>
          <a:lstStyle/>
          <a:p>
            <a:pPr algn="l">
              <a:lnSpc>
                <a:spcPct val="95000"/>
              </a:lnSpc>
              <a:spcBef>
                <a:spcPts val="0"/>
              </a:spcBef>
              <a:spcAft>
                <a:spcPts val="600"/>
              </a:spcAft>
            </a:pPr>
            <a:r>
              <a:rPr sz="1600" b="1" i="0">
                <a:solidFill>
                  <a:srgbClr val="13132B"/>
                </a:solidFill>
                <a:latin typeface="Calibri"/>
              </a:rPr>
              <a:t>Local, private, edge-ready</a:t>
            </a:r>
          </a:p>
        </p:txBody>
      </p:sp>
      <p:sp>
        <p:nvSpPr>
          <p:cNvPr id="53" name="TextBox 52">
            <a:extLst>
              <a:ext uri="{FF2B5EF4-FFF2-40B4-BE49-F238E27FC236}">
                <a16:creationId xmlns:a16="http://schemas.microsoft.com/office/drawing/2014/main" id="{89203CBB-E6BC-D571-887B-1942AE6F219A}"/>
              </a:ext>
            </a:extLst>
          </p:cNvPr>
          <p:cNvSpPr txBox="1"/>
          <p:nvPr/>
        </p:nvSpPr>
        <p:spPr>
          <a:xfrm>
            <a:off x="4663440" y="5028248"/>
            <a:ext cx="3136392" cy="687304"/>
          </a:xfrm>
          <a:prstGeom prst="rect">
            <a:avLst/>
          </a:prstGeom>
          <a:noFill/>
        </p:spPr>
        <p:txBody>
          <a:bodyPr wrap="square" lIns="0" tIns="0" rIns="0" bIns="0" anchor="t">
            <a:spAutoFit/>
          </a:bodyPr>
          <a:lstStyle/>
          <a:p>
            <a:pPr algn="l">
              <a:lnSpc>
                <a:spcPct val="108000"/>
              </a:lnSpc>
              <a:spcBef>
                <a:spcPts val="0"/>
              </a:spcBef>
              <a:spcAft>
                <a:spcPts val="600"/>
              </a:spcAft>
            </a:pPr>
            <a:r>
              <a:rPr sz="1400" b="0" i="0">
                <a:solidFill>
                  <a:srgbClr val="62627D"/>
                </a:solidFill>
                <a:latin typeface="Calibri"/>
              </a:rPr>
              <a:t>Runs on CPU with an Ollama fallback — resilient on demo day, deployable on-device.</a:t>
            </a:r>
          </a:p>
        </p:txBody>
      </p:sp>
      <p:sp>
        <p:nvSpPr>
          <p:cNvPr id="55" name="Rounded Rectangle 28">
            <a:extLst>
              <a:ext uri="{FF2B5EF4-FFF2-40B4-BE49-F238E27FC236}">
                <a16:creationId xmlns:a16="http://schemas.microsoft.com/office/drawing/2014/main" id="{32E68422-9DA7-1A0F-13D2-43073263D84A}"/>
              </a:ext>
            </a:extLst>
          </p:cNvPr>
          <p:cNvSpPr/>
          <p:nvPr/>
        </p:nvSpPr>
        <p:spPr>
          <a:xfrm>
            <a:off x="8165592" y="4068128"/>
            <a:ext cx="3593592" cy="2194560"/>
          </a:xfrm>
          <a:prstGeom prst="roundRect">
            <a:avLst>
              <a:gd name="adj" fmla="val 6000"/>
            </a:avLst>
          </a:prstGeom>
          <a:solidFill>
            <a:srgbClr val="F4F1FB"/>
          </a:solidFill>
          <a:ln w="15875">
            <a:solidFill>
              <a:srgbClr val="3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Oval 56">
            <a:extLst>
              <a:ext uri="{FF2B5EF4-FFF2-40B4-BE49-F238E27FC236}">
                <a16:creationId xmlns:a16="http://schemas.microsoft.com/office/drawing/2014/main" id="{3AB1203C-6212-7414-42A2-D129B8C23A12}"/>
              </a:ext>
            </a:extLst>
          </p:cNvPr>
          <p:cNvSpPr/>
          <p:nvPr/>
        </p:nvSpPr>
        <p:spPr>
          <a:xfrm>
            <a:off x="8385048" y="4324160"/>
            <a:ext cx="457200" cy="457200"/>
          </a:xfrm>
          <a:prstGeom prst="ellipse">
            <a:avLst/>
          </a:prstGeom>
          <a:solidFill>
            <a:srgbClr val="3A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9" name="TextBox 58">
            <a:extLst>
              <a:ext uri="{FF2B5EF4-FFF2-40B4-BE49-F238E27FC236}">
                <a16:creationId xmlns:a16="http://schemas.microsoft.com/office/drawing/2014/main" id="{B9F55B3F-B207-7388-9C65-6FC5662122EF}"/>
              </a:ext>
            </a:extLst>
          </p:cNvPr>
          <p:cNvSpPr txBox="1"/>
          <p:nvPr/>
        </p:nvSpPr>
        <p:spPr>
          <a:xfrm>
            <a:off x="8385048" y="4414260"/>
            <a:ext cx="457200" cy="276999"/>
          </a:xfrm>
          <a:prstGeom prst="rect">
            <a:avLst/>
          </a:prstGeom>
          <a:noFill/>
        </p:spPr>
        <p:txBody>
          <a:bodyPr wrap="square" lIns="0" tIns="0" rIns="0" bIns="0" anchor="ctr">
            <a:spAutoFit/>
          </a:bodyPr>
          <a:lstStyle/>
          <a:p>
            <a:pPr algn="ctr">
              <a:lnSpc>
                <a:spcPct val="100000"/>
              </a:lnSpc>
              <a:spcBef>
                <a:spcPts val="0"/>
              </a:spcBef>
              <a:spcAft>
                <a:spcPts val="600"/>
              </a:spcAft>
            </a:pPr>
            <a:r>
              <a:rPr b="1" i="0">
                <a:solidFill>
                  <a:srgbClr val="FFFFFF"/>
                </a:solidFill>
                <a:latin typeface="Calibri"/>
              </a:rPr>
              <a:t>★</a:t>
            </a:r>
          </a:p>
        </p:txBody>
      </p:sp>
      <p:sp>
        <p:nvSpPr>
          <p:cNvPr id="61" name="TextBox 60">
            <a:extLst>
              <a:ext uri="{FF2B5EF4-FFF2-40B4-BE49-F238E27FC236}">
                <a16:creationId xmlns:a16="http://schemas.microsoft.com/office/drawing/2014/main" id="{62F63677-B028-4F56-243F-1A54EB95A6D2}"/>
              </a:ext>
            </a:extLst>
          </p:cNvPr>
          <p:cNvSpPr txBox="1"/>
          <p:nvPr/>
        </p:nvSpPr>
        <p:spPr>
          <a:xfrm>
            <a:off x="8970264" y="4410290"/>
            <a:ext cx="2587752" cy="467820"/>
          </a:xfrm>
          <a:prstGeom prst="rect">
            <a:avLst/>
          </a:prstGeom>
          <a:noFill/>
        </p:spPr>
        <p:txBody>
          <a:bodyPr wrap="square" lIns="0" tIns="0" rIns="0" bIns="0" anchor="ctr">
            <a:spAutoFit/>
          </a:bodyPr>
          <a:lstStyle/>
          <a:p>
            <a:pPr algn="l">
              <a:lnSpc>
                <a:spcPct val="95000"/>
              </a:lnSpc>
              <a:spcBef>
                <a:spcPts val="0"/>
              </a:spcBef>
              <a:spcAft>
                <a:spcPts val="600"/>
              </a:spcAft>
            </a:pPr>
            <a:r>
              <a:rPr sz="1600" b="1" i="0">
                <a:solidFill>
                  <a:srgbClr val="13132B"/>
                </a:solidFill>
                <a:latin typeface="Calibri"/>
              </a:rPr>
              <a:t>Built to the rubric, not retrofitted</a:t>
            </a:r>
          </a:p>
        </p:txBody>
      </p:sp>
      <p:sp>
        <p:nvSpPr>
          <p:cNvPr id="63" name="TextBox 62">
            <a:extLst>
              <a:ext uri="{FF2B5EF4-FFF2-40B4-BE49-F238E27FC236}">
                <a16:creationId xmlns:a16="http://schemas.microsoft.com/office/drawing/2014/main" id="{F2036432-6BCD-BF4F-F489-9D1E7B90FD12}"/>
              </a:ext>
            </a:extLst>
          </p:cNvPr>
          <p:cNvSpPr txBox="1"/>
          <p:nvPr/>
        </p:nvSpPr>
        <p:spPr>
          <a:xfrm>
            <a:off x="8403336" y="5028248"/>
            <a:ext cx="3136392" cy="687304"/>
          </a:xfrm>
          <a:prstGeom prst="rect">
            <a:avLst/>
          </a:prstGeom>
          <a:noFill/>
        </p:spPr>
        <p:txBody>
          <a:bodyPr wrap="square" lIns="0" tIns="0" rIns="0" bIns="0" anchor="t">
            <a:spAutoFit/>
          </a:bodyPr>
          <a:lstStyle/>
          <a:p>
            <a:pPr algn="l">
              <a:lnSpc>
                <a:spcPct val="108000"/>
              </a:lnSpc>
              <a:spcBef>
                <a:spcPts val="0"/>
              </a:spcBef>
              <a:spcAft>
                <a:spcPts val="600"/>
              </a:spcAft>
            </a:pPr>
            <a:r>
              <a:rPr sz="1400" b="0" i="0">
                <a:solidFill>
                  <a:srgbClr val="62627D"/>
                </a:solidFill>
                <a:latin typeface="Calibri"/>
              </a:rPr>
              <a:t>Every hard rule (Isolation, No-Hardcoding, Session-Bound, Parsimony) is designed in — all 6 gates targeted.</a:t>
            </a:r>
          </a:p>
        </p:txBody>
      </p:sp>
    </p:spTree>
    <p:extLst>
      <p:ext uri="{BB962C8B-B14F-4D97-AF65-F5344CB8AC3E}">
        <p14:creationId xmlns:p14="http://schemas.microsoft.com/office/powerpoint/2010/main" val="2095517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pPr>
            <a:r>
              <a:rPr lang="en-US" sz="2800" dirty="0">
                <a:solidFill>
                  <a:srgbClr val="63637E"/>
                </a:solidFill>
                <a:latin typeface="Calibri" pitchFamily="34" charset="0"/>
                <a:ea typeface="Calibri" pitchFamily="34" charset="-122"/>
                <a:cs typeface="Calibri" pitchFamily="34" charset="-120"/>
              </a:rPr>
              <a:t>Working prototype code —</a:t>
            </a:r>
            <a:r>
              <a:rPr lang="en-IN" dirty="0"/>
              <a:t>✔ </a:t>
            </a:r>
            <a:r>
              <a:rPr lang="en-IN" b="1" dirty="0"/>
              <a:t>Yes</a:t>
            </a:r>
            <a:r>
              <a:rPr lang="en-IN" dirty="0"/>
              <a:t> — </a:t>
            </a:r>
            <a:r>
              <a:rPr lang="en-IN" dirty="0">
                <a:hlinkClick r:id="rId2"/>
              </a:rPr>
              <a:t>github.com/ayushbhatt1026-dev/rag</a:t>
            </a:r>
            <a:endParaRPr lang="en-US" sz="2800" dirty="0"/>
          </a:p>
          <a:p>
            <a:pPr lvl="0"/>
            <a:r>
              <a:rPr lang="en-US" sz="2800" dirty="0">
                <a:solidFill>
                  <a:srgbClr val="63637E"/>
                </a:solidFill>
                <a:latin typeface="Calibri" pitchFamily="34" charset="0"/>
                <a:ea typeface="Calibri" pitchFamily="34" charset="-122"/>
                <a:cs typeface="Calibri" pitchFamily="34" charset="-120"/>
              </a:rPr>
              <a:t>README with reproducible setup instructions </a:t>
            </a:r>
            <a:r>
              <a:rPr lang="en-US" dirty="0">
                <a:solidFill>
                  <a:srgbClr val="63637E"/>
                </a:solidFill>
                <a:latin typeface="Calibri" pitchFamily="34" charset="0"/>
                <a:ea typeface="Calibri" pitchFamily="34" charset="-122"/>
                <a:cs typeface="Calibri" pitchFamily="34" charset="-120"/>
              </a:rPr>
              <a:t>-</a:t>
            </a:r>
            <a:r>
              <a:rPr lang="en-IN" dirty="0"/>
              <a:t>✔ </a:t>
            </a:r>
            <a:r>
              <a:rPr lang="en-IN" b="1" dirty="0"/>
              <a:t>Yes</a:t>
            </a:r>
            <a:r>
              <a:rPr lang="en-IN" dirty="0"/>
              <a:t> —</a:t>
            </a:r>
            <a:r>
              <a:rPr lang="en-US" dirty="0">
                <a:solidFill>
                  <a:srgbClr val="63637E"/>
                </a:solidFill>
                <a:latin typeface="Calibri" pitchFamily="34" charset="0"/>
                <a:ea typeface="Calibri" pitchFamily="34" charset="-122"/>
                <a:cs typeface="Calibri" pitchFamily="34" charset="-120"/>
              </a:rPr>
              <a:t> </a:t>
            </a:r>
            <a:r>
              <a:rPr lang="en-IN" dirty="0"/>
              <a:t>Complete 1-command Docker setup (docker compose up) &amp; local environment guide included in repo root</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Demo video, max 5 minutes (YouTube or Drive link)</a:t>
            </a:r>
            <a:endParaRPr lang="en-US" sz="2800" dirty="0"/>
          </a:p>
          <a:p>
            <a:pPr marL="177800" indent="-177800">
              <a:spcAft>
                <a:spcPts val="500"/>
              </a:spcAft>
              <a:buSzPct val="100000"/>
            </a:pPr>
            <a:r>
              <a:rPr lang="en-US" sz="2800" dirty="0">
                <a:solidFill>
                  <a:srgbClr val="63637E"/>
                </a:solidFill>
                <a:latin typeface="Calibri" pitchFamily="34" charset="0"/>
                <a:ea typeface="Calibri" pitchFamily="34" charset="-122"/>
                <a:cs typeface="Calibri" pitchFamily="34" charset="-120"/>
              </a:rPr>
              <a:t>Presentation file (PPT or PDF) </a:t>
            </a:r>
            <a:r>
              <a:rPr lang="en-US" dirty="0">
                <a:solidFill>
                  <a:srgbClr val="63637E"/>
                </a:solidFill>
                <a:latin typeface="Calibri" pitchFamily="34" charset="0"/>
                <a:ea typeface="Calibri" pitchFamily="34" charset="-122"/>
                <a:cs typeface="Calibri" pitchFamily="34" charset="-120"/>
              </a:rPr>
              <a:t>- </a:t>
            </a:r>
            <a:r>
              <a:rPr lang="en-IN" dirty="0"/>
              <a:t>✔ </a:t>
            </a:r>
            <a:r>
              <a:rPr lang="en-IN" b="1" dirty="0"/>
              <a:t>Yes</a:t>
            </a:r>
            <a:r>
              <a:rPr lang="en-IN" dirty="0"/>
              <a:t> — Submitted as PPTX &amp; exported PDF in root repository</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926</TotalTime>
  <Words>2066</Words>
  <Application>Microsoft Office PowerPoint</Application>
  <PresentationFormat>Widescreen</PresentationFormat>
  <Paragraphs>284</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Theme The Core Challenge: Latency &amp; Decomposition in Live Conversational RAG</vt:lpstr>
      <vt:lpstr>Existing Solutions &amp; Gaps</vt:lpstr>
      <vt:lpstr>Our Solutions</vt:lpstr>
      <vt:lpstr>PowerPoint Presentation</vt:lpstr>
      <vt:lpstr>Demo &amp; Product Walkthrough</vt:lpstr>
      <vt:lpstr>Tools and tech stack used</vt:lpstr>
      <vt:lpstr>Impact &amp; Use case</vt:lpstr>
      <vt:lpstr>PowerPoint Presentation</vt:lpstr>
      <vt:lpstr>PowerPoint Presentation</vt:lpstr>
      <vt:lpstr>What’s next</vt:lpstr>
      <vt:lpstr>Brownie points slide(differentiation)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Anushka Singh</cp:lastModifiedBy>
  <cp:revision>14</cp:revision>
  <dcterms:created xsi:type="dcterms:W3CDTF">2026-09-07T12:01:01Z</dcterms:created>
  <dcterms:modified xsi:type="dcterms:W3CDTF">2026-09-30T18:17:16Z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